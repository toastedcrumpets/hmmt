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2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9144000"/>
  <p:defaultTextStyle>
    <a:lvl1pPr marL="0" marR="0" indent="0" algn="l" defTabSz="457200">
      <a:lnSpc>
        <a:spcPct val="100000"/>
      </a:lnSpc>
      <a:spcBef>
        <a:spcPts val="0"/>
      </a:spcBef>
      <a:spcAft>
        <a:spcPts val="0"/>
      </a:spcAft>
      <a:buNone/>
      <a:defRPr sz="1800" b="0" i="0" u="none" strike="noStrike" cap="none" spc="0">
        <a:solidFill>
          <a:schemeClr val="tx1"/>
        </a:solidFill>
        <a:latin typeface="Calibri"/>
        <a:ea typeface="Calibri"/>
        <a:cs typeface="Calibri"/>
      </a:defRPr>
    </a:lvl1pPr>
    <a:lvl2pPr marL="457200" marR="0" indent="0" algn="l" defTabSz="457200">
      <a:lnSpc>
        <a:spcPct val="100000"/>
      </a:lnSpc>
      <a:spcBef>
        <a:spcPts val="0"/>
      </a:spcBef>
      <a:spcAft>
        <a:spcPts val="0"/>
      </a:spcAft>
      <a:buNone/>
      <a:defRPr sz="1800" b="0" i="0" u="none" strike="noStrike" cap="none" spc="0">
        <a:solidFill>
          <a:schemeClr val="tx1"/>
        </a:solidFill>
        <a:latin typeface="Calibri"/>
        <a:ea typeface="Calibri"/>
        <a:cs typeface="Calibri"/>
      </a:defRPr>
    </a:lvl2pPr>
    <a:lvl3pPr marL="914400" marR="0" indent="0" algn="l" defTabSz="457200">
      <a:lnSpc>
        <a:spcPct val="100000"/>
      </a:lnSpc>
      <a:spcBef>
        <a:spcPts val="0"/>
      </a:spcBef>
      <a:spcAft>
        <a:spcPts val="0"/>
      </a:spcAft>
      <a:buNone/>
      <a:defRPr sz="1800" b="0" i="0" u="none" strike="noStrike" cap="none" spc="0">
        <a:solidFill>
          <a:schemeClr val="tx1"/>
        </a:solidFill>
        <a:latin typeface="Calibri"/>
        <a:ea typeface="Calibri"/>
        <a:cs typeface="Calibri"/>
      </a:defRPr>
    </a:lvl3pPr>
    <a:lvl4pPr marL="1371600" marR="0" indent="0" algn="l" defTabSz="457200">
      <a:lnSpc>
        <a:spcPct val="100000"/>
      </a:lnSpc>
      <a:spcBef>
        <a:spcPts val="0"/>
      </a:spcBef>
      <a:spcAft>
        <a:spcPts val="0"/>
      </a:spcAft>
      <a:buNone/>
      <a:defRPr sz="1800" b="0" i="0" u="none" strike="noStrike" cap="none" spc="0">
        <a:solidFill>
          <a:schemeClr val="tx1"/>
        </a:solidFill>
        <a:latin typeface="Calibri"/>
        <a:ea typeface="Calibri"/>
        <a:cs typeface="Calibri"/>
      </a:defRPr>
    </a:lvl4pPr>
    <a:lvl5pPr marL="1828800" marR="0" indent="0" algn="l" defTabSz="457200">
      <a:lnSpc>
        <a:spcPct val="100000"/>
      </a:lnSpc>
      <a:spcBef>
        <a:spcPts val="0"/>
      </a:spcBef>
      <a:spcAft>
        <a:spcPts val="0"/>
      </a:spcAft>
      <a:buNone/>
      <a:defRPr sz="1800" b="0" i="0" u="none" strike="noStrike" cap="none" spc="0">
        <a:solidFill>
          <a:schemeClr val="tx1"/>
        </a:solidFill>
        <a:latin typeface="Calibri"/>
        <a:ea typeface="Calibri"/>
        <a:cs typeface="Calibri"/>
      </a:defRPr>
    </a:lvl5pPr>
    <a:lvl6pPr marL="2286000" marR="0" indent="0" algn="l" defTabSz="457200">
      <a:lnSpc>
        <a:spcPct val="100000"/>
      </a:lnSpc>
      <a:spcBef>
        <a:spcPts val="0"/>
      </a:spcBef>
      <a:spcAft>
        <a:spcPts val="0"/>
      </a:spcAft>
      <a:buNone/>
      <a:defRPr sz="1800" b="0" i="0" u="none" strike="noStrike" cap="none" spc="0">
        <a:solidFill>
          <a:schemeClr val="tx1"/>
        </a:solidFill>
        <a:latin typeface="Calibri"/>
        <a:ea typeface="Calibri"/>
        <a:cs typeface="Calibri"/>
      </a:defRPr>
    </a:lvl6pPr>
    <a:lvl7pPr marL="2743200" marR="0" indent="0" algn="l" defTabSz="457200">
      <a:lnSpc>
        <a:spcPct val="100000"/>
      </a:lnSpc>
      <a:spcBef>
        <a:spcPts val="0"/>
      </a:spcBef>
      <a:spcAft>
        <a:spcPts val="0"/>
      </a:spcAft>
      <a:buNone/>
      <a:defRPr sz="1800" b="0" i="0" u="none" strike="noStrike" cap="none" spc="0">
        <a:solidFill>
          <a:schemeClr val="tx1"/>
        </a:solidFill>
        <a:latin typeface="Calibri"/>
        <a:ea typeface="Calibri"/>
        <a:cs typeface="Calibri"/>
      </a:defRPr>
    </a:lvl7pPr>
    <a:lvl8pPr marL="3200400" marR="0" indent="0" algn="l" defTabSz="457200">
      <a:lnSpc>
        <a:spcPct val="100000"/>
      </a:lnSpc>
      <a:spcBef>
        <a:spcPts val="0"/>
      </a:spcBef>
      <a:spcAft>
        <a:spcPts val="0"/>
      </a:spcAft>
      <a:buNone/>
      <a:defRPr sz="1800" b="0" i="0" u="none" strike="noStrike" cap="none" spc="0">
        <a:solidFill>
          <a:schemeClr val="tx1"/>
        </a:solidFill>
        <a:latin typeface="Calibri"/>
        <a:ea typeface="Calibri"/>
        <a:cs typeface="Calibri"/>
      </a:defRPr>
    </a:lvl8pPr>
    <a:lvl9pPr marL="3657600" marR="0" indent="0" algn="l" defTabSz="457200">
      <a:lnSpc>
        <a:spcPct val="100000"/>
      </a:lnSpc>
      <a:spcBef>
        <a:spcPts val="0"/>
      </a:spcBef>
      <a:spcAft>
        <a:spcPts val="0"/>
      </a:spcAft>
      <a:buNone/>
      <a:defRPr sz="1800" b="0" i="0" u="none" strike="noStrike" cap="none" spc="0">
        <a:solidFill>
          <a:schemeClr val="tx1"/>
        </a:solidFill>
        <a:latin typeface="Calibri"/>
        <a:ea typeface="Calibri"/>
        <a:cs typeface="Calibri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enClr>
      <a:srgbClr val="0000FF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106" d="100"/>
          <a:sy n="106" d="100"/>
        </p:scale>
        <p:origin x="4455" y="215"/>
      </p:cViewPr>
      <p:guideLst>
        <p:guide pos="2160" orient="horz"/>
        <p:guide pos="3863"/>
      </p:guideLst>
    </p:cSldViewPr>
  </p:slideViewPr>
  <p:gridSpacing cx="184017920" cy="18401792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 /><Relationship Id="rId26" Type="http://schemas.openxmlformats.org/officeDocument/2006/relationships/tableStyles" Target="tableStyles.xml" /><Relationship Id="rId2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5378867" name="Header Placeholder 1"/>
          <p:cNvSpPr>
            <a:spLocks noChangeArrowheads="1" noGrp="1"/>
          </p:cNvSpPr>
          <p:nvPr>
            <p:ph type="hdr" sz="quarter"/>
          </p:nvPr>
        </p:nvSpPr>
        <p:spPr bwMode="auto">
          <a:xfrm>
            <a:off x="0" y="0"/>
            <a:ext cx="2971800" cy="459104"/>
          </a:xfrm>
          <a:prstGeom prst="rect">
            <a:avLst/>
          </a:prstGeom>
        </p:spPr>
        <p:txBody>
          <a:bodyPr vert="horz" wrap="square" lIns="91440" tIns="45720" rIns="91440" bIns="45720" numCol="1" spcCol="215899" anchor="t">
            <a:prstTxWarp prst="textNoShape"/>
          </a:bodyPr>
          <a:lstStyle>
            <a:lvl1pPr algn="l">
              <a:defRPr sz="1200" cap="none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defRPr/>
            </a:pPr>
            <a:endParaRPr cap="none"/>
          </a:p>
        </p:txBody>
      </p:sp>
      <p:sp>
        <p:nvSpPr>
          <p:cNvPr id="1424623099" name="Date Placeholder 2"/>
          <p:cNvSpPr>
            <a:spLocks noChangeArrowheads="1" noGrp="1"/>
          </p:cNvSpPr>
          <p:nvPr>
            <p:ph type="dt" idx="10"/>
          </p:nvPr>
        </p:nvSpPr>
        <p:spPr bwMode="auto">
          <a:xfrm>
            <a:off x="3884930" y="0"/>
            <a:ext cx="2971800" cy="459104"/>
          </a:xfrm>
          <a:prstGeom prst="rect">
            <a:avLst/>
          </a:prstGeom>
        </p:spPr>
        <p:txBody>
          <a:bodyPr vert="horz" wrap="square" lIns="91440" tIns="45720" rIns="91440" bIns="45720" numCol="1" spcCol="215899" anchor="t">
            <a:prstTxWarp prst="textNoShape"/>
          </a:bodyPr>
          <a:lstStyle>
            <a:lvl1pPr algn="r">
              <a:defRPr sz="1200" cap="none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defRPr/>
            </a:pPr>
            <a:fld id="{018CE558-16EC-D913-A234-E046AB7A54B5}" type="datetime1">
              <a:rPr cap="none"/>
              <a:t>11/11/2022</a:t>
            </a:fld>
            <a:endParaRPr cap="none"/>
          </a:p>
        </p:txBody>
      </p:sp>
      <p:sp>
        <p:nvSpPr>
          <p:cNvPr id="1765516" name="Slide Image Placeholder 3"/>
          <p:cNvSpPr>
            <a:spLocks noChangeArrowheads="1" noGrp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 cap="flat" cmpd="sng" algn="ctr">
            <a:solidFill>
              <a:srgbClr val="000000"/>
            </a:solidFill>
            <a:prstDash val="solid"/>
            <a:headEnd type="none"/>
            <a:tailEnd type="none"/>
          </a:ln>
        </p:spPr>
        <p:txBody>
          <a:bodyPr vert="horz" wrap="square" lIns="91440" tIns="45720" rIns="91440" bIns="45720" numCol="1" spcCol="215899" anchor="ctr">
            <a:prstTxWarp prst="textNoShape"/>
          </a:bodyPr>
          <a:lstStyle/>
          <a:p>
            <a:pPr>
              <a:defRPr/>
            </a:pPr>
            <a:endParaRPr cap="none"/>
          </a:p>
        </p:txBody>
      </p:sp>
      <p:sp>
        <p:nvSpPr>
          <p:cNvPr id="113364501" name="Notes Placeholder 4"/>
          <p:cNvSpPr>
            <a:spLocks noChangeArrowheads="1" noGrp="1"/>
          </p:cNvSpPr>
          <p:nvPr>
            <p:ph type="body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 cap="none"/>
          </a:p>
        </p:txBody>
      </p:sp>
      <p:sp>
        <p:nvSpPr>
          <p:cNvPr id="20192741" name="Footer Placeholder 5"/>
          <p:cNvSpPr>
            <a:spLocks noChangeArrowheads="1" noGrp="1"/>
          </p:cNvSpPr>
          <p:nvPr>
            <p:ph type="ftr" sz="quarter" idx="11"/>
          </p:nvPr>
        </p:nvSpPr>
        <p:spPr bwMode="auto">
          <a:xfrm>
            <a:off x="0" y="8685530"/>
            <a:ext cx="2971800" cy="4584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899" anchor="b">
            <a:prstTxWarp prst="textNoShape"/>
          </a:bodyPr>
          <a:lstStyle>
            <a:lvl1pPr algn="l">
              <a:defRPr sz="1200" cap="none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defRPr/>
            </a:pPr>
            <a:endParaRPr cap="none"/>
          </a:p>
        </p:txBody>
      </p:sp>
      <p:sp>
        <p:nvSpPr>
          <p:cNvPr id="764053628" name="Slide Number Placeholder 6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spcCol="215899" anchor="b">
            <a:prstTxWarp prst="textNoShape"/>
          </a:bodyPr>
          <a:lstStyle>
            <a:lvl1pPr algn="r">
              <a:defRPr sz="1200" cap="none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defRPr/>
            </a:pPr>
            <a:fld id="{1BD5072E-60F6-80F1-B86D-96A449234EC3}" type="slidenum">
              <a:rPr cap="none"/>
              <a:t>‹#›</a:t>
            </a:fld>
            <a:endParaRPr cap="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1" ftr="0" hdr="0" sldNum="1"/>
  <p:notesStyle>
    <a:lvl1pPr marL="0" marR="0" indent="0" algn="l" defTabSz="914400">
      <a:lnSpc>
        <a:spcPct val="100000"/>
      </a:lnSpc>
      <a:spcBef>
        <a:spcPts val="0"/>
      </a:spcBef>
      <a:spcAft>
        <a:spcPts val="0"/>
      </a:spcAft>
      <a:buNone/>
      <a:defRPr sz="1200" b="0" i="0" u="none" strike="noStrike" cap="none" spc="0">
        <a:solidFill>
          <a:schemeClr val="tx1"/>
        </a:solidFill>
        <a:latin typeface="Calibri"/>
        <a:ea typeface="Calibri"/>
        <a:cs typeface="Calibri"/>
      </a:defRPr>
    </a:lvl1pPr>
    <a:lvl2pPr marL="457200" marR="0" indent="0" algn="l" defTabSz="914400">
      <a:lnSpc>
        <a:spcPct val="100000"/>
      </a:lnSpc>
      <a:spcBef>
        <a:spcPts val="0"/>
      </a:spcBef>
      <a:spcAft>
        <a:spcPts val="0"/>
      </a:spcAft>
      <a:buNone/>
      <a:defRPr sz="1200" b="0" i="0" u="none" strike="noStrike" cap="none" spc="0">
        <a:solidFill>
          <a:schemeClr val="tx1"/>
        </a:solidFill>
        <a:latin typeface="Calibri"/>
        <a:ea typeface="Calibri"/>
        <a:cs typeface="Calibri"/>
      </a:defRPr>
    </a:lvl2pPr>
    <a:lvl3pPr marL="914400" marR="0" indent="0" algn="l" defTabSz="914400">
      <a:lnSpc>
        <a:spcPct val="100000"/>
      </a:lnSpc>
      <a:spcBef>
        <a:spcPts val="0"/>
      </a:spcBef>
      <a:spcAft>
        <a:spcPts val="0"/>
      </a:spcAft>
      <a:buNone/>
      <a:defRPr sz="1200" b="0" i="0" u="none" strike="noStrike" cap="none" spc="0">
        <a:solidFill>
          <a:schemeClr val="tx1"/>
        </a:solidFill>
        <a:latin typeface="Calibri"/>
        <a:ea typeface="Calibri"/>
        <a:cs typeface="Calibri"/>
      </a:defRPr>
    </a:lvl3pPr>
    <a:lvl4pPr marL="1371600" marR="0" indent="0" algn="l" defTabSz="914400">
      <a:lnSpc>
        <a:spcPct val="100000"/>
      </a:lnSpc>
      <a:spcBef>
        <a:spcPts val="0"/>
      </a:spcBef>
      <a:spcAft>
        <a:spcPts val="0"/>
      </a:spcAft>
      <a:buNone/>
      <a:defRPr sz="1200" b="0" i="0" u="none" strike="noStrike" cap="none" spc="0">
        <a:solidFill>
          <a:schemeClr val="tx1"/>
        </a:solidFill>
        <a:latin typeface="Calibri"/>
        <a:ea typeface="Calibri"/>
        <a:cs typeface="Calibri"/>
      </a:defRPr>
    </a:lvl4pPr>
    <a:lvl5pPr marL="1828800" marR="0" indent="0" algn="l" defTabSz="914400">
      <a:lnSpc>
        <a:spcPct val="100000"/>
      </a:lnSpc>
      <a:spcBef>
        <a:spcPts val="0"/>
      </a:spcBef>
      <a:spcAft>
        <a:spcPts val="0"/>
      </a:spcAft>
      <a:buNone/>
      <a:defRPr sz="1200" b="0" i="0" u="none" strike="noStrike" cap="none" spc="0">
        <a:solidFill>
          <a:schemeClr val="tx1"/>
        </a:solidFill>
        <a:latin typeface="Calibri"/>
        <a:ea typeface="Calibri"/>
        <a:cs typeface="Calibri"/>
      </a:defRPr>
    </a:lvl5pPr>
    <a:lvl6pPr marL="2286000" marR="0" indent="0" algn="l" defTabSz="914400">
      <a:lnSpc>
        <a:spcPct val="100000"/>
      </a:lnSpc>
      <a:spcBef>
        <a:spcPts val="0"/>
      </a:spcBef>
      <a:spcAft>
        <a:spcPts val="0"/>
      </a:spcAft>
      <a:buNone/>
      <a:defRPr sz="1200" b="0" i="0" u="none" strike="noStrike" cap="none" spc="0">
        <a:solidFill>
          <a:schemeClr val="tx1"/>
        </a:solidFill>
        <a:latin typeface="Calibri"/>
        <a:ea typeface="Calibri"/>
        <a:cs typeface="Calibri"/>
      </a:defRPr>
    </a:lvl6pPr>
    <a:lvl7pPr marL="2743200" marR="0" indent="0" algn="l" defTabSz="914400">
      <a:lnSpc>
        <a:spcPct val="100000"/>
      </a:lnSpc>
      <a:spcBef>
        <a:spcPts val="0"/>
      </a:spcBef>
      <a:spcAft>
        <a:spcPts val="0"/>
      </a:spcAft>
      <a:buNone/>
      <a:defRPr sz="1200" b="0" i="0" u="none" strike="noStrike" cap="none" spc="0">
        <a:solidFill>
          <a:schemeClr val="tx1"/>
        </a:solidFill>
        <a:latin typeface="Calibri"/>
        <a:ea typeface="Calibri"/>
        <a:cs typeface="Calibri"/>
      </a:defRPr>
    </a:lvl7pPr>
    <a:lvl8pPr marL="3200400" marR="0" indent="0" algn="l" defTabSz="914400">
      <a:lnSpc>
        <a:spcPct val="100000"/>
      </a:lnSpc>
      <a:spcBef>
        <a:spcPts val="0"/>
      </a:spcBef>
      <a:spcAft>
        <a:spcPts val="0"/>
      </a:spcAft>
      <a:buNone/>
      <a:defRPr sz="1200" b="0" i="0" u="none" strike="noStrike" cap="none" spc="0">
        <a:solidFill>
          <a:schemeClr val="tx1"/>
        </a:solidFill>
        <a:latin typeface="Calibri"/>
        <a:ea typeface="Calibri"/>
        <a:cs typeface="Calibri"/>
      </a:defRPr>
    </a:lvl8pPr>
    <a:lvl9pPr marL="3657600" marR="0" indent="0" algn="l" defTabSz="914400">
      <a:lnSpc>
        <a:spcPct val="100000"/>
      </a:lnSpc>
      <a:spcBef>
        <a:spcPts val="0"/>
      </a:spcBef>
      <a:spcAft>
        <a:spcPts val="0"/>
      </a:spcAft>
      <a:buNone/>
      <a:defRPr sz="1200" b="0" i="0" u="none" strike="noStrike" cap="none" spc="0">
        <a:solidFill>
          <a:schemeClr val="tx1"/>
        </a:solidFill>
        <a:latin typeface="Calibri"/>
        <a:ea typeface="Calibri"/>
        <a:cs typeface="Calibri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645387" name="Slide Image Placeholder 1"/>
          <p:cNvSpPr>
            <a:spLocks noChangeArrowheads="1" noGrp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9694894" name="Notes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</p:spPr>
        <p:txBody>
          <a:bodyPr/>
          <a:lstStyle/>
          <a:p>
            <a:pPr marL="0" indent="0">
              <a:buNone/>
              <a:defRPr/>
            </a:pPr>
            <a:endParaRPr cap="none">
              <a:latin typeface="Helvetica"/>
              <a:ea typeface="Calibri"/>
              <a:cs typeface="Helvetica"/>
            </a:endParaRPr>
          </a:p>
        </p:txBody>
      </p:sp>
      <p:sp>
        <p:nvSpPr>
          <p:cNvPr id="530234864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</p:spPr>
        <p:txBody>
          <a:bodyPr/>
          <a:lstStyle/>
          <a:p>
            <a:pPr marL="0" marR="0" indent="0" algn="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fld id="{21C27FE2-ACCC-9789-827A-5ADC3134740F}" type="slidenum">
              <a:rPr cap="none">
                <a:solidFill>
                  <a:srgbClr val="000000"/>
                </a:solidFill>
              </a:rPr>
              <a:t>1</a:t>
            </a:fld>
            <a:endParaRPr cap="none">
              <a:solidFill>
                <a:srgbClr val="000000"/>
              </a:solidFill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890757" name="Slide Image Placeholder 1"/>
          <p:cNvSpPr>
            <a:spLocks noChangeArrowheads="1" noGrp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026899" name="Notes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</p:spPr>
        <p:txBody>
          <a:bodyPr/>
          <a:lstStyle/>
          <a:p>
            <a:pPr marL="171450" indent="-171450">
              <a:buFontTx/>
              <a:buChar char="-"/>
              <a:defRPr/>
            </a:pPr>
            <a:endParaRPr cap="none">
              <a:latin typeface="Helvetica"/>
              <a:ea typeface="Calibri"/>
              <a:cs typeface="Helvetica"/>
            </a:endParaRPr>
          </a:p>
        </p:txBody>
      </p:sp>
      <p:sp>
        <p:nvSpPr>
          <p:cNvPr id="1451443798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</p:spPr>
        <p:txBody>
          <a:bodyPr/>
          <a:lstStyle/>
          <a:p>
            <a:pPr>
              <a:defRPr/>
            </a:pPr>
            <a:fld id="{004F4AC8-86ED-1ABC-A3F7-70E904B95525}" type="slidenum">
              <a:rPr cap="none"/>
              <a:t>3</a:t>
            </a:fld>
            <a:endParaRPr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9259382" name="Slide Image Placeholder 1"/>
          <p:cNvSpPr>
            <a:spLocks noChangeArrowheads="1" noGrp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4256645" name="Notes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</p:spPr>
        <p:txBody>
          <a:bodyPr/>
          <a:lstStyle/>
          <a:p>
            <a:pPr marL="171450" indent="-171450">
              <a:buFontTx/>
              <a:buChar char="-"/>
              <a:defRPr/>
            </a:pPr>
            <a:endParaRPr cap="none">
              <a:latin typeface="Helvetica"/>
              <a:ea typeface="Calibri"/>
              <a:cs typeface="Helvetica"/>
            </a:endParaRPr>
          </a:p>
        </p:txBody>
      </p:sp>
      <p:sp>
        <p:nvSpPr>
          <p:cNvPr id="535140470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</p:spPr>
        <p:txBody>
          <a:bodyPr/>
          <a:lstStyle/>
          <a:p>
            <a:pPr>
              <a:defRPr/>
            </a:pPr>
            <a:fld id="{5B414F9C-D2B6-14B9-F8F9-24EC01B70E71}" type="slidenum">
              <a:rPr cap="none"/>
              <a:t>4</a:t>
            </a:fld>
            <a:endParaRPr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7808131" name="Slide Image Placeholder 1"/>
          <p:cNvSpPr>
            <a:spLocks noChangeArrowheads="1" noGrp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5082287" name="Notes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</p:spPr>
        <p:txBody>
          <a:bodyPr/>
          <a:lstStyle/>
          <a:p>
            <a:pPr marL="171450" indent="-171450">
              <a:buFontTx/>
              <a:buChar char="-"/>
              <a:defRPr/>
            </a:pPr>
            <a:endParaRPr cap="none">
              <a:latin typeface="Helvetica"/>
              <a:ea typeface="Calibri"/>
              <a:cs typeface="Helvetica"/>
            </a:endParaRPr>
          </a:p>
        </p:txBody>
      </p:sp>
      <p:sp>
        <p:nvSpPr>
          <p:cNvPr id="453545085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</p:spPr>
        <p:txBody>
          <a:bodyPr/>
          <a:lstStyle/>
          <a:p>
            <a:pPr>
              <a:defRPr/>
            </a:pPr>
            <a:fld id="{504F9552-1CBD-1A63-F3F7-EA36DBB905BF}" type="slidenum">
              <a:rPr cap="none"/>
              <a:t>5</a:t>
            </a:fld>
            <a:endParaRPr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95588" name="Slide Image Placeholder 1"/>
          <p:cNvSpPr>
            <a:spLocks noChangeArrowheads="1" noGrp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3657955" name="Notes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</p:spPr>
        <p:txBody>
          <a:bodyPr/>
          <a:lstStyle/>
          <a:p>
            <a:pPr marL="171450" indent="-171450">
              <a:buFontTx/>
              <a:buChar char="-"/>
              <a:defRPr/>
            </a:pPr>
            <a:endParaRPr cap="none">
              <a:latin typeface="Helvetica"/>
              <a:ea typeface="Calibri"/>
              <a:cs typeface="Helvetica"/>
            </a:endParaRPr>
          </a:p>
        </p:txBody>
      </p:sp>
      <p:sp>
        <p:nvSpPr>
          <p:cNvPr id="2058449654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</p:spPr>
        <p:txBody>
          <a:bodyPr/>
          <a:lstStyle/>
          <a:p>
            <a:pPr>
              <a:defRPr/>
            </a:pPr>
            <a:fld id="{28DFD022-6CC5-8A26-8B67-9A739E297DCF}" type="slidenum">
              <a:rPr cap="none"/>
              <a:t>6</a:t>
            </a:fld>
            <a:endParaRPr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5651390" name="Slide Image Placeholder 1"/>
          <p:cNvSpPr>
            <a:spLocks noChangeArrowheads="1" noGrp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8474867" name="Notes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</p:spPr>
        <p:txBody>
          <a:bodyPr/>
          <a:lstStyle/>
          <a:p>
            <a:pPr marL="171450" indent="-171450">
              <a:buFontTx/>
              <a:buChar char="-"/>
              <a:defRPr/>
            </a:pPr>
            <a:endParaRPr cap="none">
              <a:latin typeface="Helvetica"/>
              <a:ea typeface="Calibri"/>
              <a:cs typeface="Helvetica"/>
            </a:endParaRPr>
          </a:p>
        </p:txBody>
      </p:sp>
      <p:sp>
        <p:nvSpPr>
          <p:cNvPr id="391640957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</p:spPr>
        <p:txBody>
          <a:bodyPr/>
          <a:lstStyle/>
          <a:p>
            <a:pPr>
              <a:defRPr/>
            </a:pPr>
            <a:fld id="{18CC6447-09F5-9992-BB74-FFC72A3A4DAA}" type="slidenum">
              <a:rPr cap="none"/>
              <a:t>7</a:t>
            </a:fld>
            <a:endParaRPr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6188194" name="Slide Image Placeholder 1"/>
          <p:cNvSpPr>
            <a:spLocks noChangeArrowheads="1" noGrp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1776176" name="Notes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</p:spPr>
        <p:txBody>
          <a:bodyPr/>
          <a:lstStyle/>
          <a:p>
            <a:pPr marL="171450" indent="-171450">
              <a:buFontTx/>
              <a:buChar char="-"/>
              <a:defRPr/>
            </a:pPr>
            <a:endParaRPr cap="none">
              <a:latin typeface="Helvetica"/>
              <a:ea typeface="Calibri"/>
              <a:cs typeface="Helvetica"/>
            </a:endParaRPr>
          </a:p>
        </p:txBody>
      </p:sp>
      <p:sp>
        <p:nvSpPr>
          <p:cNvPr id="1784402248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</p:spPr>
        <p:txBody>
          <a:bodyPr/>
          <a:lstStyle/>
          <a:p>
            <a:pPr>
              <a:defRPr/>
            </a:pPr>
            <a:fld id="{3B5EA5A0-EED6-0B53-98E6-1806EBA86E4D}" type="slidenum">
              <a:rPr cap="none"/>
              <a:t>8</a:t>
            </a:fld>
            <a:endParaRPr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0263777" name="Slide Image Placeholder 1"/>
          <p:cNvSpPr>
            <a:spLocks noChangeArrowheads="1" noGrp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338638" name="Notes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</p:spPr>
        <p:txBody>
          <a:bodyPr/>
          <a:lstStyle/>
          <a:p>
            <a:pPr marL="171450" indent="-171450">
              <a:buFontTx/>
              <a:buChar char="-"/>
              <a:defRPr/>
            </a:pPr>
            <a:endParaRPr cap="none">
              <a:latin typeface="Helvetica"/>
              <a:ea typeface="Calibri"/>
              <a:cs typeface="Helvetica"/>
            </a:endParaRPr>
          </a:p>
        </p:txBody>
      </p:sp>
      <p:sp>
        <p:nvSpPr>
          <p:cNvPr id="1680972135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</p:spPr>
        <p:txBody>
          <a:bodyPr/>
          <a:lstStyle/>
          <a:p>
            <a:pPr>
              <a:defRPr/>
            </a:pPr>
            <a:fld id="{19EFE456-18F4-BA12-BA57-EE47AA194CBB}" type="slidenum">
              <a:rPr cap="none"/>
              <a:t>9</a:t>
            </a:fld>
            <a:endParaRPr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7935167" name="Slide Image Placeholder 1"/>
          <p:cNvSpPr>
            <a:spLocks noChangeArrowheads="1" noGrp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6452328" name="Notes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</p:spPr>
        <p:txBody>
          <a:bodyPr/>
          <a:lstStyle/>
          <a:p>
            <a:pPr marL="171450" indent="-171450">
              <a:buFontTx/>
              <a:buChar char="-"/>
              <a:defRPr/>
            </a:pPr>
            <a:endParaRPr cap="none">
              <a:latin typeface="Helvetica"/>
              <a:ea typeface="Calibri"/>
              <a:cs typeface="Helvetica"/>
            </a:endParaRPr>
          </a:p>
        </p:txBody>
      </p:sp>
      <p:sp>
        <p:nvSpPr>
          <p:cNvPr id="1708551045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</p:spPr>
        <p:txBody>
          <a:bodyPr/>
          <a:lstStyle/>
          <a:p>
            <a:pPr>
              <a:defRPr/>
            </a:pPr>
            <a:fld id="{5CC4BD7A-34B1-914B-FF7C-C21EF3320997}" type="slidenum">
              <a:rPr cap="none"/>
              <a:t>10</a:t>
            </a:fld>
            <a:endParaRPr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2357181" name="Slide Image Placeholder 1"/>
          <p:cNvSpPr>
            <a:spLocks noChangeArrowheads="1" noGrp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180042" name="Notes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</p:spPr>
        <p:txBody>
          <a:bodyPr/>
          <a:lstStyle/>
          <a:p>
            <a:pPr marL="171450" indent="-171450">
              <a:buFontTx/>
              <a:buChar char="-"/>
              <a:defRPr/>
            </a:pPr>
            <a:endParaRPr cap="none">
              <a:latin typeface="Helvetica"/>
              <a:ea typeface="Calibri"/>
              <a:cs typeface="Helvetica"/>
            </a:endParaRPr>
          </a:p>
        </p:txBody>
      </p:sp>
      <p:sp>
        <p:nvSpPr>
          <p:cNvPr id="576205444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</p:spPr>
        <p:txBody>
          <a:bodyPr/>
          <a:lstStyle/>
          <a:p>
            <a:pPr>
              <a:defRPr/>
            </a:pPr>
            <a:fld id="{1CEB5485-CBF1-BEA2-BF53-3DF71A1D4968}" type="slidenum">
              <a:rPr cap="none"/>
              <a:t>11</a:t>
            </a:fld>
            <a:endParaRPr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5209075" name="Slide Image Placeholder 1"/>
          <p:cNvSpPr>
            <a:spLocks noChangeArrowheads="1" noGrp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2604045" name="Notes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</p:spPr>
        <p:txBody>
          <a:bodyPr/>
          <a:lstStyle/>
          <a:p>
            <a:pPr marL="171450" indent="-171450">
              <a:buFontTx/>
              <a:buChar char="-"/>
              <a:defRPr/>
            </a:pPr>
            <a:endParaRPr cap="none">
              <a:latin typeface="Helvetica"/>
              <a:ea typeface="Calibri"/>
              <a:cs typeface="Helvetica"/>
            </a:endParaRPr>
          </a:p>
        </p:txBody>
      </p:sp>
      <p:sp>
        <p:nvSpPr>
          <p:cNvPr id="426255218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</p:spPr>
        <p:txBody>
          <a:bodyPr/>
          <a:lstStyle/>
          <a:p>
            <a:pPr>
              <a:defRPr/>
            </a:pPr>
            <a:fld id="{3E468D48-06D3-137B-9DFE-F02EC3B06BA5}" type="slidenum">
              <a:rPr cap="none"/>
              <a:t>12</a:t>
            </a:fld>
            <a:endParaRPr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954673" name="Slide Image Placeholder 1"/>
          <p:cNvSpPr>
            <a:spLocks noChangeArrowheads="1" noGrp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870932" name="Notes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</p:spPr>
        <p:txBody>
          <a:bodyPr/>
          <a:lstStyle/>
          <a:p>
            <a:pPr marL="171450" indent="-171450">
              <a:buFontTx/>
              <a:buChar char="-"/>
              <a:defRPr/>
            </a:pPr>
            <a:endParaRPr cap="none">
              <a:latin typeface="Helvetica"/>
              <a:ea typeface="Calibri"/>
              <a:cs typeface="Helvetica"/>
            </a:endParaRPr>
          </a:p>
        </p:txBody>
      </p:sp>
      <p:sp>
        <p:nvSpPr>
          <p:cNvPr id="296163426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</p:spPr>
        <p:txBody>
          <a:bodyPr/>
          <a:lstStyle/>
          <a:p>
            <a:pPr>
              <a:defRPr/>
            </a:pPr>
            <a:fld id="{2F9C73AF-E1C2-C985-8C24-17D03D6A7A42}" type="slidenum">
              <a:rPr cap="none"/>
              <a:t>13</a:t>
            </a:fld>
            <a:endParaRPr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81037" name="Slide Image Placeholder 1"/>
          <p:cNvSpPr>
            <a:spLocks noChangeArrowheads="1" noGrp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2557091" name="Notes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</p:spPr>
        <p:txBody>
          <a:bodyPr/>
          <a:lstStyle/>
          <a:p>
            <a:pPr marL="171450" indent="-171450">
              <a:buFontTx/>
              <a:buChar char="-"/>
              <a:defRPr/>
            </a:pPr>
            <a:endParaRPr cap="none">
              <a:latin typeface="Helvetica"/>
              <a:ea typeface="Calibri"/>
              <a:cs typeface="Helvetica"/>
            </a:endParaRPr>
          </a:p>
        </p:txBody>
      </p:sp>
      <p:sp>
        <p:nvSpPr>
          <p:cNvPr id="678495631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</p:spPr>
        <p:txBody>
          <a:bodyPr/>
          <a:lstStyle/>
          <a:p>
            <a:pPr>
              <a:defRPr/>
            </a:pPr>
            <a:fld id="{320D6E5D-13DF-5898-91B5-E5CD20FB67B0}" type="slidenum">
              <a:rPr cap="none"/>
              <a:t>14</a:t>
            </a:fld>
            <a:endParaRPr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31473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216325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3868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B1E560-ADA4-86B6-23F0-F7A6B2C0E2D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9428912" name="Slide Image Placeholder 1"/>
          <p:cNvSpPr>
            <a:spLocks noChangeArrowheads="1" noGrp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8356068" name="Notes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</p:spPr>
        <p:txBody>
          <a:bodyPr/>
          <a:lstStyle/>
          <a:p>
            <a:pPr marL="171450" indent="-171450">
              <a:buFontTx/>
              <a:buChar char="-"/>
              <a:defRPr/>
            </a:pPr>
            <a:endParaRPr cap="none">
              <a:latin typeface="Helvetica"/>
              <a:ea typeface="Calibri"/>
              <a:cs typeface="Helvetica"/>
            </a:endParaRPr>
          </a:p>
        </p:txBody>
      </p:sp>
      <p:sp>
        <p:nvSpPr>
          <p:cNvPr id="956219277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</p:spPr>
        <p:txBody>
          <a:bodyPr/>
          <a:lstStyle/>
          <a:p>
            <a:pPr>
              <a:defRPr/>
            </a:pPr>
            <a:fld id="{755B7BEA-A498-0E8D-D6E3-52D835AD2007}" type="slidenum">
              <a:rPr cap="none"/>
              <a:t>15</a:t>
            </a:fld>
            <a:endParaRPr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669340" name="Slide Image Placeholder 1"/>
          <p:cNvSpPr>
            <a:spLocks noChangeArrowheads="1" noGrp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33328537" name="Notes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</p:spPr>
        <p:txBody>
          <a:bodyPr/>
          <a:lstStyle/>
          <a:p>
            <a:pPr marL="171450" indent="-171450">
              <a:buFontTx/>
              <a:buChar char="-"/>
              <a:defRPr/>
            </a:pPr>
            <a:endParaRPr cap="none">
              <a:latin typeface="Helvetica"/>
              <a:ea typeface="Calibri"/>
              <a:cs typeface="Helvetica"/>
            </a:endParaRPr>
          </a:p>
        </p:txBody>
      </p:sp>
      <p:sp>
        <p:nvSpPr>
          <p:cNvPr id="379012725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</p:spPr>
        <p:txBody>
          <a:bodyPr/>
          <a:lstStyle/>
          <a:p>
            <a:pPr>
              <a:defRPr/>
            </a:pPr>
            <a:fld id="{30164BB4-FADD-43BD-93AE-0CE805E06559}" type="slidenum">
              <a:rPr cap="none"/>
              <a:t>16</a:t>
            </a:fld>
            <a:endParaRPr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8827141" name="Slide Image Placeholder 1"/>
          <p:cNvSpPr>
            <a:spLocks noChangeArrowheads="1" noGrp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205183" name="Notes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</p:spPr>
        <p:txBody>
          <a:bodyPr/>
          <a:lstStyle/>
          <a:p>
            <a:pPr marL="171450" indent="-171450">
              <a:buFontTx/>
              <a:buChar char="-"/>
              <a:defRPr/>
            </a:pPr>
            <a:endParaRPr cap="none">
              <a:latin typeface="Helvetica"/>
              <a:ea typeface="Calibri"/>
              <a:cs typeface="Helvetica"/>
            </a:endParaRPr>
          </a:p>
        </p:txBody>
      </p:sp>
      <p:sp>
        <p:nvSpPr>
          <p:cNvPr id="9212514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</p:spPr>
        <p:txBody>
          <a:bodyPr/>
          <a:lstStyle/>
          <a:p>
            <a:pPr>
              <a:defRPr/>
            </a:pPr>
            <a:fld id="{5B3895F9-B7B6-6D63-F880-4136DBCE0E14}" type="slidenum">
              <a:rPr cap="none"/>
              <a:t>17</a:t>
            </a:fld>
            <a:endParaRPr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67270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54426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7314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F4FA1E-2607-5B54-2FE7-9F9089CE3FC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887437" name="Slide Image Placeholder 1"/>
          <p:cNvSpPr>
            <a:spLocks noChangeArrowheads="1" noGrp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0025004" name="Notes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</p:spPr>
        <p:txBody>
          <a:bodyPr/>
          <a:lstStyle/>
          <a:p>
            <a:pPr marL="171450" indent="-171450">
              <a:buFontTx/>
              <a:buChar char="-"/>
              <a:defRPr/>
            </a:pPr>
            <a:endParaRPr cap="none">
              <a:latin typeface="Helvetica"/>
              <a:ea typeface="Calibri"/>
              <a:cs typeface="Helvetica"/>
            </a:endParaRPr>
          </a:p>
        </p:txBody>
      </p:sp>
      <p:sp>
        <p:nvSpPr>
          <p:cNvPr id="1221335928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</p:spPr>
        <p:txBody>
          <a:bodyPr/>
          <a:lstStyle/>
          <a:p>
            <a:pPr>
              <a:defRPr/>
            </a:pPr>
            <a:fld id="{6D7693C2-8C80-2365-CECE-7A30DD80382F}" type="slidenum">
              <a:rPr cap="none"/>
              <a:t>18</a:t>
            </a:fld>
            <a:endParaRPr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94532" name="Slide Image Placeholder 1"/>
          <p:cNvSpPr>
            <a:spLocks noChangeArrowheads="1" noGrp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1114856" name="Notes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685800" y="4400550"/>
            <a:ext cx="5486400" cy="3600450"/>
          </a:xfrm>
        </p:spPr>
        <p:txBody>
          <a:bodyPr/>
          <a:lstStyle/>
          <a:p>
            <a:pPr marL="0" indent="0">
              <a:buNone/>
              <a:defRPr/>
            </a:pPr>
            <a:endParaRPr cap="none">
              <a:latin typeface="Helvetica"/>
              <a:ea typeface="Calibri"/>
              <a:cs typeface="Helvetica"/>
            </a:endParaRPr>
          </a:p>
        </p:txBody>
      </p:sp>
      <p:sp>
        <p:nvSpPr>
          <p:cNvPr id="1461403047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3884930" y="8685530"/>
            <a:ext cx="2971800" cy="458470"/>
          </a:xfrm>
        </p:spPr>
        <p:txBody>
          <a:bodyPr/>
          <a:lstStyle/>
          <a:p>
            <a:pPr>
              <a:defRPr/>
            </a:pPr>
            <a:fld id="{0DABEF1C-52E0-FE19-AE13-A44CA15D58F1}" type="slidenum">
              <a:rPr cap="none"/>
              <a:t>19</a:t>
            </a:fld>
            <a:endParaRPr cap="none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925487" name="Title 1"/>
          <p:cNvSpPr>
            <a:spLocks noChangeArrowheads="1" noGrp="1"/>
          </p:cNvSpPr>
          <p:nvPr>
            <p:ph type="ctrTitle"/>
          </p:nvPr>
        </p:nvSpPr>
        <p:spPr bwMode="auto">
          <a:xfrm>
            <a:off x="1524000" y="1122680"/>
            <a:ext cx="9144000" cy="2387600"/>
          </a:xfrm>
        </p:spPr>
        <p:txBody>
          <a:bodyPr vert="horz" wrap="square" lIns="91440" tIns="45720" rIns="91440" bIns="45720" numCol="1" spcCol="215899" anchor="b">
            <a:prstTxWarp prst="textNoShape"/>
          </a:bodyPr>
          <a:lstStyle>
            <a:lvl1pPr algn="ctr">
              <a:defRPr sz="6000" cap="none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20254160" name="Subtitle 2"/>
          <p:cNvSpPr>
            <a:spLocks noChangeArrowheads="1" noGrp="1"/>
          </p:cNvSpPr>
          <p:nvPr>
            <p:ph type="subTitle" idx="1"/>
          </p:nvPr>
        </p:nvSpPr>
        <p:spPr bwMode="auto">
          <a:xfrm>
            <a:off x="1524000" y="3602355"/>
            <a:ext cx="9144000" cy="1655445"/>
          </a:xfrm>
        </p:spPr>
        <p:txBody>
          <a:bodyPr/>
          <a:lstStyle>
            <a:lvl1pPr marL="0" indent="0" algn="ctr">
              <a:buNone/>
              <a:defRPr sz="2400" cap="none"/>
            </a:lvl1pPr>
            <a:lvl2pPr marL="457200" indent="0" algn="ctr">
              <a:buNone/>
              <a:defRPr sz="2000" cap="none"/>
            </a:lvl2pPr>
            <a:lvl3pPr marL="914400" indent="0" algn="ctr">
              <a:buNone/>
              <a:defRPr sz="1800" cap="none"/>
            </a:lvl3pPr>
            <a:lvl4pPr marL="1371600" indent="0" algn="ctr">
              <a:buNone/>
              <a:defRPr sz="1600" cap="none"/>
            </a:lvl4pPr>
            <a:lvl5pPr marL="1828800" indent="0" algn="ctr">
              <a:buNone/>
              <a:defRPr sz="1600" cap="none"/>
            </a:lvl5pPr>
            <a:lvl6pPr marL="2286000" indent="0" algn="ctr">
              <a:buNone/>
              <a:defRPr sz="1600" cap="none"/>
            </a:lvl6pPr>
            <a:lvl7pPr marL="2743200" indent="0" algn="ctr">
              <a:buNone/>
              <a:defRPr sz="1600" cap="none"/>
            </a:lvl7pPr>
            <a:lvl8pPr marL="3200400" indent="0" algn="ctr">
              <a:buNone/>
              <a:defRPr sz="1600" cap="none"/>
            </a:lvl8pPr>
            <a:lvl9pPr marL="3657600" indent="0" algn="ctr">
              <a:buNone/>
              <a:defRPr sz="1600" cap="none"/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289478409" name="Date Placeholder 3"/>
          <p:cNvSpPr>
            <a:spLocks noChangeArrowheads="1"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350356-18F0-60F5-BE8D-EEA04DC348BB}" type="datetime1">
              <a:rPr cap="none"/>
              <a:t/>
            </a:fld>
            <a:endParaRPr cap="none"/>
          </a:p>
        </p:txBody>
      </p:sp>
      <p:sp>
        <p:nvSpPr>
          <p:cNvPr id="665767725" name="Footer Placeholder 4"/>
          <p:cNvSpPr>
            <a:spLocks noChangeArrowheads="1"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cap="none"/>
          </a:p>
        </p:txBody>
      </p:sp>
      <p:sp>
        <p:nvSpPr>
          <p:cNvPr id="1038042767" name="Slide Number Placeholder 5"/>
          <p:cNvSpPr>
            <a:spLocks noChangeArrowheads="1"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C11E524-6A91-4413-DFA9-9C46ABE729C9}" type="slidenum">
              <a:rPr cap="none"/>
              <a:t>1</a:t>
            </a:fld>
            <a:endParaRPr cap="none"/>
          </a:p>
        </p:txBody>
      </p:sp>
    </p:spTree>
  </p:cSld>
  <p:clrMapOvr>
    <a:masterClrMapping/>
  </p:clrMapOvr>
  <p:hf dt="1" ftr="0" hdr="0" sldNum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5710797" name="Title 1"/>
          <p:cNvSpPr>
            <a:spLocks noChangeArrowheads="1"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27845889" name="Content Placeholder 2"/>
          <p:cNvSpPr>
            <a:spLocks noChangeArrowheads="1"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69345519" name="Date Placeholder 3"/>
          <p:cNvSpPr>
            <a:spLocks noChangeArrowheads="1"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116A973-3DFC-435F-B2AE-CB0AE7E0449E}" type="datetime1">
              <a:rPr cap="none"/>
              <a:t>11/11/2022</a:t>
            </a:fld>
            <a:endParaRPr cap="none"/>
          </a:p>
        </p:txBody>
      </p:sp>
      <p:sp>
        <p:nvSpPr>
          <p:cNvPr id="2139987572" name="Footer Placeholder 4"/>
          <p:cNvSpPr>
            <a:spLocks noChangeArrowheads="1"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cap="none"/>
          </a:p>
        </p:txBody>
      </p:sp>
      <p:sp>
        <p:nvSpPr>
          <p:cNvPr id="978800343" name="Slide Number Placeholder 5"/>
          <p:cNvSpPr>
            <a:spLocks noChangeArrowheads="1"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41184F5-BBA9-4472-E7A9-4D27CAE71118}" type="slidenum">
              <a:rPr cap="none"/>
              <a:t>‹#›</a:t>
            </a:fld>
            <a:endParaRPr cap="none"/>
          </a:p>
        </p:txBody>
      </p:sp>
    </p:spTree>
  </p:cSld>
  <p:clrMapOvr>
    <a:masterClrMapping/>
  </p:clrMapOvr>
  <p:hf dt="1" ftr="0" hdr="0" sldNum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1541254" name="Title 1"/>
          <p:cNvSpPr>
            <a:spLocks noChangeArrowheads="1" noGrp="1"/>
          </p:cNvSpPr>
          <p:nvPr>
            <p:ph type="title"/>
          </p:nvPr>
        </p:nvSpPr>
        <p:spPr bwMode="auto">
          <a:xfrm>
            <a:off x="831850" y="1710055"/>
            <a:ext cx="10515600" cy="2852420"/>
          </a:xfrm>
        </p:spPr>
        <p:txBody>
          <a:bodyPr vert="horz" wrap="square" lIns="91440" tIns="45720" rIns="91440" bIns="45720" numCol="1" spcCol="215899" anchor="b">
            <a:prstTxWarp prst="textNoShape"/>
          </a:bodyPr>
          <a:lstStyle>
            <a:lvl1pPr>
              <a:defRPr sz="6000" cap="none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6427524" name="Text Placeholder 2"/>
          <p:cNvSpPr>
            <a:spLocks noChangeArrowheads="1" noGrp="1"/>
          </p:cNvSpPr>
          <p:nvPr>
            <p:ph idx="1"/>
          </p:nvPr>
        </p:nvSpPr>
        <p:spPr bwMode="auto">
          <a:xfrm>
            <a:off x="831850" y="4589780"/>
            <a:ext cx="10515600" cy="1499870"/>
          </a:xfrm>
        </p:spPr>
        <p:txBody>
          <a:bodyPr/>
          <a:lstStyle>
            <a:lvl1pPr marL="0" indent="0">
              <a:buNone/>
              <a:defRPr sz="2400" cap="none">
                <a:solidFill>
                  <a:srgbClr val="8C8C8C"/>
                </a:solidFill>
              </a:defRPr>
            </a:lvl1pPr>
            <a:lvl2pPr marL="457200" indent="0">
              <a:buNone/>
              <a:defRPr sz="2000" cap="none">
                <a:solidFill>
                  <a:srgbClr val="8C8C8C"/>
                </a:solidFill>
              </a:defRPr>
            </a:lvl2pPr>
            <a:lvl3pPr marL="914400" indent="0">
              <a:buNone/>
              <a:defRPr sz="1800" cap="none">
                <a:solidFill>
                  <a:srgbClr val="8C8C8C"/>
                </a:solidFill>
              </a:defRPr>
            </a:lvl3pPr>
            <a:lvl4pPr marL="1371600" indent="0">
              <a:buNone/>
              <a:defRPr sz="1600" cap="none">
                <a:solidFill>
                  <a:srgbClr val="8C8C8C"/>
                </a:solidFill>
              </a:defRPr>
            </a:lvl4pPr>
            <a:lvl5pPr marL="1828800" indent="0">
              <a:buNone/>
              <a:defRPr sz="1600" cap="none">
                <a:solidFill>
                  <a:srgbClr val="8C8C8C"/>
                </a:solidFill>
              </a:defRPr>
            </a:lvl5pPr>
            <a:lvl6pPr marL="2286000" indent="0">
              <a:buNone/>
              <a:defRPr sz="1600" cap="none">
                <a:solidFill>
                  <a:srgbClr val="8C8C8C"/>
                </a:solidFill>
              </a:defRPr>
            </a:lvl6pPr>
            <a:lvl7pPr marL="2743200" indent="0">
              <a:buNone/>
              <a:defRPr sz="1600" cap="none">
                <a:solidFill>
                  <a:srgbClr val="8C8C8C"/>
                </a:solidFill>
              </a:defRPr>
            </a:lvl7pPr>
            <a:lvl8pPr marL="3200400" indent="0">
              <a:buNone/>
              <a:defRPr sz="1600" cap="none">
                <a:solidFill>
                  <a:srgbClr val="8C8C8C"/>
                </a:solidFill>
              </a:defRPr>
            </a:lvl8pPr>
            <a:lvl9pPr marL="3657600" indent="0">
              <a:buNone/>
              <a:defRPr sz="1600" cap="none">
                <a:solidFill>
                  <a:srgbClr val="8C8C8C"/>
                </a:solidFill>
              </a:defRPr>
            </a:lvl9pPr>
          </a:lstStyle>
          <a:p>
            <a:pPr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904483470" name="Date Placeholder 3"/>
          <p:cNvSpPr>
            <a:spLocks noChangeArrowheads="1"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4EB4C53-1DE9-BEBA-A753-EBEF021D51BE}" type="datetime1">
              <a:rPr cap="none"/>
              <a:t>11/11/2022</a:t>
            </a:fld>
            <a:endParaRPr cap="none"/>
          </a:p>
        </p:txBody>
      </p:sp>
      <p:sp>
        <p:nvSpPr>
          <p:cNvPr id="355842670" name="Footer Placeholder 4"/>
          <p:cNvSpPr>
            <a:spLocks noChangeArrowheads="1"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cap="none"/>
          </a:p>
        </p:txBody>
      </p:sp>
      <p:sp>
        <p:nvSpPr>
          <p:cNvPr id="1219568948" name="Slide Number Placeholder 5"/>
          <p:cNvSpPr>
            <a:spLocks noChangeArrowheads="1"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A760EBA-F4B7-23F8-F9CE-02AD40800F57}" type="slidenum">
              <a:rPr cap="none"/>
              <a:t>‹#›</a:t>
            </a:fld>
            <a:endParaRPr cap="none"/>
          </a:p>
        </p:txBody>
      </p:sp>
    </p:spTree>
  </p:cSld>
  <p:clrMapOvr>
    <a:masterClrMapping/>
  </p:clrMapOvr>
  <p:hf dt="1" ftr="0" hdr="0" sldNum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9099381" name="Title 1"/>
          <p:cNvSpPr>
            <a:spLocks noChangeArrowheads="1"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76669520" name="Content Placeholder 2"/>
          <p:cNvSpPr>
            <a:spLocks noChangeArrowheads="1" noGrp="1"/>
          </p:cNvSpPr>
          <p:nvPr>
            <p:ph idx="1"/>
          </p:nvPr>
        </p:nvSpPr>
        <p:spPr bwMode="auto">
          <a:xfrm>
            <a:off x="838200" y="1825625"/>
            <a:ext cx="5181600" cy="4351655"/>
          </a:xfrm>
        </p:spPr>
        <p:txBody>
          <a:bodyPr/>
          <a:lstStyle/>
          <a:p>
            <a:pPr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67206545" name="Content Placeholder 3"/>
          <p:cNvSpPr>
            <a:spLocks noChangeArrowheads="1" noGrp="1"/>
          </p:cNvSpPr>
          <p:nvPr>
            <p:ph idx="2"/>
          </p:nvPr>
        </p:nvSpPr>
        <p:spPr bwMode="auto">
          <a:xfrm>
            <a:off x="6172200" y="1825625"/>
            <a:ext cx="5181600" cy="4351655"/>
          </a:xfrm>
        </p:spPr>
        <p:txBody>
          <a:bodyPr/>
          <a:lstStyle/>
          <a:p>
            <a:pPr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2340271" name="Date Placeholder 4"/>
          <p:cNvSpPr>
            <a:spLocks noChangeArrowheads="1"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63C7100-4EAB-6987-E584-B8D23FCA13ED}" type="datetime1">
              <a:rPr cap="none"/>
              <a:t>11/11/2022</a:t>
            </a:fld>
            <a:endParaRPr cap="none"/>
          </a:p>
        </p:txBody>
      </p:sp>
      <p:sp>
        <p:nvSpPr>
          <p:cNvPr id="1589688138" name="Footer Placeholder 5"/>
          <p:cNvSpPr>
            <a:spLocks noChangeArrowheads="1"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cap="none"/>
          </a:p>
        </p:txBody>
      </p:sp>
      <p:sp>
        <p:nvSpPr>
          <p:cNvPr id="1721650683" name="Slide Number Placeholder 6"/>
          <p:cNvSpPr>
            <a:spLocks noChangeArrowheads="1"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FAF22C3-8DF2-FAD4-BC17-7B816C594A2E}" type="slidenum">
              <a:rPr cap="none"/>
              <a:t>‹#›</a:t>
            </a:fld>
            <a:endParaRPr cap="none"/>
          </a:p>
        </p:txBody>
      </p:sp>
    </p:spTree>
  </p:cSld>
  <p:clrMapOvr>
    <a:masterClrMapping/>
  </p:clrMapOvr>
  <p:hf dt="1" ftr="0" hdr="0" sldNum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1196721" name="Title 1"/>
          <p:cNvSpPr>
            <a:spLocks noChangeArrowheads="1" noGrp="1"/>
          </p:cNvSpPr>
          <p:nvPr>
            <p:ph type="title"/>
          </p:nvPr>
        </p:nvSpPr>
        <p:spPr bwMode="auto">
          <a:xfrm>
            <a:off x="840105" y="365125"/>
            <a:ext cx="10515600" cy="1325880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111661636" name="Text Placeholder 2"/>
          <p:cNvSpPr>
            <a:spLocks noChangeArrowheads="1" noGrp="1"/>
          </p:cNvSpPr>
          <p:nvPr>
            <p:ph idx="1"/>
          </p:nvPr>
        </p:nvSpPr>
        <p:spPr bwMode="auto">
          <a:xfrm>
            <a:off x="840105" y="1681480"/>
            <a:ext cx="5157470" cy="823595"/>
          </a:xfrm>
        </p:spPr>
        <p:txBody>
          <a:bodyPr vert="horz" wrap="square" lIns="91440" tIns="45720" rIns="91440" bIns="45720" numCol="1" spcCol="215899" anchor="b">
            <a:prstTxWarp prst="textNoShape"/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892770857" name="Content Placeholder 3"/>
          <p:cNvSpPr>
            <a:spLocks noChangeArrowheads="1" noGrp="1"/>
          </p:cNvSpPr>
          <p:nvPr>
            <p:ph idx="2"/>
          </p:nvPr>
        </p:nvSpPr>
        <p:spPr bwMode="auto">
          <a:xfrm>
            <a:off x="840105" y="2505074"/>
            <a:ext cx="5157470" cy="3684905"/>
          </a:xfrm>
        </p:spPr>
        <p:txBody>
          <a:bodyPr/>
          <a:lstStyle/>
          <a:p>
            <a:pPr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57596694" name="Text Placeholder 4"/>
          <p:cNvSpPr>
            <a:spLocks noChangeArrowheads="1" noGrp="1"/>
          </p:cNvSpPr>
          <p:nvPr>
            <p:ph idx="3"/>
          </p:nvPr>
        </p:nvSpPr>
        <p:spPr bwMode="auto">
          <a:xfrm>
            <a:off x="6172200" y="1681480"/>
            <a:ext cx="5183505" cy="823595"/>
          </a:xfrm>
        </p:spPr>
        <p:txBody>
          <a:bodyPr vert="horz" wrap="square" lIns="91440" tIns="45720" rIns="91440" bIns="45720" numCol="1" spcCol="215899" anchor="b">
            <a:prstTxWarp prst="textNoShape"/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pPr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033445927" name="Content Placeholder 5"/>
          <p:cNvSpPr>
            <a:spLocks noChangeArrowheads="1" noGrp="1"/>
          </p:cNvSpPr>
          <p:nvPr>
            <p:ph idx="4"/>
          </p:nvPr>
        </p:nvSpPr>
        <p:spPr bwMode="auto">
          <a:xfrm>
            <a:off x="6172200" y="2505074"/>
            <a:ext cx="5183505" cy="3684905"/>
          </a:xfrm>
        </p:spPr>
        <p:txBody>
          <a:bodyPr/>
          <a:lstStyle/>
          <a:p>
            <a:pPr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58925209" name="Date Placeholder 6"/>
          <p:cNvSpPr>
            <a:spLocks noChangeArrowheads="1"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CC82D4E-00A1-9DDB-EF70-F68E633E19A3}" type="datetime1">
              <a:rPr cap="none"/>
              <a:t>11/11/2022</a:t>
            </a:fld>
            <a:endParaRPr cap="none"/>
          </a:p>
        </p:txBody>
      </p:sp>
      <p:sp>
        <p:nvSpPr>
          <p:cNvPr id="2037439473" name="Footer Placeholder 7"/>
          <p:cNvSpPr>
            <a:spLocks noChangeArrowheads="1"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cap="none"/>
          </a:p>
        </p:txBody>
      </p:sp>
      <p:sp>
        <p:nvSpPr>
          <p:cNvPr id="1216696470" name="Slide Number Placeholder 8"/>
          <p:cNvSpPr>
            <a:spLocks noChangeArrowheads="1"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7A6E1D-539E-2F98-D0C2-A5CD208C26F0}" type="slidenum">
              <a:rPr cap="none"/>
              <a:t>‹#›</a:t>
            </a:fld>
            <a:endParaRPr cap="none"/>
          </a:p>
        </p:txBody>
      </p:sp>
    </p:spTree>
  </p:cSld>
  <p:clrMapOvr>
    <a:masterClrMapping/>
  </p:clrMapOvr>
  <p:hf dt="1" ftr="0" hdr="0" sldNum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16653" name="Title 1"/>
          <p:cNvSpPr>
            <a:spLocks noChangeArrowheads="1"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83502801" name="Date Placeholder 2"/>
          <p:cNvSpPr>
            <a:spLocks noChangeArrowheads="1"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E7FED90-DE93-2A1B-DDC7-284EA3892B7D}" type="datetime1">
              <a:rPr cap="none"/>
              <a:t>11/11/2022</a:t>
            </a:fld>
            <a:endParaRPr cap="none"/>
          </a:p>
        </p:txBody>
      </p:sp>
      <p:sp>
        <p:nvSpPr>
          <p:cNvPr id="1341058438" name="Footer Placeholder 3"/>
          <p:cNvSpPr>
            <a:spLocks noChangeArrowheads="1"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cap="none"/>
          </a:p>
        </p:txBody>
      </p:sp>
      <p:sp>
        <p:nvSpPr>
          <p:cNvPr id="223185573" name="Slide Number Placeholder 4"/>
          <p:cNvSpPr>
            <a:spLocks noChangeArrowheads="1"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C7158E3-ADA1-24AE-EFC9-5BFB1687190E}" type="slidenum">
              <a:rPr cap="none"/>
              <a:t>‹#›</a:t>
            </a:fld>
            <a:endParaRPr cap="none"/>
          </a:p>
        </p:txBody>
      </p:sp>
    </p:spTree>
  </p:cSld>
  <p:clrMapOvr>
    <a:masterClrMapping/>
  </p:clrMapOvr>
  <p:hf dt="1" ftr="0" hdr="0" sldNum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688190" name="Date Placeholder 1"/>
          <p:cNvSpPr>
            <a:spLocks noChangeArrowheads="1"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7F44F38-76EA-A1B9-A44C-80EC010252D5}" type="datetime1">
              <a:rPr cap="none"/>
              <a:t>11/11/2022</a:t>
            </a:fld>
            <a:endParaRPr cap="none"/>
          </a:p>
        </p:txBody>
      </p:sp>
      <p:sp>
        <p:nvSpPr>
          <p:cNvPr id="1258163820" name="Footer Placeholder 2"/>
          <p:cNvSpPr>
            <a:spLocks noChangeArrowheads="1"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cap="none"/>
          </a:p>
        </p:txBody>
      </p:sp>
      <p:sp>
        <p:nvSpPr>
          <p:cNvPr id="1753400648" name="Slide Number Placeholder 3"/>
          <p:cNvSpPr>
            <a:spLocks noChangeArrowheads="1"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AE91433-7D97-BCE2-D951-8BB75A1F2FDE}" type="slidenum">
              <a:rPr cap="none"/>
              <a:t>‹#›</a:t>
            </a:fld>
            <a:endParaRPr cap="none"/>
          </a:p>
        </p:txBody>
      </p:sp>
    </p:spTree>
  </p:cSld>
  <p:clrMapOvr>
    <a:masterClrMapping/>
  </p:clrMapOvr>
  <p:hf dt="1" ftr="0" hdr="0" sldNum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8350363" name="Title 1"/>
          <p:cNvSpPr>
            <a:spLocks noChangeArrowheads="1" noGrp="1"/>
          </p:cNvSpPr>
          <p:nvPr>
            <p:ph type="title"/>
          </p:nvPr>
        </p:nvSpPr>
        <p:spPr bwMode="auto">
          <a:xfrm>
            <a:off x="840105" y="457200"/>
            <a:ext cx="3931920" cy="1600200"/>
          </a:xfrm>
        </p:spPr>
        <p:txBody>
          <a:bodyPr vert="horz" wrap="square" lIns="91440" tIns="45720" rIns="91440" bIns="45720" numCol="1" spcCol="215899" anchor="b">
            <a:prstTxWarp prst="textNoShape"/>
          </a:bodyPr>
          <a:lstStyle>
            <a:lvl1pPr>
              <a:defRPr sz="3200" cap="none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11617479" name="Content Placeholder 2"/>
          <p:cNvSpPr>
            <a:spLocks noChangeArrowheads="1" noGrp="1"/>
          </p:cNvSpPr>
          <p:nvPr>
            <p:ph idx="1"/>
          </p:nvPr>
        </p:nvSpPr>
        <p:spPr bwMode="auto">
          <a:xfrm>
            <a:off x="5183505" y="987425"/>
            <a:ext cx="6172200" cy="4873625"/>
          </a:xfrm>
        </p:spPr>
        <p:txBody>
          <a:bodyPr/>
          <a:lstStyle>
            <a:lvl1pPr>
              <a:defRPr sz="3200" cap="none"/>
            </a:lvl1pPr>
            <a:lvl2pPr>
              <a:defRPr sz="2800" cap="none"/>
            </a:lvl2pPr>
            <a:lvl3pPr>
              <a:defRPr sz="2400" cap="none"/>
            </a:lvl3pPr>
            <a:lvl4pPr>
              <a:defRPr sz="2000" cap="none"/>
            </a:lvl4pPr>
            <a:lvl5pPr>
              <a:defRPr sz="2000" cap="none"/>
            </a:lvl5pPr>
            <a:lvl6pPr>
              <a:defRPr sz="2000" cap="none"/>
            </a:lvl6pPr>
            <a:lvl7pPr>
              <a:defRPr sz="2000" cap="none"/>
            </a:lvl7pPr>
            <a:lvl8pPr>
              <a:defRPr sz="2000" cap="none"/>
            </a:lvl8pPr>
            <a:lvl9pPr>
              <a:defRPr sz="2000" cap="none"/>
            </a:lvl9pPr>
          </a:lstStyle>
          <a:p>
            <a:pPr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73345172" name="Text Placeholder 3"/>
          <p:cNvSpPr>
            <a:spLocks noChangeArrowheads="1" noGrp="1"/>
          </p:cNvSpPr>
          <p:nvPr>
            <p:ph idx="2"/>
          </p:nvPr>
        </p:nvSpPr>
        <p:spPr bwMode="auto">
          <a:xfrm>
            <a:off x="840105" y="2057400"/>
            <a:ext cx="3931920" cy="3811905"/>
          </a:xfrm>
        </p:spPr>
        <p:txBody>
          <a:bodyPr/>
          <a:lstStyle>
            <a:lvl1pPr marL="0" indent="0">
              <a:buNone/>
              <a:defRPr sz="1600" cap="none"/>
            </a:lvl1pPr>
            <a:lvl2pPr marL="457200" indent="0">
              <a:buNone/>
              <a:defRPr sz="1400" cap="none"/>
            </a:lvl2pPr>
            <a:lvl3pPr marL="914400" indent="0">
              <a:buNone/>
              <a:defRPr sz="1200" cap="none"/>
            </a:lvl3pPr>
            <a:lvl4pPr marL="1371600" indent="0">
              <a:buNone/>
              <a:defRPr sz="1000" cap="none"/>
            </a:lvl4pPr>
            <a:lvl5pPr marL="1828800" indent="0">
              <a:buNone/>
              <a:defRPr sz="1000" cap="none"/>
            </a:lvl5pPr>
            <a:lvl6pPr marL="2286000" indent="0">
              <a:buNone/>
              <a:defRPr sz="1000" cap="none"/>
            </a:lvl6pPr>
            <a:lvl7pPr marL="2743200" indent="0">
              <a:buNone/>
              <a:defRPr sz="1000" cap="none"/>
            </a:lvl7pPr>
            <a:lvl8pPr marL="3200400" indent="0">
              <a:buNone/>
              <a:defRPr sz="1000" cap="none"/>
            </a:lvl8pPr>
            <a:lvl9pPr marL="3657600" indent="0">
              <a:buNone/>
              <a:defRPr sz="1000" cap="none"/>
            </a:lvl9pPr>
          </a:lstStyle>
          <a:p>
            <a:pPr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688726648" name="Date Placeholder 4"/>
          <p:cNvSpPr>
            <a:spLocks noChangeArrowheads="1"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6A4E514-5A9B-F113-D51C-AC46AB5223F9}" type="datetime1">
              <a:rPr cap="none"/>
              <a:t>11/11/2022</a:t>
            </a:fld>
            <a:endParaRPr cap="none"/>
          </a:p>
        </p:txBody>
      </p:sp>
      <p:sp>
        <p:nvSpPr>
          <p:cNvPr id="2121259149" name="Footer Placeholder 5"/>
          <p:cNvSpPr>
            <a:spLocks noChangeArrowheads="1"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cap="none"/>
          </a:p>
        </p:txBody>
      </p:sp>
      <p:sp>
        <p:nvSpPr>
          <p:cNvPr id="917411504" name="Slide Number Placeholder 6"/>
          <p:cNvSpPr>
            <a:spLocks noChangeArrowheads="1"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7FA41DB-958A-AFB7-C442-63E20F0C3236}" type="slidenum">
              <a:rPr cap="none"/>
              <a:t>‹#›</a:t>
            </a:fld>
            <a:endParaRPr cap="none"/>
          </a:p>
        </p:txBody>
      </p:sp>
    </p:spTree>
  </p:cSld>
  <p:clrMapOvr>
    <a:masterClrMapping/>
  </p:clrMapOvr>
  <p:hf dt="1" ftr="0" hdr="0" sldNum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576392" name="Title 1"/>
          <p:cNvSpPr>
            <a:spLocks noChangeArrowheads="1" noGrp="1"/>
          </p:cNvSpPr>
          <p:nvPr>
            <p:ph type="title"/>
          </p:nvPr>
        </p:nvSpPr>
        <p:spPr bwMode="auto">
          <a:xfrm>
            <a:off x="840105" y="457200"/>
            <a:ext cx="3931920" cy="1600200"/>
          </a:xfrm>
        </p:spPr>
        <p:txBody>
          <a:bodyPr vert="horz" wrap="square" lIns="91440" tIns="45720" rIns="91440" bIns="45720" numCol="1" spcCol="215899" anchor="b">
            <a:prstTxWarp prst="textNoShape"/>
          </a:bodyPr>
          <a:lstStyle>
            <a:lvl1pPr>
              <a:defRPr sz="3200" cap="none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54231839" name="Picture Placeholder 2"/>
          <p:cNvSpPr>
            <a:spLocks noChangeArrowheads="1" noGrp="1"/>
          </p:cNvSpPr>
          <p:nvPr>
            <p:ph type="pic" idx="1"/>
          </p:nvPr>
        </p:nvSpPr>
        <p:spPr bwMode="auto">
          <a:xfrm>
            <a:off x="5183505" y="987425"/>
            <a:ext cx="6172200" cy="4873625"/>
          </a:xfrm>
        </p:spPr>
        <p:txBody>
          <a:bodyPr/>
          <a:lstStyle>
            <a:lvl1pPr marL="0" indent="0">
              <a:buNone/>
              <a:defRPr sz="3200" cap="none"/>
            </a:lvl1pPr>
            <a:lvl2pPr marL="457200" indent="0">
              <a:buNone/>
              <a:defRPr sz="2800" cap="none"/>
            </a:lvl2pPr>
            <a:lvl3pPr marL="914400" indent="0">
              <a:buNone/>
              <a:defRPr sz="2400" cap="none"/>
            </a:lvl3pPr>
            <a:lvl4pPr marL="1371600" indent="0">
              <a:buNone/>
              <a:defRPr sz="2000" cap="none"/>
            </a:lvl4pPr>
            <a:lvl5pPr marL="1828800" indent="0">
              <a:buNone/>
              <a:defRPr sz="2000" cap="none"/>
            </a:lvl5pPr>
            <a:lvl6pPr marL="2286000" indent="0">
              <a:buNone/>
              <a:defRPr sz="2000" cap="none"/>
            </a:lvl6pPr>
            <a:lvl7pPr marL="2743200" indent="0">
              <a:buNone/>
              <a:defRPr sz="2000" cap="none"/>
            </a:lvl7pPr>
            <a:lvl8pPr marL="3200400" indent="0">
              <a:buNone/>
              <a:defRPr sz="2000" cap="none"/>
            </a:lvl8pPr>
            <a:lvl9pPr marL="3657600" indent="0">
              <a:buNone/>
              <a:defRPr sz="2000" cap="none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1682052296" name="Text Placeholder 3"/>
          <p:cNvSpPr>
            <a:spLocks noChangeArrowheads="1" noGrp="1"/>
          </p:cNvSpPr>
          <p:nvPr>
            <p:ph idx="2"/>
          </p:nvPr>
        </p:nvSpPr>
        <p:spPr bwMode="auto">
          <a:xfrm>
            <a:off x="840105" y="2057400"/>
            <a:ext cx="3931920" cy="3811905"/>
          </a:xfrm>
        </p:spPr>
        <p:txBody>
          <a:bodyPr/>
          <a:lstStyle>
            <a:lvl1pPr marL="0" indent="0">
              <a:buNone/>
              <a:defRPr sz="1600" cap="none"/>
            </a:lvl1pPr>
            <a:lvl2pPr marL="457200" indent="0">
              <a:buNone/>
              <a:defRPr sz="1400" cap="none"/>
            </a:lvl2pPr>
            <a:lvl3pPr marL="914400" indent="0">
              <a:buNone/>
              <a:defRPr sz="1200" cap="none"/>
            </a:lvl3pPr>
            <a:lvl4pPr marL="1371600" indent="0">
              <a:buNone/>
              <a:defRPr sz="1000" cap="none"/>
            </a:lvl4pPr>
            <a:lvl5pPr marL="1828800" indent="0">
              <a:buNone/>
              <a:defRPr sz="1000" cap="none"/>
            </a:lvl5pPr>
            <a:lvl6pPr marL="2286000" indent="0">
              <a:buNone/>
              <a:defRPr sz="1000" cap="none"/>
            </a:lvl6pPr>
            <a:lvl7pPr marL="2743200" indent="0">
              <a:buNone/>
              <a:defRPr sz="1000" cap="none"/>
            </a:lvl7pPr>
            <a:lvl8pPr marL="3200400" indent="0">
              <a:buNone/>
              <a:defRPr sz="1000" cap="none"/>
            </a:lvl8pPr>
            <a:lvl9pPr marL="3657600" indent="0">
              <a:buNone/>
              <a:defRPr sz="1000" cap="none"/>
            </a:lvl9pPr>
          </a:lstStyle>
          <a:p>
            <a:pPr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59149897" name="Date Placeholder 4"/>
          <p:cNvSpPr>
            <a:spLocks noChangeArrowheads="1"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C10D072-3C91-4526-DFA8-CA739EE6299F}" type="datetime1">
              <a:rPr cap="none"/>
              <a:t>11/11/2022</a:t>
            </a:fld>
            <a:endParaRPr cap="none"/>
          </a:p>
        </p:txBody>
      </p:sp>
      <p:sp>
        <p:nvSpPr>
          <p:cNvPr id="2145761479" name="Footer Placeholder 5"/>
          <p:cNvSpPr>
            <a:spLocks noChangeArrowheads="1"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cap="none"/>
          </a:p>
        </p:txBody>
      </p:sp>
      <p:sp>
        <p:nvSpPr>
          <p:cNvPr id="1658403291" name="Slide Number Placeholder 6"/>
          <p:cNvSpPr>
            <a:spLocks noChangeArrowheads="1"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A64D4A3-EDC7-3122-89DC-1B779A927F4E}" type="slidenum">
              <a:rPr cap="none"/>
              <a:t>‹#›</a:t>
            </a:fld>
            <a:endParaRPr cap="none"/>
          </a:p>
        </p:txBody>
      </p:sp>
    </p:spTree>
  </p:cSld>
  <p:clrMapOvr>
    <a:masterClrMapping/>
  </p:clrMapOvr>
  <p:hf dt="1" ftr="0" hdr="0" sldNum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78684" name="Title 1"/>
          <p:cNvSpPr>
            <a:spLocks noChangeArrowheads="1"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2819699" name="Vertical Text Placeholder 2"/>
          <p:cNvSpPr>
            <a:spLocks noChangeArrowheads="1" noGrp="1"/>
          </p:cNvSpPr>
          <p:nvPr>
            <p:ph idx="1"/>
          </p:nvPr>
        </p:nvSpPr>
        <p:spPr bwMode="auto"/>
        <p:txBody>
          <a:bodyPr vert="vert" wrap="square" lIns="91440" tIns="45720" rIns="91440" bIns="45720" numCol="1" spcCol="215899" anchor="t">
            <a:prstTxWarp prst="textNoShape"/>
          </a:bodyPr>
          <a:lstStyle/>
          <a:p>
            <a:pPr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06989274" name="Date Placeholder 3"/>
          <p:cNvSpPr>
            <a:spLocks noChangeArrowheads="1"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1A5CFC4-8ADC-F039-921D-7C6C81536429}" type="datetime1">
              <a:rPr cap="none"/>
              <a:t>11/11/2022</a:t>
            </a:fld>
            <a:endParaRPr cap="none"/>
          </a:p>
        </p:txBody>
      </p:sp>
      <p:sp>
        <p:nvSpPr>
          <p:cNvPr id="1858916565" name="Footer Placeholder 4"/>
          <p:cNvSpPr>
            <a:spLocks noChangeArrowheads="1"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cap="none"/>
          </a:p>
        </p:txBody>
      </p:sp>
      <p:sp>
        <p:nvSpPr>
          <p:cNvPr id="1811162687" name="Slide Number Placeholder 5"/>
          <p:cNvSpPr>
            <a:spLocks noChangeArrowheads="1"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3621D43-0DEE-37EB-A0DA-FBBE539456AE}" type="slidenum">
              <a:rPr cap="none"/>
              <a:t>‹#›</a:t>
            </a:fld>
            <a:endParaRPr cap="none"/>
          </a:p>
        </p:txBody>
      </p:sp>
    </p:spTree>
  </p:cSld>
  <p:clrMapOvr>
    <a:masterClrMapping/>
  </p:clrMapOvr>
  <p:hf dt="1" ftr="0" hdr="0" sldNum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0753085" name="Vertical Title 1"/>
          <p:cNvSpPr>
            <a:spLocks noChangeArrowheads="1" noGrp="1"/>
          </p:cNvSpPr>
          <p:nvPr>
            <p:ph type="title"/>
          </p:nvPr>
        </p:nvSpPr>
        <p:spPr bwMode="auto">
          <a:xfrm>
            <a:off x="8724900" y="365125"/>
            <a:ext cx="2628900" cy="5812155"/>
          </a:xfrm>
        </p:spPr>
        <p:txBody>
          <a:bodyPr vert="vert" wrap="square" lIns="91440" tIns="45720" rIns="91440" bIns="45720" numCol="1" spcCol="215899" anchor="ctr">
            <a:prstTxWarp prst="textNoShape"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58264243" name="Vertical Text Placeholder 2"/>
          <p:cNvSpPr>
            <a:spLocks noChangeArrowheads="1" noGrp="1"/>
          </p:cNvSpPr>
          <p:nvPr>
            <p:ph idx="1"/>
          </p:nvPr>
        </p:nvSpPr>
        <p:spPr bwMode="auto">
          <a:xfrm>
            <a:off x="838200" y="365125"/>
            <a:ext cx="7734300" cy="5812155"/>
          </a:xfrm>
        </p:spPr>
        <p:txBody>
          <a:bodyPr vert="vert" wrap="square" lIns="91440" tIns="45720" rIns="91440" bIns="45720" numCol="1" spcCol="215899" anchor="t">
            <a:prstTxWarp prst="textNoShape"/>
          </a:bodyPr>
          <a:lstStyle/>
          <a:p>
            <a:pPr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76408072" name="Date Placeholder 3"/>
          <p:cNvSpPr>
            <a:spLocks noChangeArrowheads="1"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026EAB4-FACD-731C-839E-0C49A4D07559}" type="datetime1">
              <a:rPr cap="none"/>
              <a:t>11/11/2022</a:t>
            </a:fld>
            <a:endParaRPr cap="none"/>
          </a:p>
        </p:txBody>
      </p:sp>
      <p:sp>
        <p:nvSpPr>
          <p:cNvPr id="795054006" name="Footer Placeholder 4"/>
          <p:cNvSpPr>
            <a:spLocks noChangeArrowheads="1"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cap="none"/>
          </a:p>
        </p:txBody>
      </p:sp>
      <p:sp>
        <p:nvSpPr>
          <p:cNvPr id="803001472" name="Slide Number Placeholder 5"/>
          <p:cNvSpPr>
            <a:spLocks noChangeArrowheads="1"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5CCEC85-CB88-991A-C674-3D4FA23A3068}" type="slidenum">
              <a:rPr cap="none"/>
              <a:t>‹#›</a:t>
            </a:fld>
            <a:endParaRPr cap="none"/>
          </a:p>
        </p:txBody>
      </p:sp>
    </p:spTree>
  </p:cSld>
  <p:clrMapOvr>
    <a:masterClrMapping/>
  </p:clrMapOvr>
  <p:hf dt="1" ftr="0" hdr="0" sldNum="1"/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544479" name="Title Placeholder 1"/>
          <p:cNvSpPr>
            <a:spLocks noChangeArrowheads="1" noGrp="1"/>
          </p:cNvSpPr>
          <p:nvPr>
            <p:ph type="title"/>
          </p:nvPr>
        </p:nvSpPr>
        <p:spPr bwMode="auto">
          <a:xfrm>
            <a:off x="838200" y="365125"/>
            <a:ext cx="10515600" cy="1325880"/>
          </a:xfrm>
          <a:prstGeom prst="rect">
            <a:avLst/>
          </a:prstGeom>
        </p:spPr>
        <p:txBody>
          <a:bodyPr vert="horz" wrap="square" lIns="91440" tIns="45720" rIns="91440" bIns="45720" numCol="1" spcCol="215899" anchor="ctr">
            <a:prstTxWarp prst="textNoShape"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22445596" name="Text Placeholder 2"/>
          <p:cNvSpPr>
            <a:spLocks noChangeArrowheads="1" noGrp="1"/>
          </p:cNvSpPr>
          <p:nvPr>
            <p:ph type="body" idx="1"/>
          </p:nvPr>
        </p:nvSpPr>
        <p:spPr bwMode="auto">
          <a:xfrm>
            <a:off x="838200" y="1825625"/>
            <a:ext cx="10515600" cy="4351655"/>
          </a:xfrm>
          <a:prstGeom prst="rect">
            <a:avLst/>
          </a:prstGeom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64013946" name="Date Placeholder 3"/>
          <p:cNvSpPr>
            <a:spLocks noChangeArrowheads="1"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spcCol="215899" anchor="ctr">
            <a:prstTxWarp prst="textNoShape"/>
          </a:bodyPr>
          <a:lstStyle>
            <a:lvl1pPr algn="l">
              <a:defRPr sz="1200" cap="none">
                <a:solidFill>
                  <a:srgbClr val="8C8C8C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defRPr/>
            </a:pPr>
            <a:fld id="{598E9DDE-90B4-DB6B-FA36-663ED3780C33}" type="datetime1">
              <a:rPr cap="none"/>
              <a:t/>
            </a:fld>
            <a:endParaRPr cap="none"/>
          </a:p>
        </p:txBody>
      </p:sp>
      <p:sp>
        <p:nvSpPr>
          <p:cNvPr id="2036368312" name="Footer Placeholder 4"/>
          <p:cNvSpPr>
            <a:spLocks noChangeArrowheads="1"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wrap="square" lIns="91440" tIns="45720" rIns="91440" bIns="45720" numCol="1" spcCol="215899" anchor="ctr">
            <a:prstTxWarp prst="textNoShape"/>
          </a:bodyPr>
          <a:lstStyle>
            <a:lvl1pPr algn="ctr">
              <a:defRPr sz="1200" cap="none">
                <a:solidFill>
                  <a:srgbClr val="8C8C8C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defRPr/>
            </a:pPr>
            <a:endParaRPr cap="none"/>
          </a:p>
        </p:txBody>
      </p:sp>
      <p:sp>
        <p:nvSpPr>
          <p:cNvPr id="604335880" name="Slide Number Placeholder 5"/>
          <p:cNvSpPr>
            <a:spLocks noChangeArrowheads="1"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numCol="1" spcCol="215899" anchor="ctr">
            <a:prstTxWarp prst="textNoShape"/>
          </a:bodyPr>
          <a:lstStyle>
            <a:lvl1pPr algn="r">
              <a:defRPr sz="1200" cap="none">
                <a:solidFill>
                  <a:srgbClr val="8C8C8C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>
              <a:defRPr/>
            </a:pPr>
            <a:fld id="{1C7F1E10-5EF1-2AE8-BFC7-A8BD508949FD}" type="slidenum">
              <a:rPr cap="none"/>
              <a:t>1</a:t>
            </a:fld>
            <a:endParaRPr cap="non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1"/>
  <p:txStyles>
    <p:titleStyle>
      <a:lvl1pPr marL="0" marR="0" indent="0" algn="l" defTabSz="914400">
        <a:lnSpc>
          <a:spcPct val="90000"/>
        </a:lnSpc>
        <a:spcBef>
          <a:spcPts val="0"/>
        </a:spcBef>
        <a:spcAft>
          <a:spcPts val="0"/>
        </a:spcAft>
        <a:buNone/>
        <a:defRPr sz="4400" b="0" i="0" u="none" strike="noStrike" cap="none" spc="0">
          <a:solidFill>
            <a:schemeClr val="tx1"/>
          </a:solidFill>
          <a:latin typeface="Calibri Light"/>
          <a:ea typeface="Calibri Light"/>
          <a:cs typeface="Calibri Light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9pPr>
    </p:titleStyle>
    <p:bodyStyle>
      <a:lvl1pPr marL="228600" marR="0" indent="-228600" algn="l" defTabSz="91440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Char char="•"/>
        <a:defRPr sz="2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1pPr>
      <a:lvl2pPr marL="6858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defRPr sz="24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2pPr>
      <a:lvl3pPr marL="11430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defRPr sz="20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3pPr>
      <a:lvl4pPr marL="16002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4pPr>
      <a:lvl5pPr marL="20574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5pPr>
      <a:lvl6pPr marL="25146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6pPr>
      <a:lvl7pPr marL="29718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7pPr>
      <a:lvl8pPr marL="34290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8pPr>
      <a:lvl9pPr marL="3886200" marR="0" indent="-228600" algn="l" defTabSz="914400">
        <a:lnSpc>
          <a:spcPct val="90000"/>
        </a:lnSpc>
        <a:spcBef>
          <a:spcPts val="500"/>
        </a:spcBef>
        <a:spcAft>
          <a:spcPts val="0"/>
        </a:spcAft>
        <a:buClrTx/>
        <a:buSzTx/>
        <a:buFont typeface="Arial"/>
        <a:buChar char="•"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9pPr>
    </p:bodyStyle>
    <p:otherStyle>
      <a:lvl1pPr marL="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1pPr>
      <a:lvl2pPr marL="457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2pPr>
      <a:lvl3pPr marL="914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3pPr>
      <a:lvl4pPr marL="1371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4pPr>
      <a:lvl5pPr marL="18288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5pPr>
      <a:lvl6pPr marL="22860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6pPr>
      <a:lvl7pPr marL="27432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7pPr>
      <a:lvl8pPr marL="32004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8pPr>
      <a:lvl9pPr marL="3657600" marR="0" indent="0" algn="l" defTabSz="914400">
        <a:lnSpc>
          <a:spcPct val="100000"/>
        </a:lnSpc>
        <a:spcBef>
          <a:spcPts val="0"/>
        </a:spcBef>
        <a:spcAft>
          <a:spcPts val="0"/>
        </a:spcAft>
        <a:buNone/>
        <a:defRPr sz="1800" b="0" i="0" u="none" strike="noStrike" cap="none" spc="0">
          <a:solidFill>
            <a:schemeClr val="tx1"/>
          </a:solidFill>
          <a:latin typeface="Calibri"/>
          <a:ea typeface="Calibri"/>
          <a:cs typeface="Calibri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jpg"/><Relationship Id="rId4" Type="http://schemas.openxmlformats.org/officeDocument/2006/relationships/image" Target="../media/image10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jpg"/><Relationship Id="rId4" Type="http://schemas.openxmlformats.org/officeDocument/2006/relationships/image" Target="../media/image12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jp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jpg"/><Relationship Id="rId4" Type="http://schemas.openxmlformats.org/officeDocument/2006/relationships/image" Target="../media/image16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jp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jp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9.jpg"/><Relationship Id="rId4" Type="http://schemas.openxmlformats.org/officeDocument/2006/relationships/hyperlink" Target="https://www.theguardian.com/lifeandstyle/2014/nov/11/how-to-boil-an-egg-the-heston-blumenthal-way" TargetMode="External"/><Relationship Id="rId5" Type="http://schemas.openxmlformats.org/officeDocument/2006/relationships/image" Target="../media/image20.jpg"/><Relationship Id="rId6" Type="http://schemas.openxmlformats.org/officeDocument/2006/relationships/image" Target="../media/image21.jpg"/><Relationship Id="rId7" Type="http://schemas.openxmlformats.org/officeDocument/2006/relationships/image" Target="../media/image22.jpg"/><Relationship Id="rId8" Type="http://schemas.openxmlformats.org/officeDocument/2006/relationships/image" Target="../media/image23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4.jp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5.jpg"/><Relationship Id="rId4" Type="http://schemas.openxmlformats.org/officeDocument/2006/relationships/image" Target="../media/image26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7.jp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301067" name="Title 3"/>
          <p:cNvSpPr>
            <a:spLocks noChangeArrowheads="1" noGrp="1"/>
          </p:cNvSpPr>
          <p:nvPr>
            <p:ph type="ctrTitle"/>
          </p:nvPr>
        </p:nvSpPr>
        <p:spPr bwMode="auto">
          <a:xfrm>
            <a:off x="0" y="2364740"/>
            <a:ext cx="12192000" cy="10337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 algn="ctr">
              <a:defRPr/>
            </a:pPr>
            <a:r>
              <a:rPr sz="3600" cap="none">
                <a:latin typeface="Helvetica"/>
                <a:ea typeface="Verdana"/>
                <a:cs typeface="Helvetica"/>
              </a:rPr>
              <a:t>EX3030/EM4012 Heat, Mass and Momentum Transfer</a:t>
            </a:r>
            <a:br>
              <a:rPr/>
            </a:br>
            <a:r>
              <a:rPr sz="3200" cap="none">
                <a:solidFill>
                  <a:srgbClr val="7F7F7F"/>
                </a:solidFill>
                <a:latin typeface="Helvetica"/>
                <a:ea typeface="Batang"/>
                <a:cs typeface="Helvetica"/>
              </a:rPr>
              <a:t>Transient Heat Transfer 1</a:t>
            </a:r>
            <a:endParaRPr sz="3600" cap="none">
              <a:latin typeface="Helvetica"/>
              <a:ea typeface="Verdana"/>
              <a:cs typeface="Helvetica"/>
            </a:endParaRPr>
          </a:p>
        </p:txBody>
      </p:sp>
      <p:sp>
        <p:nvSpPr>
          <p:cNvPr id="1831541865" name="Slide Number Placeholder 17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8999855" y="6356350"/>
            <a:ext cx="2743200" cy="365125"/>
          </a:xfrm>
          <a:prstGeom prst="rect">
            <a:avLst/>
          </a:prstGeom>
          <a:ln>
            <a:noFill/>
          </a:ln>
        </p:spPr>
        <p:txBody>
          <a:bodyPr/>
          <a:lstStyle/>
          <a:p>
            <a:pPr marL="0" marR="0" indent="0" algn="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fld id="{122DFAC3-8DFF-780C-B195-7B59B4DB472E}" type="slidenum"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1</a:t>
            </a:fld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sp>
        <p:nvSpPr>
          <p:cNvPr id="1678977597" name="TextBox 36"/>
          <p:cNvSpPr/>
          <p:nvPr/>
        </p:nvSpPr>
        <p:spPr bwMode="auto">
          <a:xfrm>
            <a:off x="3084829" y="4618990"/>
            <a:ext cx="6096000" cy="70104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marL="0" marR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sz="2000" cap="none">
                <a:solidFill>
                  <a:srgbClr val="7F7F7F"/>
                </a:solidFill>
                <a:latin typeface="Helvetica"/>
                <a:ea typeface="Batang"/>
                <a:cs typeface="Helvetica"/>
              </a:rPr>
              <a:t>Originally by Dr Mark Stewart</a:t>
            </a:r>
            <a:endParaRPr sz="2000" cap="none">
              <a:solidFill>
                <a:srgbClr val="7F7F7F"/>
              </a:solidFill>
              <a:latin typeface="Helvetica"/>
              <a:ea typeface="Batang"/>
              <a:cs typeface="Helvetica"/>
            </a:endParaRPr>
          </a:p>
          <a:p>
            <a:pPr marL="0" marR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cap="none">
                <a:solidFill>
                  <a:srgbClr val="7F7F7F"/>
                </a:solidFill>
                <a:latin typeface="Helvetica"/>
                <a:ea typeface="Batang"/>
                <a:cs typeface="Helvetica"/>
              </a:defRPr>
            </a:pPr>
            <a:r>
              <a:rPr/>
              <a:t>Presented by Dr M. Bannerman</a:t>
            </a:r>
            <a:endParaRPr/>
          </a:p>
        </p:txBody>
      </p:sp>
      <p:pic>
        <p:nvPicPr>
          <p:cNvPr id="42236861" name="Picture 21" descr="A picture containing text, clipart&#10;&#10;Description automatically generated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690110" y="387350"/>
            <a:ext cx="2811780" cy="77152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 advTm="23444">
        <p:fade thruBlk="0"/>
      </p:transition>
    </mc:Choice>
    <mc:Fallback>
      <p:transition spd="slow" advClick="1" advTm="23444">
        <p:fade thruBlk="0"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941935" name="Title 3"/>
          <p:cNvSpPr>
            <a:spLocks noChangeArrowheads="1" noGrp="1"/>
          </p:cNvSpPr>
          <p:nvPr>
            <p:ph type="ctrTitle"/>
          </p:nvPr>
        </p:nvSpPr>
        <p:spPr bwMode="auto">
          <a:xfrm>
            <a:off x="0" y="360045"/>
            <a:ext cx="12192000" cy="7080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sz="4000" cap="none">
                <a:latin typeface="Helvetica"/>
                <a:ea typeface="Verdana"/>
                <a:cs typeface="Helvetica"/>
              </a:rPr>
              <a:t>Weekly Tests</a:t>
            </a:r>
            <a:endParaRPr sz="4000" cap="none">
              <a:latin typeface="Helvetica"/>
              <a:ea typeface="Verdana"/>
              <a:cs typeface="Helvetica"/>
            </a:endParaRPr>
          </a:p>
        </p:txBody>
      </p:sp>
      <p:sp>
        <p:nvSpPr>
          <p:cNvPr id="1974016952" name="Slide Number Placeholder 17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8999855" y="6356350"/>
            <a:ext cx="2743200" cy="365125"/>
          </a:xfrm>
        </p:spPr>
        <p:txBody>
          <a:bodyPr/>
          <a:lstStyle/>
          <a:p>
            <a:pPr>
              <a:defRPr/>
            </a:pPr>
            <a:fld id="{766EB2F6-B89B-3B44-D5D6-4E11FC98231B}" type="slidenum"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3</a:t>
            </a:fld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sp>
        <p:nvSpPr>
          <p:cNvPr id="1353365138" name="Slide Number Placeholder 17"/>
          <p:cNvSpPr/>
          <p:nvPr/>
        </p:nvSpPr>
        <p:spPr bwMode="auto">
          <a:xfrm>
            <a:off x="448945" y="6356350"/>
            <a:ext cx="4434840" cy="3651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ctr"/>
          <a:lstStyle>
            <a:lvl1pPr marL="0" algn="r" defTabSz="457200">
              <a:defRPr sz="1200" cap="none">
                <a:solidFill>
                  <a:srgbClr val="8C8C8C"/>
                </a:solidFill>
                <a:latin typeface="Calibri"/>
                <a:ea typeface="Calibri"/>
                <a:cs typeface="Calibri"/>
              </a:defRPr>
            </a:lvl1pPr>
            <a:lvl2pPr marL="457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2pPr>
            <a:lvl3pPr marL="914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3pPr>
            <a:lvl4pPr marL="1371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4pPr>
            <a:lvl5pPr marL="18288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5pPr>
            <a:lvl6pPr marL="22860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6pPr>
            <a:lvl7pPr marL="2743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7pPr>
            <a:lvl8pPr marL="3200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8pPr>
            <a:lvl9pPr marL="3657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/>
            </a:pPr>
            <a:r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EX3030/EM40JN</a:t>
            </a:r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1051339399" name="Picture 8" descr="A picture containing text, clipart&#10;&#10;Description automatically generated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48945" y="360045"/>
            <a:ext cx="1967865" cy="5397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11800533" name="TextBox 7"/>
          <p:cNvSpPr/>
          <p:nvPr/>
        </p:nvSpPr>
        <p:spPr bwMode="auto">
          <a:xfrm>
            <a:off x="1056005" y="2536190"/>
            <a:ext cx="10079990" cy="2616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spcBef>
                <a:spcPts val="600"/>
              </a:spcBef>
              <a:spcAft>
                <a:spcPts val="600"/>
              </a:spcAft>
              <a:defRPr/>
            </a:pPr>
            <a:r>
              <a:rPr sz="2400" b="1" cap="none">
                <a:latin typeface="Helvetica"/>
                <a:ea typeface="Calibri"/>
                <a:cs typeface="Calibri"/>
              </a:rPr>
              <a:t>Week 7 Test Details:</a:t>
            </a:r>
            <a:endParaRPr sz="2400" b="1" cap="none">
              <a:latin typeface="Helvetica"/>
              <a:ea typeface="Calibri"/>
              <a:cs typeface="Calibri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defRPr/>
            </a:pPr>
            <a:r>
              <a:rPr sz="2000" cap="none">
                <a:latin typeface="Helvetica"/>
                <a:ea typeface="Calibri"/>
                <a:cs typeface="Calibri"/>
              </a:rPr>
              <a:t>“This test is on Transient Heat Transfer which we have covered during week 7 of the course. There will be a total of 7 multiple choice questions . Four of the questions will be descriptive based (worth 10 points each) and 3 will involve some calculations (worth 20 points each). Topics include general transient heat transfer, the lumped capacitance method, analytical methods and numerical methods.</a:t>
            </a:r>
            <a:endParaRPr sz="2000" cap="none">
              <a:latin typeface="Helvetica"/>
              <a:ea typeface="Calibri"/>
              <a:cs typeface="Calibri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defRPr/>
            </a:pPr>
            <a:r>
              <a:rPr sz="2000" cap="none">
                <a:latin typeface="Helvetica"/>
                <a:ea typeface="Calibri"/>
                <a:cs typeface="Calibri"/>
              </a:rPr>
              <a:t>Note: This test will auto-submit at the end of the exam time.”</a:t>
            </a:r>
            <a:endParaRPr sz="2400" cap="none">
              <a:latin typeface="Helvetica"/>
              <a:ea typeface="Calibri"/>
              <a:cs typeface="Calibri"/>
            </a:endParaRPr>
          </a:p>
        </p:txBody>
      </p:sp>
      <p:sp>
        <p:nvSpPr>
          <p:cNvPr id="971750856" name="TextBox 1"/>
          <p:cNvSpPr/>
          <p:nvPr/>
        </p:nvSpPr>
        <p:spPr bwMode="auto">
          <a:xfrm>
            <a:off x="1056005" y="1548130"/>
            <a:ext cx="10079990" cy="46164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spcAft>
                <a:spcPts val="600"/>
              </a:spcAft>
              <a:defRPr/>
            </a:pPr>
            <a:r>
              <a:rPr sz="2400" b="1" cap="none">
                <a:solidFill>
                  <a:srgbClr val="FF9900"/>
                </a:solidFill>
                <a:latin typeface="Helvetica"/>
                <a:ea typeface="Calibri"/>
                <a:cs typeface="Calibri"/>
              </a:rPr>
              <a:t>The weekly tests continu</a:t>
            </a:r>
            <a:r>
              <a:rPr lang="en" sz="2400" b="1" cap="none">
                <a:solidFill>
                  <a:srgbClr val="FF9900"/>
                </a:solidFill>
                <a:latin typeface="Helvetica"/>
                <a:ea typeface="Calibri"/>
                <a:cs typeface="Calibri"/>
              </a:rPr>
              <a:t>e with a slight change in format.</a:t>
            </a:r>
            <a:endParaRPr sz="2400" b="1" cap="none">
              <a:solidFill>
                <a:srgbClr val="FF9900"/>
              </a:solidFill>
              <a:latin typeface="Helvetica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940349" name="Title 3"/>
          <p:cNvSpPr>
            <a:spLocks noChangeArrowheads="1" noGrp="1"/>
          </p:cNvSpPr>
          <p:nvPr>
            <p:ph type="ctrTitle"/>
          </p:nvPr>
        </p:nvSpPr>
        <p:spPr bwMode="auto">
          <a:xfrm>
            <a:off x="0" y="360045"/>
            <a:ext cx="12192000" cy="7080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sz="4000" cap="none">
                <a:latin typeface="Helvetica"/>
                <a:ea typeface="Verdana"/>
                <a:cs typeface="Helvetica"/>
              </a:rPr>
              <a:t>Transient Heat Transfer</a:t>
            </a:r>
            <a:endParaRPr sz="4000" cap="none">
              <a:latin typeface="Helvetica"/>
              <a:ea typeface="Verdana"/>
              <a:cs typeface="Helvetica"/>
            </a:endParaRPr>
          </a:p>
        </p:txBody>
      </p:sp>
      <p:sp>
        <p:nvSpPr>
          <p:cNvPr id="351188638" name="Slide Number Placeholder 17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8999855" y="6356350"/>
            <a:ext cx="2743200" cy="365125"/>
          </a:xfrm>
        </p:spPr>
        <p:txBody>
          <a:bodyPr/>
          <a:lstStyle/>
          <a:p>
            <a:pPr>
              <a:defRPr/>
            </a:pPr>
            <a:fld id="{41EC1C70-3EAC-B9EA-E254-C8BF521A149D}" type="slidenum"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4</a:t>
            </a:fld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1795511885" name="Picture 8" descr="A picture containing text, clipart&#10;&#10;Description automatically generated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48945" y="360045"/>
            <a:ext cx="1967865" cy="5397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774061191" name="TextBox 1"/>
          <p:cNvSpPr/>
          <p:nvPr/>
        </p:nvSpPr>
        <p:spPr bwMode="auto">
          <a:xfrm>
            <a:off x="1433194" y="1929129"/>
            <a:ext cx="6324600" cy="400113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marL="2857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lang="en-GB">
                <a:latin typeface="Helvetica"/>
              </a:rPr>
              <a:t>So far, we have only considered steady state problems i.e., when there is no dependency on time and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b="0" i="1">
                          <a:latin typeface="Cambria Math"/>
                        </a:rPr>
                        <m:t>𝑑</m:t>
                      </m:r>
                      <m:r>
                        <m:rPr/>
                        <a:rPr lang="en-GB" b="0" i="0">
                          <a:latin typeface="Cambria Math"/>
                        </a:rPr>
                        <m:t>/</m:t>
                      </m:r>
                      <m:r>
                        <m:rPr/>
                        <a:rPr lang="en-GB" b="0" i="1">
                          <a:latin typeface="Cambria Math"/>
                        </a:rPr>
                        <m:t>𝑑𝑡</m:t>
                      </m:r>
                      <m:r>
                        <m:rPr/>
                        <a:rPr lang="en-GB" b="0" i="1">
                          <a:latin typeface="Cambria Math"/>
                        </a:rPr>
                        <m:t>=0</m:t>
                      </m:r>
                    </m:oMath>
                  </m:oMathPara>
                </a14:m>
              </mc:Choice>
              <mc:Fallback/>
            </mc:AlternateContent>
            <a:endParaRPr lang="en-GB">
              <a:latin typeface="Helvetica"/>
            </a:endParaRPr>
          </a:p>
          <a:p>
            <a:pPr marL="2857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lang="en-GB">
                <a:latin typeface="Helvetica"/>
              </a:rPr>
              <a:t>However, many situations in practice will involve transient (or unsteady) effects, where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b="0" i="1">
                          <a:latin typeface="Cambria Math"/>
                        </a:rPr>
                        <m:t>𝑑</m:t>
                      </m:r>
                      <m:r>
                        <m:rPr/>
                        <a:rPr lang="en-GB" b="0" i="1">
                          <a:latin typeface="Cambria Math"/>
                        </a:rPr>
                        <m:t>/</m:t>
                      </m:r>
                      <m:r>
                        <m:rPr/>
                        <a:rPr lang="en-GB" b="0" i="1">
                          <a:latin typeface="Cambria Math"/>
                        </a:rPr>
                        <m:t>𝑑𝑡</m:t>
                      </m:r>
                      <m:r>
                        <m:rPr/>
                        <a:rPr lang="en-GB" b="0" i="1">
                          <a:latin typeface="Cambria Math"/>
                          <a:ea typeface="Cambria Math"/>
                        </a:rPr>
                        <m:t>≠0</m:t>
                      </m:r>
                    </m:oMath>
                  </m:oMathPara>
                </a14:m>
              </mc:Choice>
              <mc:Fallback/>
            </mc:AlternateContent>
            <a:r>
              <a:rPr lang="en-GB">
                <a:latin typeface="Helvetica"/>
              </a:rPr>
              <a:t> </a:t>
            </a:r>
            <a:endParaRPr/>
          </a:p>
          <a:p>
            <a:pPr marL="2857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lang="en-GB">
                <a:latin typeface="Helvetica"/>
              </a:rPr>
              <a:t>For example, any heating or cooling process involving solids or liquids</a:t>
            </a:r>
            <a:endParaRPr/>
          </a:p>
          <a:p>
            <a:pPr marL="2857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lang="en-GB">
                <a:latin typeface="Helvetica"/>
              </a:rPr>
              <a:t>Typically, these types of problems are more complicated to solve than their steady-state counterpart</a:t>
            </a:r>
            <a:endParaRPr/>
          </a:p>
          <a:p>
            <a:pPr marL="285750" indent="-285750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lang="en-GB">
                <a:latin typeface="Helvetica"/>
              </a:rPr>
              <a:t>This week we will learn more about methods we can use to solve problems in transient heat transfer</a:t>
            </a:r>
            <a:endParaRPr lang="en-US">
              <a:latin typeface="Helvetica"/>
            </a:endParaRPr>
          </a:p>
        </p:txBody>
      </p:sp>
      <p:sp>
        <p:nvSpPr>
          <p:cNvPr id="311519297" name="TextBox 2"/>
          <p:cNvSpPr/>
          <p:nvPr/>
        </p:nvSpPr>
        <p:spPr bwMode="auto">
          <a:xfrm>
            <a:off x="1056005" y="1298574"/>
            <a:ext cx="10079990" cy="4000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spcAft>
                <a:spcPts val="600"/>
              </a:spcAft>
              <a:defRPr/>
            </a:pPr>
            <a:r>
              <a:rPr sz="2000" b="1" cap="none">
                <a:solidFill>
                  <a:srgbClr val="FF9900"/>
                </a:solidFill>
                <a:latin typeface="Helvetica"/>
                <a:ea typeface="Calibri"/>
                <a:cs typeface="Calibri"/>
              </a:rPr>
              <a:t>Introduction</a:t>
            </a:r>
            <a:endParaRPr sz="2000" b="1" cap="none">
              <a:solidFill>
                <a:srgbClr val="FF9900"/>
              </a:solidFill>
              <a:latin typeface="Helvetica"/>
              <a:ea typeface="Calibri"/>
              <a:cs typeface="Calibri"/>
            </a:endParaRPr>
          </a:p>
        </p:txBody>
      </p:sp>
      <p:sp>
        <p:nvSpPr>
          <p:cNvPr id="1826811032" name="Slide Number Placeholder 17"/>
          <p:cNvSpPr/>
          <p:nvPr/>
        </p:nvSpPr>
        <p:spPr bwMode="auto">
          <a:xfrm>
            <a:off x="448945" y="6356350"/>
            <a:ext cx="4434840" cy="3651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ctr"/>
          <a:lstStyle>
            <a:lvl1pPr marL="0" algn="r" defTabSz="457200">
              <a:defRPr sz="1200" cap="none">
                <a:solidFill>
                  <a:srgbClr val="8C8C8C"/>
                </a:solidFill>
                <a:latin typeface="Calibri"/>
                <a:ea typeface="Calibri"/>
                <a:cs typeface="Calibri"/>
              </a:defRPr>
            </a:lvl1pPr>
            <a:lvl2pPr marL="457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2pPr>
            <a:lvl3pPr marL="914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3pPr>
            <a:lvl4pPr marL="1371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4pPr>
            <a:lvl5pPr marL="18288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5pPr>
            <a:lvl6pPr marL="22860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6pPr>
            <a:lvl7pPr marL="2743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7pPr>
            <a:lvl8pPr marL="3200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8pPr>
            <a:lvl9pPr marL="3657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/>
            </a:pPr>
            <a:r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EX3030/EM40JN</a:t>
            </a:r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1056227015" name="Picture 2" descr="The Absolute Best Way To Boil Eggs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7998460" y="4202430"/>
            <a:ext cx="2988310" cy="1657985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2049933912" name="Picture 6" descr="A picture containing dark, light"/>
          <p:cNvPicPr>
            <a:picLocks noChangeAspect="1"/>
          </p:cNvPicPr>
          <p:nvPr/>
        </p:nvPicPr>
        <p:blipFill>
          <a:blip r:embed="rId5"/>
          <a:srcRect l="9760" t="18930" r="13010" b="14710"/>
          <a:stretch/>
        </p:blipFill>
        <p:spPr bwMode="auto">
          <a:xfrm>
            <a:off x="7998460" y="2022475"/>
            <a:ext cx="2988310" cy="1925955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5668549" name="Title 3"/>
          <p:cNvSpPr>
            <a:spLocks noChangeArrowheads="1" noGrp="1"/>
          </p:cNvSpPr>
          <p:nvPr>
            <p:ph type="ctrTitle"/>
          </p:nvPr>
        </p:nvSpPr>
        <p:spPr bwMode="auto">
          <a:xfrm>
            <a:off x="0" y="360045"/>
            <a:ext cx="12192000" cy="7080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sz="4000" cap="none">
                <a:latin typeface="Helvetica"/>
                <a:ea typeface="Verdana"/>
                <a:cs typeface="Helvetica"/>
              </a:rPr>
              <a:t>Transient Heat Transfer</a:t>
            </a:r>
            <a:endParaRPr sz="4000" cap="none">
              <a:latin typeface="Helvetica"/>
              <a:ea typeface="Verdana"/>
              <a:cs typeface="Helvetica"/>
            </a:endParaRPr>
          </a:p>
        </p:txBody>
      </p:sp>
      <p:sp>
        <p:nvSpPr>
          <p:cNvPr id="238537209" name="Slide Number Placeholder 17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8999855" y="6356350"/>
            <a:ext cx="2743200" cy="365125"/>
          </a:xfrm>
        </p:spPr>
        <p:txBody>
          <a:bodyPr/>
          <a:lstStyle/>
          <a:p>
            <a:pPr>
              <a:defRPr/>
            </a:pPr>
            <a:fld id="{698163F8-B684-D495-CA39-40C02D773C15}" type="slidenum"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5</a:t>
            </a:fld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1491203998" name="Picture 8" descr="A picture containing text, clipart&#10;&#10;Description automatically generated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48945" y="360045"/>
            <a:ext cx="1967865" cy="5397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35705723" name="TextBox 2"/>
          <p:cNvSpPr/>
          <p:nvPr/>
        </p:nvSpPr>
        <p:spPr bwMode="auto">
          <a:xfrm>
            <a:off x="1056005" y="1298574"/>
            <a:ext cx="10079990" cy="4000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spcAft>
                <a:spcPts val="600"/>
              </a:spcAft>
              <a:defRPr/>
            </a:pPr>
            <a:r>
              <a:rPr sz="2000" b="1" cap="none">
                <a:solidFill>
                  <a:srgbClr val="FF9900"/>
                </a:solidFill>
                <a:latin typeface="Helvetica"/>
                <a:ea typeface="Calibri"/>
                <a:cs typeface="Calibri"/>
              </a:rPr>
              <a:t>Methods of Analysis</a:t>
            </a:r>
            <a:endParaRPr sz="2000" b="1" cap="none">
              <a:solidFill>
                <a:srgbClr val="FF9900"/>
              </a:solidFill>
              <a:latin typeface="Helvetica"/>
              <a:ea typeface="Calibri"/>
              <a:cs typeface="Calibri"/>
            </a:endParaRPr>
          </a:p>
        </p:txBody>
      </p:sp>
      <p:sp>
        <p:nvSpPr>
          <p:cNvPr id="1150265729" name="Slide Number Placeholder 17"/>
          <p:cNvSpPr/>
          <p:nvPr/>
        </p:nvSpPr>
        <p:spPr bwMode="auto">
          <a:xfrm>
            <a:off x="448945" y="6356350"/>
            <a:ext cx="4434840" cy="3651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ctr"/>
          <a:lstStyle>
            <a:lvl1pPr marL="0" algn="r" defTabSz="457200">
              <a:defRPr sz="1200" cap="none">
                <a:solidFill>
                  <a:srgbClr val="8C8C8C"/>
                </a:solidFill>
                <a:latin typeface="Calibri"/>
                <a:ea typeface="Calibri"/>
                <a:cs typeface="Calibri"/>
              </a:defRPr>
            </a:lvl1pPr>
            <a:lvl2pPr marL="457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2pPr>
            <a:lvl3pPr marL="914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3pPr>
            <a:lvl4pPr marL="1371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4pPr>
            <a:lvl5pPr marL="18288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5pPr>
            <a:lvl6pPr marL="22860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6pPr>
            <a:lvl7pPr marL="2743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7pPr>
            <a:lvl8pPr marL="3200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8pPr>
            <a:lvl9pPr marL="3657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/>
            </a:pPr>
            <a:r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EX3030/EM40JN</a:t>
            </a:r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sp>
        <p:nvSpPr>
          <p:cNvPr id="444509710" name="TextBox 4"/>
          <p:cNvSpPr/>
          <p:nvPr/>
        </p:nvSpPr>
        <p:spPr bwMode="auto">
          <a:xfrm>
            <a:off x="1056005" y="1938655"/>
            <a:ext cx="10079990" cy="285623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marL="342900" indent="-34290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defRPr/>
            </a:pPr>
            <a:r>
              <a:rPr lang="en-GB" b="1">
                <a:latin typeface="Helvetica"/>
              </a:rPr>
              <a:t>Lumped System Analysis (or Lumped Capacitance Method)</a:t>
            </a:r>
            <a:endParaRPr/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lang="en-GB" b="0">
                <a:latin typeface="Helvetica"/>
                <a:cs typeface="Helvetica"/>
              </a:rPr>
              <a:t>Temperature is a function of tim</a:t>
            </a:r>
            <a:r>
              <a:rPr lang="en-GB">
                <a:latin typeface="Helvetica"/>
                <a:cs typeface="Helvetica"/>
              </a:rPr>
              <a:t>e onl</a:t>
            </a:r>
            <a:r>
              <a:rPr lang="en-GB"/>
              <a:t>y</a:t>
            </a:r>
            <a:r>
              <a:rPr lang="en-GB" b="0"/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b="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GB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GB" b="0" i="1">
                              <a:latin typeface="Cambria Math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en-GB">
              <a:latin typeface="Helvetica"/>
            </a:endParaRPr>
          </a:p>
          <a:p>
            <a:pPr marL="342900" indent="-34290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 startAt="2"/>
              <a:defRPr/>
            </a:pPr>
            <a:r>
              <a:rPr lang="en-GB" b="1">
                <a:latin typeface="Helvetica"/>
              </a:rPr>
              <a:t>Analytical Methods</a:t>
            </a:r>
            <a:endParaRPr/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lang="en-GB">
                <a:latin typeface="Helvetica"/>
                <a:cs typeface="Helvetica"/>
              </a:rPr>
              <a:t>Temperature is a function of time and one space coordinate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b="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GB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GB" b="0" i="1">
                              <a:latin typeface="Cambria Math"/>
                            </a:rPr>
                            <m:t>𝑥</m:t>
                          </m:r>
                          <m:r>
                            <m:rPr/>
                            <a:rPr lang="en-GB" b="0" i="1">
                              <a:latin typeface="Cambria Math"/>
                            </a:rPr>
                            <m:t>,</m:t>
                          </m:r>
                          <m:r>
                            <m:rPr/>
                            <a:rPr lang="en-GB" b="0" i="1">
                              <a:latin typeface="Cambria Math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en-GB">
              <a:latin typeface="Helvetica"/>
            </a:endParaRPr>
          </a:p>
          <a:p>
            <a:pPr marL="342900" indent="-34290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 startAt="3"/>
              <a:defRPr/>
            </a:pPr>
            <a:r>
              <a:rPr lang="en-GB" b="1">
                <a:latin typeface="Helvetica"/>
              </a:rPr>
              <a:t>Numerical Methods</a:t>
            </a:r>
            <a:endParaRPr/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lang="en-GB">
                <a:latin typeface="Helvetica"/>
                <a:cs typeface="Helvetica"/>
              </a:rPr>
              <a:t>Temperature is a function of time and all three space coordinates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b="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GB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GB" b="0" i="1">
                              <a:latin typeface="Cambria Math"/>
                            </a:rPr>
                            <m:t>𝑥</m:t>
                          </m:r>
                          <m:r>
                            <m:rPr/>
                            <a:rPr lang="en-GB" b="0" i="1">
                              <a:latin typeface="Cambria Math"/>
                            </a:rPr>
                            <m:t>,</m:t>
                          </m:r>
                          <m:r>
                            <m:rPr/>
                            <a:rPr lang="en-GB" b="0" i="1">
                              <a:latin typeface="Cambria Math"/>
                            </a:rPr>
                            <m:t>𝑦</m:t>
                          </m:r>
                          <m:r>
                            <m:rPr/>
                            <a:rPr lang="en-GB" b="0" i="1">
                              <a:latin typeface="Cambria Math"/>
                            </a:rPr>
                            <m:t>,</m:t>
                          </m:r>
                          <m:r>
                            <m:rPr/>
                            <a:rPr lang="en-GB" b="0" i="1">
                              <a:latin typeface="Cambria Math"/>
                            </a:rPr>
                            <m:t>𝑧</m:t>
                          </m:r>
                          <m:r>
                            <m:rPr/>
                            <a:rPr lang="en-GB" b="0" i="1">
                              <a:latin typeface="Cambria Math"/>
                            </a:rPr>
                            <m:t>,</m:t>
                          </m:r>
                          <m:r>
                            <m:rPr/>
                            <a:rPr lang="en-GB" b="0" i="1">
                              <a:latin typeface="Cambria Math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>
              <a:latin typeface="Helvetica"/>
            </a:endParaRPr>
          </a:p>
        </p:txBody>
      </p:sp>
      <p:grpSp>
        <p:nvGrpSpPr>
          <p:cNvPr id="1401491703" name="Group 14"/>
          <p:cNvGrpSpPr/>
          <p:nvPr/>
        </p:nvGrpSpPr>
        <p:grpSpPr bwMode="auto">
          <a:xfrm>
            <a:off x="326390" y="2743200"/>
            <a:ext cx="2212975" cy="2834005"/>
            <a:chOff x="326390" y="2743200"/>
            <a:chExt cx="2212975" cy="2834005"/>
          </a:xfrm>
        </p:grpSpPr>
        <p:sp>
          <p:nvSpPr>
            <p:cNvPr id="10" name="Arrow: Down 7"/>
            <p:cNvSpPr/>
            <p:nvPr/>
          </p:nvSpPr>
          <p:spPr bwMode="auto">
            <a:xfrm>
              <a:off x="1239520" y="2743200"/>
              <a:ext cx="386715" cy="2021205"/>
            </a:xfrm>
            <a:prstGeom prst="downArrow">
              <a:avLst>
                <a:gd name="adj1" fmla="val 25610"/>
                <a:gd name="adj2" fmla="val 86532"/>
              </a:avLst>
            </a:prstGeom>
            <a:noFill/>
            <a:ln w="28575" cap="flat" cmpd="sng" algn="ctr">
              <a:solidFill>
                <a:srgbClr val="FF9900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lIns="91440" tIns="45720" rIns="91440" bIns="45720" numCol="1" spcCol="215899" anchor="ctr"/>
            <a:lstStyle/>
            <a:p>
              <a:pPr algn="ctr">
                <a:defRPr cap="none">
                  <a:solidFill>
                    <a:srgbClr val="FFFFFF"/>
                  </a:solidFill>
                  <a:latin typeface="Calibri"/>
                  <a:ea typeface="Calibri"/>
                  <a:cs typeface="Calibri"/>
                </a:defRPr>
              </a:pPr>
              <a:endParaRPr cap="none"/>
            </a:p>
          </p:txBody>
        </p:sp>
        <p:sp>
          <p:nvSpPr>
            <p:cNvPr id="9" name="TextBox 10"/>
            <p:cNvSpPr/>
            <p:nvPr/>
          </p:nvSpPr>
          <p:spPr bwMode="auto">
            <a:xfrm>
              <a:off x="326390" y="4850764"/>
              <a:ext cx="2212975" cy="72644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91440" tIns="45720" rIns="91440" bIns="45720" numCol="1" spcCol="215899" anchor="t"/>
            <a:lstStyle/>
            <a:p>
              <a:pPr algn="ctr">
                <a:lnSpc>
                  <a:spcPct val="120000"/>
                </a:lnSpc>
                <a:spcBef>
                  <a:spcPts val="600"/>
                </a:spcBef>
                <a:spcAft>
                  <a:spcPts val="600"/>
                </a:spcAft>
                <a:defRPr/>
              </a:pPr>
              <a:r>
                <a:rPr b="1" cap="none">
                  <a:solidFill>
                    <a:srgbClr val="FF9900"/>
                  </a:solidFill>
                  <a:latin typeface="Helvetica"/>
                  <a:ea typeface="Calibri"/>
                  <a:cs typeface="Calibri"/>
                </a:rPr>
                <a:t>Increasing complexity</a:t>
              </a:r>
              <a:endParaRPr b="1" cap="none">
                <a:solidFill>
                  <a:srgbClr val="FF9900"/>
                </a:solidFill>
                <a:latin typeface="Helvetica"/>
                <a:ea typeface="Calibri"/>
                <a:cs typeface="Calibri"/>
              </a:endParaRPr>
            </a:p>
          </p:txBody>
        </p:sp>
      </p:grpSp>
      <p:grpSp>
        <p:nvGrpSpPr>
          <p:cNvPr id="1897556390" name="Group 15"/>
          <p:cNvGrpSpPr/>
          <p:nvPr/>
        </p:nvGrpSpPr>
        <p:grpSpPr bwMode="auto">
          <a:xfrm>
            <a:off x="9652635" y="2741295"/>
            <a:ext cx="2212975" cy="2834640"/>
            <a:chOff x="9652635" y="2741295"/>
            <a:chExt cx="2212975" cy="2834640"/>
          </a:xfrm>
        </p:grpSpPr>
        <p:sp>
          <p:nvSpPr>
            <p:cNvPr id="13" name="Arrow: Down 12"/>
            <p:cNvSpPr/>
            <p:nvPr/>
          </p:nvSpPr>
          <p:spPr bwMode="auto">
            <a:xfrm>
              <a:off x="10565765" y="2741295"/>
              <a:ext cx="386715" cy="2021840"/>
            </a:xfrm>
            <a:prstGeom prst="downArrow">
              <a:avLst>
                <a:gd name="adj1" fmla="val 25610"/>
                <a:gd name="adj2" fmla="val 86559"/>
              </a:avLst>
            </a:prstGeom>
            <a:noFill/>
            <a:ln w="28575" cap="flat" cmpd="sng" algn="ctr">
              <a:solidFill>
                <a:srgbClr val="FF9900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lIns="91440" tIns="45720" rIns="91440" bIns="45720" numCol="1" spcCol="215899" anchor="ctr"/>
            <a:lstStyle/>
            <a:p>
              <a:pPr algn="ctr">
                <a:defRPr cap="none">
                  <a:solidFill>
                    <a:srgbClr val="FFFFFF"/>
                  </a:solidFill>
                  <a:latin typeface="Calibri"/>
                  <a:ea typeface="Calibri"/>
                  <a:cs typeface="Calibri"/>
                </a:defRPr>
              </a:pPr>
              <a:endParaRPr cap="none"/>
            </a:p>
          </p:txBody>
        </p:sp>
        <p:sp>
          <p:nvSpPr>
            <p:cNvPr id="12" name="TextBox 13"/>
            <p:cNvSpPr/>
            <p:nvPr/>
          </p:nvSpPr>
          <p:spPr bwMode="auto">
            <a:xfrm>
              <a:off x="9652635" y="4849495"/>
              <a:ext cx="2212975" cy="72644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91440" tIns="45720" rIns="91440" bIns="45720" numCol="1" spcCol="215899" anchor="t"/>
            <a:lstStyle/>
            <a:p>
              <a:pPr algn="ctr">
                <a:lnSpc>
                  <a:spcPct val="120000"/>
                </a:lnSpc>
                <a:spcBef>
                  <a:spcPts val="600"/>
                </a:spcBef>
                <a:spcAft>
                  <a:spcPts val="600"/>
                </a:spcAft>
                <a:defRPr/>
              </a:pPr>
              <a:r>
                <a:rPr b="1" cap="none">
                  <a:solidFill>
                    <a:srgbClr val="FF9900"/>
                  </a:solidFill>
                  <a:latin typeface="Helvetica"/>
                  <a:ea typeface="Calibri"/>
                  <a:cs typeface="Calibri"/>
                </a:rPr>
                <a:t>Increasing generality</a:t>
              </a:r>
              <a:endParaRPr b="1" cap="none">
                <a:solidFill>
                  <a:srgbClr val="FF9900"/>
                </a:solidFill>
                <a:latin typeface="Helvetica"/>
                <a:ea typeface="Calibri"/>
                <a:cs typeface="Calibri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066140" name="Title 3"/>
          <p:cNvSpPr>
            <a:spLocks noChangeArrowheads="1" noGrp="1"/>
          </p:cNvSpPr>
          <p:nvPr>
            <p:ph type="ctrTitle"/>
          </p:nvPr>
        </p:nvSpPr>
        <p:spPr bwMode="auto">
          <a:xfrm>
            <a:off x="0" y="360045"/>
            <a:ext cx="12192000" cy="7080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sz="4000" cap="none">
                <a:latin typeface="Helvetica"/>
                <a:ea typeface="Verdana"/>
                <a:cs typeface="Helvetica"/>
              </a:rPr>
              <a:t>Transient Heat Transfer</a:t>
            </a:r>
            <a:endParaRPr sz="4000" cap="none">
              <a:latin typeface="Helvetica"/>
              <a:ea typeface="Verdana"/>
              <a:cs typeface="Helvetica"/>
            </a:endParaRPr>
          </a:p>
        </p:txBody>
      </p:sp>
      <p:sp>
        <p:nvSpPr>
          <p:cNvPr id="269592350" name="Slide Number Placeholder 17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8999855" y="6356350"/>
            <a:ext cx="2743200" cy="365125"/>
          </a:xfrm>
        </p:spPr>
        <p:txBody>
          <a:bodyPr/>
          <a:lstStyle/>
          <a:p>
            <a:pPr>
              <a:defRPr/>
            </a:pPr>
            <a:fld id="{38815380-CED5-D4A5-9B39-38F01D776D6D}" type="slidenum"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6</a:t>
            </a:fld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828747747" name="Picture 8" descr="A picture containing text, clipart&#10;&#10;Description automatically generated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48945" y="360045"/>
            <a:ext cx="1967865" cy="5397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15787759" name="TextBox 2"/>
          <p:cNvSpPr/>
          <p:nvPr/>
        </p:nvSpPr>
        <p:spPr bwMode="auto">
          <a:xfrm>
            <a:off x="1056005" y="1298574"/>
            <a:ext cx="10079990" cy="4000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spcAft>
                <a:spcPts val="600"/>
              </a:spcAft>
              <a:defRPr/>
            </a:pPr>
            <a:r>
              <a:rPr sz="2000" b="1" cap="none">
                <a:solidFill>
                  <a:srgbClr val="FF9900"/>
                </a:solidFill>
                <a:latin typeface="Helvetica"/>
                <a:ea typeface="Calibri"/>
                <a:cs typeface="Calibri"/>
              </a:rPr>
              <a:t>Methods of Analysis</a:t>
            </a:r>
            <a:endParaRPr sz="2000" b="1" cap="none">
              <a:solidFill>
                <a:srgbClr val="FF9900"/>
              </a:solidFill>
              <a:latin typeface="Helvetica"/>
              <a:ea typeface="Calibri"/>
              <a:cs typeface="Calibri"/>
            </a:endParaRPr>
          </a:p>
        </p:txBody>
      </p:sp>
      <p:sp>
        <p:nvSpPr>
          <p:cNvPr id="1357923307" name="Slide Number Placeholder 17"/>
          <p:cNvSpPr/>
          <p:nvPr/>
        </p:nvSpPr>
        <p:spPr bwMode="auto">
          <a:xfrm>
            <a:off x="448945" y="6356350"/>
            <a:ext cx="4434840" cy="3651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ctr"/>
          <a:lstStyle>
            <a:lvl1pPr marL="0" algn="r" defTabSz="457200">
              <a:defRPr sz="1200" cap="none">
                <a:solidFill>
                  <a:srgbClr val="8C8C8C"/>
                </a:solidFill>
                <a:latin typeface="Calibri"/>
                <a:ea typeface="Calibri"/>
                <a:cs typeface="Calibri"/>
              </a:defRPr>
            </a:lvl1pPr>
            <a:lvl2pPr marL="457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2pPr>
            <a:lvl3pPr marL="914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3pPr>
            <a:lvl4pPr marL="1371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4pPr>
            <a:lvl5pPr marL="18288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5pPr>
            <a:lvl6pPr marL="22860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6pPr>
            <a:lvl7pPr marL="2743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7pPr>
            <a:lvl8pPr marL="3200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8pPr>
            <a:lvl9pPr marL="3657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/>
            </a:pPr>
            <a:r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EX3030/EM40JN</a:t>
            </a:r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sp>
        <p:nvSpPr>
          <p:cNvPr id="193551303" name="TextBox 4"/>
          <p:cNvSpPr/>
          <p:nvPr/>
        </p:nvSpPr>
        <p:spPr bwMode="auto">
          <a:xfrm>
            <a:off x="1056005" y="1938655"/>
            <a:ext cx="10079990" cy="285623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marL="342900" indent="-34290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  <a:defRPr/>
            </a:pPr>
            <a:r>
              <a:rPr lang="en-GB" b="1">
                <a:latin typeface="Helvetica"/>
              </a:rPr>
              <a:t>Lumped System Analysis (or Lumped Capacitance Method)</a:t>
            </a:r>
            <a:endParaRPr/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lang="en-GB" b="0">
                <a:latin typeface="Helvetica"/>
                <a:cs typeface="Helvetica"/>
              </a:rPr>
              <a:t>Temperature is a function of tim</a:t>
            </a:r>
            <a:r>
              <a:rPr lang="en-GB">
                <a:latin typeface="Helvetica"/>
                <a:cs typeface="Helvetica"/>
              </a:rPr>
              <a:t>e onl</a:t>
            </a:r>
            <a:r>
              <a:rPr lang="en-GB"/>
              <a:t>y</a:t>
            </a:r>
            <a:r>
              <a:rPr lang="en-GB" b="0"/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b="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GB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GB" b="0" i="1">
                              <a:latin typeface="Cambria Math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en-GB">
              <a:latin typeface="Helvetica"/>
            </a:endParaRPr>
          </a:p>
          <a:p>
            <a:pPr marL="342900" indent="-34290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 startAt="2"/>
              <a:defRPr/>
            </a:pPr>
            <a:r>
              <a:rPr lang="en-GB" b="1">
                <a:solidFill>
                  <a:schemeClr val="bg2">
                    <a:lumMod val="90000"/>
                  </a:schemeClr>
                </a:solidFill>
                <a:latin typeface="Helvetica"/>
              </a:rPr>
              <a:t>Analytical Methods</a:t>
            </a:r>
            <a:endParaRPr/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lang="en-GB">
                <a:solidFill>
                  <a:schemeClr val="bg2">
                    <a:lumMod val="90000"/>
                  </a:schemeClr>
                </a:solidFill>
                <a:latin typeface="Helvetica"/>
                <a:cs typeface="Helvetica"/>
              </a:rPr>
              <a:t>Temperature is a function of time and one space coordinate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b="0" i="1">
                          <a:solidFill>
                            <a:schemeClr val="bg2">
                              <a:lumMod val="90000"/>
                            </a:schemeClr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GB" b="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GB" b="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/>
                            </a:rPr>
                            <m:t>𝑥</m:t>
                          </m:r>
                          <m:r>
                            <m:rPr/>
                            <a:rPr lang="en-GB" b="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/>
                            </a:rPr>
                            <m:t>,</m:t>
                          </m:r>
                          <m:r>
                            <m:rPr/>
                            <a:rPr lang="en-GB" b="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en-GB">
              <a:solidFill>
                <a:schemeClr val="bg2">
                  <a:lumMod val="90000"/>
                </a:schemeClr>
              </a:solidFill>
              <a:latin typeface="Helvetica"/>
            </a:endParaRPr>
          </a:p>
          <a:p>
            <a:pPr marL="342900" indent="-34290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 startAt="3"/>
              <a:defRPr/>
            </a:pPr>
            <a:r>
              <a:rPr lang="en-GB" b="1">
                <a:solidFill>
                  <a:schemeClr val="bg2">
                    <a:lumMod val="90000"/>
                  </a:schemeClr>
                </a:solidFill>
                <a:latin typeface="Helvetica"/>
              </a:rPr>
              <a:t>Numerical Methods</a:t>
            </a:r>
            <a:endParaRPr/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lang="en-GB">
                <a:solidFill>
                  <a:schemeClr val="bg2">
                    <a:lumMod val="90000"/>
                  </a:schemeClr>
                </a:solidFill>
                <a:latin typeface="Helvetica"/>
                <a:cs typeface="Helvetica"/>
              </a:rPr>
              <a:t>Temperature is a function of time and all three space coordinates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b="0" i="1">
                          <a:solidFill>
                            <a:schemeClr val="bg2">
                              <a:lumMod val="90000"/>
                            </a:schemeClr>
                          </a:solidFill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GB" b="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GB" b="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/>
                            </a:rPr>
                            <m:t>𝑥</m:t>
                          </m:r>
                          <m:r>
                            <m:rPr/>
                            <a:rPr lang="en-GB" b="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/>
                            </a:rPr>
                            <m:t>,</m:t>
                          </m:r>
                          <m:r>
                            <m:rPr/>
                            <a:rPr lang="en-GB" b="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/>
                            </a:rPr>
                            <m:t>𝑦</m:t>
                          </m:r>
                          <m:r>
                            <m:rPr/>
                            <a:rPr lang="en-GB" b="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/>
                            </a:rPr>
                            <m:t>,</m:t>
                          </m:r>
                          <m:r>
                            <m:rPr/>
                            <a:rPr lang="en-GB" b="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/>
                            </a:rPr>
                            <m:t>𝑧</m:t>
                          </m:r>
                          <m:r>
                            <m:rPr/>
                            <a:rPr lang="en-GB" b="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/>
                            </a:rPr>
                            <m:t>,</m:t>
                          </m:r>
                          <m:r>
                            <m:rPr/>
                            <a:rPr lang="en-GB" b="0" i="1">
                              <a:solidFill>
                                <a:schemeClr val="bg2">
                                  <a:lumMod val="90000"/>
                                </a:schemeClr>
                              </a:solidFill>
                              <a:latin typeface="Cambria Math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>
              <a:solidFill>
                <a:schemeClr val="bg2">
                  <a:lumMod val="90000"/>
                </a:schemeClr>
              </a:solidFill>
              <a:latin typeface="Helvetica"/>
            </a:endParaRPr>
          </a:p>
        </p:txBody>
      </p:sp>
      <p:grpSp>
        <p:nvGrpSpPr>
          <p:cNvPr id="297365339" name="Group 14"/>
          <p:cNvGrpSpPr/>
          <p:nvPr/>
        </p:nvGrpSpPr>
        <p:grpSpPr bwMode="auto">
          <a:xfrm>
            <a:off x="326390" y="2743200"/>
            <a:ext cx="2212975" cy="2834005"/>
            <a:chOff x="326390" y="2743200"/>
            <a:chExt cx="2212975" cy="2834005"/>
          </a:xfrm>
        </p:grpSpPr>
        <p:sp>
          <p:nvSpPr>
            <p:cNvPr id="10" name="Arrow: Down 7"/>
            <p:cNvSpPr/>
            <p:nvPr/>
          </p:nvSpPr>
          <p:spPr bwMode="auto">
            <a:xfrm>
              <a:off x="1239520" y="2743200"/>
              <a:ext cx="386715" cy="2021205"/>
            </a:xfrm>
            <a:prstGeom prst="downArrow">
              <a:avLst>
                <a:gd name="adj1" fmla="val 25610"/>
                <a:gd name="adj2" fmla="val 86532"/>
              </a:avLst>
            </a:prstGeom>
            <a:noFill/>
            <a:ln w="28575" cap="flat" cmpd="sng" algn="ctr">
              <a:solidFill>
                <a:srgbClr val="FF9900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lIns="91440" tIns="45720" rIns="91440" bIns="45720" numCol="1" spcCol="215899" anchor="ctr"/>
            <a:lstStyle/>
            <a:p>
              <a:pPr algn="ctr">
                <a:defRPr cap="none">
                  <a:solidFill>
                    <a:srgbClr val="FFFFFF"/>
                  </a:solidFill>
                  <a:latin typeface="Calibri"/>
                  <a:ea typeface="Calibri"/>
                  <a:cs typeface="Calibri"/>
                </a:defRPr>
              </a:pPr>
              <a:endParaRPr cap="none"/>
            </a:p>
          </p:txBody>
        </p:sp>
        <p:sp>
          <p:nvSpPr>
            <p:cNvPr id="9" name="TextBox 10"/>
            <p:cNvSpPr/>
            <p:nvPr/>
          </p:nvSpPr>
          <p:spPr bwMode="auto">
            <a:xfrm>
              <a:off x="326390" y="4850764"/>
              <a:ext cx="2212975" cy="72644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91440" tIns="45720" rIns="91440" bIns="45720" numCol="1" spcCol="215899" anchor="t"/>
            <a:lstStyle/>
            <a:p>
              <a:pPr algn="ctr">
                <a:lnSpc>
                  <a:spcPct val="120000"/>
                </a:lnSpc>
                <a:spcBef>
                  <a:spcPts val="600"/>
                </a:spcBef>
                <a:spcAft>
                  <a:spcPts val="600"/>
                </a:spcAft>
                <a:defRPr/>
              </a:pPr>
              <a:r>
                <a:rPr b="1" cap="none">
                  <a:solidFill>
                    <a:srgbClr val="FF9900"/>
                  </a:solidFill>
                  <a:latin typeface="Helvetica"/>
                  <a:ea typeface="Calibri"/>
                  <a:cs typeface="Calibri"/>
                </a:rPr>
                <a:t>Increasing complexity</a:t>
              </a:r>
              <a:endParaRPr b="1" cap="none">
                <a:solidFill>
                  <a:srgbClr val="FF9900"/>
                </a:solidFill>
                <a:latin typeface="Helvetica"/>
                <a:ea typeface="Calibri"/>
                <a:cs typeface="Calibri"/>
              </a:endParaRPr>
            </a:p>
          </p:txBody>
        </p:sp>
      </p:grpSp>
      <p:grpSp>
        <p:nvGrpSpPr>
          <p:cNvPr id="741569681" name="Group 15"/>
          <p:cNvGrpSpPr/>
          <p:nvPr/>
        </p:nvGrpSpPr>
        <p:grpSpPr bwMode="auto">
          <a:xfrm>
            <a:off x="9652635" y="2741295"/>
            <a:ext cx="2212975" cy="2834640"/>
            <a:chOff x="9652635" y="2741295"/>
            <a:chExt cx="2212975" cy="2834640"/>
          </a:xfrm>
        </p:grpSpPr>
        <p:sp>
          <p:nvSpPr>
            <p:cNvPr id="13" name="Arrow: Down 12"/>
            <p:cNvSpPr/>
            <p:nvPr/>
          </p:nvSpPr>
          <p:spPr bwMode="auto">
            <a:xfrm>
              <a:off x="10565765" y="2741295"/>
              <a:ext cx="386715" cy="2021840"/>
            </a:xfrm>
            <a:prstGeom prst="downArrow">
              <a:avLst>
                <a:gd name="adj1" fmla="val 25610"/>
                <a:gd name="adj2" fmla="val 86559"/>
              </a:avLst>
            </a:prstGeom>
            <a:noFill/>
            <a:ln w="28575" cap="flat" cmpd="sng" algn="ctr">
              <a:solidFill>
                <a:srgbClr val="FF9900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lIns="91440" tIns="45720" rIns="91440" bIns="45720" numCol="1" spcCol="215899" anchor="ctr"/>
            <a:lstStyle/>
            <a:p>
              <a:pPr algn="ctr">
                <a:defRPr cap="none">
                  <a:solidFill>
                    <a:srgbClr val="FFFFFF"/>
                  </a:solidFill>
                  <a:latin typeface="Calibri"/>
                  <a:ea typeface="Calibri"/>
                  <a:cs typeface="Calibri"/>
                </a:defRPr>
              </a:pPr>
              <a:endParaRPr cap="none"/>
            </a:p>
          </p:txBody>
        </p:sp>
        <p:sp>
          <p:nvSpPr>
            <p:cNvPr id="12" name="TextBox 13"/>
            <p:cNvSpPr/>
            <p:nvPr/>
          </p:nvSpPr>
          <p:spPr bwMode="auto">
            <a:xfrm>
              <a:off x="9652635" y="4849495"/>
              <a:ext cx="2212975" cy="72644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91440" tIns="45720" rIns="91440" bIns="45720" numCol="1" spcCol="215899" anchor="t"/>
            <a:lstStyle/>
            <a:p>
              <a:pPr algn="ctr">
                <a:lnSpc>
                  <a:spcPct val="120000"/>
                </a:lnSpc>
                <a:spcBef>
                  <a:spcPts val="600"/>
                </a:spcBef>
                <a:spcAft>
                  <a:spcPts val="600"/>
                </a:spcAft>
                <a:defRPr/>
              </a:pPr>
              <a:r>
                <a:rPr b="1" cap="none">
                  <a:solidFill>
                    <a:srgbClr val="FF9900"/>
                  </a:solidFill>
                  <a:latin typeface="Helvetica"/>
                  <a:ea typeface="Calibri"/>
                  <a:cs typeface="Calibri"/>
                </a:rPr>
                <a:t>Increasing generality</a:t>
              </a:r>
              <a:endParaRPr b="1" cap="none">
                <a:solidFill>
                  <a:srgbClr val="FF9900"/>
                </a:solidFill>
                <a:latin typeface="Helvetica"/>
                <a:ea typeface="Calibri"/>
                <a:cs typeface="Calibri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301279" name="Title 3"/>
          <p:cNvSpPr>
            <a:spLocks noChangeArrowheads="1" noGrp="1"/>
          </p:cNvSpPr>
          <p:nvPr>
            <p:ph type="ctrTitle"/>
          </p:nvPr>
        </p:nvSpPr>
        <p:spPr bwMode="auto">
          <a:xfrm>
            <a:off x="0" y="360045"/>
            <a:ext cx="12192000" cy="7080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sz="4000" cap="none">
                <a:latin typeface="Helvetica"/>
                <a:ea typeface="Verdana"/>
                <a:cs typeface="Helvetica"/>
              </a:rPr>
              <a:t>Lumped System Analysis</a:t>
            </a:r>
            <a:endParaRPr sz="4000" cap="none">
              <a:latin typeface="Helvetica"/>
              <a:ea typeface="Verdana"/>
              <a:cs typeface="Helvetica"/>
            </a:endParaRPr>
          </a:p>
        </p:txBody>
      </p:sp>
      <p:sp>
        <p:nvSpPr>
          <p:cNvPr id="1218578183" name="Slide Number Placeholder 17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8999855" y="6356350"/>
            <a:ext cx="2743200" cy="365125"/>
          </a:xfrm>
        </p:spPr>
        <p:txBody>
          <a:bodyPr/>
          <a:lstStyle/>
          <a:p>
            <a:pPr>
              <a:defRPr/>
            </a:pPr>
            <a:fld id="{1C2F5F3B-75F1-7AA9-BF97-83FC11D949D6}" type="slidenum"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7</a:t>
            </a:fld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1067188591" name="Picture 8" descr="A picture containing text, clipart&#10;&#10;Description automatically generated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48945" y="360045"/>
            <a:ext cx="1967865" cy="5397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664615314" name="TextBox 1"/>
          <p:cNvSpPr/>
          <p:nvPr/>
        </p:nvSpPr>
        <p:spPr bwMode="auto">
          <a:xfrm>
            <a:off x="1378585" y="1929765"/>
            <a:ext cx="9434830" cy="36283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sz="2000" cap="none">
                <a:latin typeface="Helvetica"/>
                <a:ea typeface="Calibri"/>
                <a:cs typeface="Calibri"/>
              </a:rPr>
              <a:t>Some objects behave like ‘</a:t>
            </a:r>
            <a:r>
              <a:rPr sz="2000" b="1" cap="none">
                <a:latin typeface="Helvetica"/>
                <a:ea typeface="Calibri"/>
                <a:cs typeface="Calibri"/>
              </a:rPr>
              <a:t>lumps</a:t>
            </a:r>
            <a:r>
              <a:rPr sz="2000" cap="none">
                <a:latin typeface="Helvetica"/>
                <a:ea typeface="Calibri"/>
                <a:cs typeface="Calibri"/>
              </a:rPr>
              <a:t>’ when subjected to a heat transfer process and their internal temperature remains approximately uniform throughout</a:t>
            </a:r>
            <a:endParaRPr sz="2000" cap="none">
              <a:latin typeface="Helvetica"/>
              <a:ea typeface="Calibri"/>
              <a:cs typeface="Calibri"/>
            </a:endParaRPr>
          </a:p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sz="2000" cap="none">
                <a:latin typeface="Helvetica"/>
                <a:ea typeface="Calibri"/>
                <a:cs typeface="Calibri"/>
              </a:rPr>
              <a:t>We call the method to analyse these types of objects </a:t>
            </a:r>
            <a:r>
              <a:rPr sz="2000" b="1" cap="none">
                <a:latin typeface="Helvetica"/>
                <a:ea typeface="Calibri"/>
                <a:cs typeface="Calibri"/>
              </a:rPr>
              <a:t>Lumped System Analysis</a:t>
            </a:r>
            <a:r>
              <a:rPr sz="2000" cap="none">
                <a:latin typeface="Helvetica"/>
                <a:ea typeface="Calibri"/>
                <a:cs typeface="Calibri"/>
              </a:rPr>
              <a:t> or sometimes the </a:t>
            </a:r>
            <a:r>
              <a:rPr sz="2000" b="1" cap="none">
                <a:latin typeface="Helvetica"/>
                <a:ea typeface="Calibri"/>
                <a:cs typeface="Calibri"/>
              </a:rPr>
              <a:t>Lumped Capacitance Method</a:t>
            </a:r>
            <a:r>
              <a:rPr sz="2000" cap="none">
                <a:latin typeface="Helvetica"/>
                <a:ea typeface="Calibri"/>
                <a:cs typeface="Calibri"/>
              </a:rPr>
              <a:t> </a:t>
            </a:r>
            <a:endParaRPr sz="2000" cap="none">
              <a:latin typeface="Helvetica"/>
              <a:ea typeface="Calibri"/>
              <a:cs typeface="Calibri"/>
            </a:endParaRPr>
          </a:p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sz="2000" cap="none">
                <a:latin typeface="Helvetica"/>
                <a:ea typeface="Calibri"/>
                <a:cs typeface="Calibri"/>
              </a:rPr>
              <a:t>The simplest type of unsteady heat transfer problem, </a:t>
            </a:r>
            <a:r>
              <a:rPr sz="2000" b="1" i="1" cap="none">
                <a:latin typeface="Helvetica"/>
                <a:ea typeface="Calibri"/>
                <a:cs typeface="Calibri"/>
              </a:rPr>
              <a:t>T</a:t>
            </a:r>
            <a:r>
              <a:rPr sz="2000" b="1" cap="none">
                <a:latin typeface="Helvetica"/>
                <a:ea typeface="Calibri"/>
                <a:cs typeface="Calibri"/>
              </a:rPr>
              <a:t>(</a:t>
            </a:r>
            <a:r>
              <a:rPr sz="2000" b="1" i="1" cap="none">
                <a:latin typeface="Helvetica"/>
                <a:ea typeface="Calibri"/>
                <a:cs typeface="Calibri"/>
              </a:rPr>
              <a:t>t</a:t>
            </a:r>
            <a:r>
              <a:rPr sz="2000" b="1" cap="none">
                <a:latin typeface="Helvetica"/>
                <a:ea typeface="Calibri"/>
                <a:cs typeface="Calibri"/>
              </a:rPr>
              <a:t>)</a:t>
            </a:r>
            <a:endParaRPr sz="2000" b="1" cap="none">
              <a:latin typeface="Helvetica"/>
              <a:ea typeface="Calibri"/>
              <a:cs typeface="Calibri"/>
            </a:endParaRPr>
          </a:p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sz="2000" cap="none">
                <a:latin typeface="Helvetica"/>
                <a:ea typeface="Calibri"/>
                <a:cs typeface="Calibri"/>
              </a:rPr>
              <a:t>Applicable in many situations e.g. heating/cooling of simple geometrical objects</a:t>
            </a:r>
            <a:endParaRPr sz="2000" cap="none">
              <a:latin typeface="Helvetica"/>
              <a:ea typeface="Calibri"/>
              <a:cs typeface="Calibri"/>
            </a:endParaRPr>
          </a:p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sz="2000" cap="none">
                <a:latin typeface="Helvetica"/>
                <a:ea typeface="Calibri"/>
                <a:cs typeface="Calibri"/>
              </a:rPr>
              <a:t>Useful for estimating e.g. time it will take a given body to reach a certain temperature or for a given time, we can determine the temperature</a:t>
            </a:r>
            <a:endParaRPr sz="2000" cap="none">
              <a:latin typeface="Helvetica"/>
              <a:ea typeface="Calibri"/>
              <a:cs typeface="Calibri"/>
            </a:endParaRPr>
          </a:p>
        </p:txBody>
      </p:sp>
      <p:sp>
        <p:nvSpPr>
          <p:cNvPr id="501959935" name="TextBox 2"/>
          <p:cNvSpPr/>
          <p:nvPr/>
        </p:nvSpPr>
        <p:spPr bwMode="auto">
          <a:xfrm>
            <a:off x="1056005" y="1298574"/>
            <a:ext cx="10079990" cy="4000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spcAft>
                <a:spcPts val="600"/>
              </a:spcAft>
              <a:defRPr/>
            </a:pPr>
            <a:r>
              <a:rPr sz="2000" b="1" cap="none">
                <a:solidFill>
                  <a:srgbClr val="FF9900"/>
                </a:solidFill>
                <a:latin typeface="Helvetica"/>
                <a:ea typeface="Calibri"/>
                <a:cs typeface="Calibri"/>
              </a:rPr>
              <a:t>Introduction</a:t>
            </a:r>
            <a:endParaRPr sz="2000" b="1" cap="none">
              <a:solidFill>
                <a:srgbClr val="FF9900"/>
              </a:solidFill>
              <a:latin typeface="Helvetica"/>
              <a:ea typeface="Calibri"/>
              <a:cs typeface="Calibri"/>
            </a:endParaRPr>
          </a:p>
        </p:txBody>
      </p:sp>
      <p:sp>
        <p:nvSpPr>
          <p:cNvPr id="1957641881" name="Slide Number Placeholder 17"/>
          <p:cNvSpPr/>
          <p:nvPr/>
        </p:nvSpPr>
        <p:spPr bwMode="auto">
          <a:xfrm>
            <a:off x="448945" y="6356350"/>
            <a:ext cx="4434840" cy="3651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ctr"/>
          <a:lstStyle>
            <a:lvl1pPr marL="0" algn="r" defTabSz="457200">
              <a:defRPr sz="1200" cap="none">
                <a:solidFill>
                  <a:srgbClr val="8C8C8C"/>
                </a:solidFill>
                <a:latin typeface="Calibri"/>
                <a:ea typeface="Calibri"/>
                <a:cs typeface="Calibri"/>
              </a:defRPr>
            </a:lvl1pPr>
            <a:lvl2pPr marL="457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2pPr>
            <a:lvl3pPr marL="914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3pPr>
            <a:lvl4pPr marL="1371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4pPr>
            <a:lvl5pPr marL="18288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5pPr>
            <a:lvl6pPr marL="22860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6pPr>
            <a:lvl7pPr marL="2743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7pPr>
            <a:lvl8pPr marL="3200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8pPr>
            <a:lvl9pPr marL="3657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/>
            </a:pPr>
            <a:r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EX3030/EM40JN</a:t>
            </a:r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9714111" name="Title 3"/>
          <p:cNvSpPr>
            <a:spLocks noChangeArrowheads="1" noGrp="1"/>
          </p:cNvSpPr>
          <p:nvPr>
            <p:ph type="ctrTitle"/>
          </p:nvPr>
        </p:nvSpPr>
        <p:spPr bwMode="auto">
          <a:xfrm>
            <a:off x="0" y="360045"/>
            <a:ext cx="12192000" cy="7080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sz="4000" cap="none">
                <a:latin typeface="Helvetica"/>
                <a:ea typeface="Verdana"/>
                <a:cs typeface="Helvetica"/>
              </a:rPr>
              <a:t>Assumptions Behind LSA</a:t>
            </a:r>
            <a:endParaRPr sz="4000" cap="none">
              <a:latin typeface="Helvetica"/>
              <a:ea typeface="Verdana"/>
              <a:cs typeface="Helvetica"/>
            </a:endParaRPr>
          </a:p>
        </p:txBody>
      </p:sp>
      <p:sp>
        <p:nvSpPr>
          <p:cNvPr id="1411184981" name="Slide Number Placeholder 17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8999855" y="6356350"/>
            <a:ext cx="2743200" cy="365125"/>
          </a:xfrm>
        </p:spPr>
        <p:txBody>
          <a:bodyPr/>
          <a:lstStyle/>
          <a:p>
            <a:pPr>
              <a:defRPr/>
            </a:pPr>
            <a:fld id="{02A5C508-46EF-F033-A11D-B0668B5357E5}" type="slidenum"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8</a:t>
            </a:fld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1371596759" name="Picture 8" descr="A picture containing text, clipart&#10;&#10;Description automatically generated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48945" y="360045"/>
            <a:ext cx="1967865" cy="5397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030230605" name="TextBox 1"/>
          <p:cNvSpPr/>
          <p:nvPr/>
        </p:nvSpPr>
        <p:spPr bwMode="auto">
          <a:xfrm>
            <a:off x="1056005" y="1929765"/>
            <a:ext cx="10079990" cy="3937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cap="none">
                <a:latin typeface="Helvetica"/>
                <a:ea typeface="Calibri"/>
                <a:cs typeface="Calibri"/>
              </a:rPr>
              <a:t>Distribution of temperature is spatially uniform</a:t>
            </a:r>
            <a:endParaRPr cap="none">
              <a:latin typeface="Helvetica"/>
              <a:ea typeface="Calibri"/>
              <a:cs typeface="Calibri"/>
            </a:endParaRPr>
          </a:p>
        </p:txBody>
      </p:sp>
      <p:sp>
        <p:nvSpPr>
          <p:cNvPr id="1317710292" name="TextBox 2"/>
          <p:cNvSpPr/>
          <p:nvPr/>
        </p:nvSpPr>
        <p:spPr bwMode="auto">
          <a:xfrm>
            <a:off x="1056005" y="1298574"/>
            <a:ext cx="10079990" cy="4000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spcAft>
                <a:spcPts val="600"/>
              </a:spcAft>
              <a:defRPr/>
            </a:pPr>
            <a:r>
              <a:rPr sz="2000" b="1" cap="none">
                <a:solidFill>
                  <a:srgbClr val="FF9900"/>
                </a:solidFill>
                <a:latin typeface="Helvetica"/>
                <a:ea typeface="Calibri"/>
                <a:cs typeface="Calibri"/>
              </a:rPr>
              <a:t>Main assumption behind Lumped System Analysis:</a:t>
            </a:r>
            <a:endParaRPr sz="2000" b="1" cap="none">
              <a:solidFill>
                <a:srgbClr val="FF9900"/>
              </a:solidFill>
              <a:latin typeface="Helvetica"/>
              <a:ea typeface="Calibri"/>
              <a:cs typeface="Calibri"/>
            </a:endParaRPr>
          </a:p>
        </p:txBody>
      </p:sp>
      <p:sp>
        <p:nvSpPr>
          <p:cNvPr id="2042662274" name="Slide Number Placeholder 17"/>
          <p:cNvSpPr/>
          <p:nvPr/>
        </p:nvSpPr>
        <p:spPr bwMode="auto">
          <a:xfrm>
            <a:off x="448945" y="6356350"/>
            <a:ext cx="4434840" cy="3651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ctr"/>
          <a:lstStyle>
            <a:lvl1pPr marL="0" algn="r" defTabSz="457200">
              <a:defRPr sz="1200" cap="none">
                <a:solidFill>
                  <a:srgbClr val="8C8C8C"/>
                </a:solidFill>
                <a:latin typeface="Calibri"/>
                <a:ea typeface="Calibri"/>
                <a:cs typeface="Calibri"/>
              </a:defRPr>
            </a:lvl1pPr>
            <a:lvl2pPr marL="457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2pPr>
            <a:lvl3pPr marL="914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3pPr>
            <a:lvl4pPr marL="1371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4pPr>
            <a:lvl5pPr marL="18288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5pPr>
            <a:lvl6pPr marL="22860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6pPr>
            <a:lvl7pPr marL="2743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7pPr>
            <a:lvl8pPr marL="3200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8pPr>
            <a:lvl9pPr marL="3657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/>
            </a:pPr>
            <a:r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EX3030/EM40JN</a:t>
            </a:r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grpSp>
        <p:nvGrpSpPr>
          <p:cNvPr id="1531918897" name="Group 10"/>
          <p:cNvGrpSpPr/>
          <p:nvPr/>
        </p:nvGrpSpPr>
        <p:grpSpPr bwMode="auto">
          <a:xfrm>
            <a:off x="3048635" y="2762885"/>
            <a:ext cx="6094730" cy="2796540"/>
            <a:chOff x="3048635" y="2762885"/>
            <a:chExt cx="6094730" cy="2796540"/>
          </a:xfrm>
        </p:grpSpPr>
        <p:pic>
          <p:nvPicPr>
            <p:cNvPr id="10" name="Picture 4" descr="A picture containing icon&#10;&#10;Description automatically generated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>
              <a:off x="3935730" y="2762885"/>
              <a:ext cx="4320540" cy="1969770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9" name="TextBox 9"/>
            <p:cNvSpPr/>
            <p:nvPr/>
          </p:nvSpPr>
          <p:spPr bwMode="auto">
            <a:xfrm>
              <a:off x="3048635" y="4820920"/>
              <a:ext cx="6094730" cy="73850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square" lIns="91440" tIns="45720" rIns="91440" bIns="45720" numCol="1" spcCol="215899" anchor="t"/>
            <a:lstStyle/>
            <a:p>
              <a:pPr algn="ctr">
                <a:defRPr/>
              </a:pPr>
              <a:r>
                <a:rPr sz="1400" cap="none">
                  <a:solidFill>
                    <a:srgbClr val="000000"/>
                  </a:solidFill>
                  <a:latin typeface="Times New Roman"/>
                  <a:ea typeface="Calibri"/>
                  <a:cs typeface="Calibri"/>
                </a:rPr>
                <a:t>Example of a body with a spatially-uniform temperature distribution at time </a:t>
              </a:r>
              <a:r>
                <a:rPr sz="1400" i="1" cap="none">
                  <a:solidFill>
                    <a:srgbClr val="000000"/>
                  </a:solidFill>
                  <a:latin typeface="Times New Roman"/>
                  <a:ea typeface="Calibri"/>
                  <a:cs typeface="Calibri"/>
                </a:rPr>
                <a:t>t</a:t>
              </a:r>
              <a:r>
                <a:rPr sz="1400" cap="none">
                  <a:solidFill>
                    <a:srgbClr val="000000"/>
                  </a:solidFill>
                  <a:latin typeface="Times New Roman"/>
                  <a:ea typeface="Calibri"/>
                  <a:cs typeface="Calibri"/>
                </a:rPr>
                <a:t> (left) and some time later at </a:t>
              </a:r>
              <a:r>
                <a:rPr sz="1400" i="1" cap="none">
                  <a:solidFill>
                    <a:srgbClr val="000000"/>
                  </a:solidFill>
                  <a:latin typeface="Times New Roman"/>
                  <a:ea typeface="Calibri"/>
                  <a:cs typeface="Calibri"/>
                </a:rPr>
                <a:t>t</a:t>
              </a:r>
              <a:r>
                <a:rPr sz="1400" cap="none">
                  <a:solidFill>
                    <a:srgbClr val="000000"/>
                  </a:solidFill>
                  <a:latin typeface="Times New Roman"/>
                  <a:ea typeface="Calibri"/>
                  <a:cs typeface="Calibri"/>
                </a:rPr>
                <a:t>+Δ</a:t>
              </a:r>
              <a:r>
                <a:rPr sz="1400" i="1" cap="none">
                  <a:solidFill>
                    <a:srgbClr val="000000"/>
                  </a:solidFill>
                  <a:latin typeface="Times New Roman"/>
                  <a:ea typeface="Calibri"/>
                  <a:cs typeface="Calibri"/>
                </a:rPr>
                <a:t>t</a:t>
              </a:r>
              <a:r>
                <a:rPr sz="1400" cap="none">
                  <a:solidFill>
                    <a:srgbClr val="000000"/>
                  </a:solidFill>
                  <a:latin typeface="Times New Roman"/>
                  <a:ea typeface="Calibri"/>
                  <a:cs typeface="Calibri"/>
                </a:rPr>
                <a:t> (right). Temperature changes are seen to happen equally at all points throughout the body</a:t>
              </a:r>
              <a:endParaRPr sz="1400" cap="none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319654" name="Title 3"/>
          <p:cNvSpPr>
            <a:spLocks noChangeArrowheads="1" noGrp="1"/>
          </p:cNvSpPr>
          <p:nvPr>
            <p:ph type="ctrTitle"/>
          </p:nvPr>
        </p:nvSpPr>
        <p:spPr bwMode="auto">
          <a:xfrm>
            <a:off x="0" y="360045"/>
            <a:ext cx="12192000" cy="7080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sz="4000" cap="none">
                <a:latin typeface="Helvetica"/>
                <a:ea typeface="Verdana"/>
                <a:cs typeface="Helvetica"/>
              </a:rPr>
              <a:t>Thermal Energy Balance</a:t>
            </a:r>
            <a:endParaRPr sz="4000" cap="none">
              <a:latin typeface="Helvetica"/>
              <a:ea typeface="Verdana"/>
              <a:cs typeface="Helvetica"/>
            </a:endParaRPr>
          </a:p>
        </p:txBody>
      </p:sp>
      <p:sp>
        <p:nvSpPr>
          <p:cNvPr id="2009439232" name="Slide Number Placeholder 17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8999855" y="6356350"/>
            <a:ext cx="2743200" cy="365125"/>
          </a:xfrm>
        </p:spPr>
        <p:txBody>
          <a:bodyPr/>
          <a:lstStyle/>
          <a:p>
            <a:pPr>
              <a:defRPr/>
            </a:pPr>
            <a:fld id="{146AB585-CBF9-3F43-B7D2-3D16FB9C4168}" type="slidenum"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9</a:t>
            </a:fld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788470067" name="Picture 8" descr="A picture containing text, clipart&#10;&#10;Description automatically generated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48945" y="360045"/>
            <a:ext cx="1967865" cy="5397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83296313" name="TextBox 1"/>
          <p:cNvSpPr/>
          <p:nvPr/>
        </p:nvSpPr>
        <p:spPr bwMode="auto">
          <a:xfrm>
            <a:off x="1056005" y="2324735"/>
            <a:ext cx="6157595" cy="340106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lang="en-GB" sz="1600">
                <a:latin typeface="Helvetica"/>
              </a:rPr>
              <a:t>Consider a sphere of mass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sz="1600" b="0" i="1">
                          <a:latin typeface="Cambria Math"/>
                        </a:rPr>
                        <m:t>𝑚</m:t>
                      </m:r>
                    </m:oMath>
                  </m:oMathPara>
                </a14:m>
              </mc:Choice>
              <mc:Fallback/>
            </mc:AlternateContent>
            <a:r>
              <a:rPr lang="en-GB" sz="1600">
                <a:latin typeface="Helvetica"/>
              </a:rPr>
              <a:t> and surface area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GB" sz="16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GB" sz="1600" b="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m:rPr/>
                            <a:rPr lang="en-GB" sz="1600" b="0" i="1">
                              <a:latin typeface="Cambria Math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GB" sz="1600">
                <a:latin typeface="Helvetica"/>
              </a:rPr>
              <a:t> cooling outside of a furnace. Assume the ball is homogenous, with constant heat capacity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GB" sz="16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GB" sz="1600" b="0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m:rPr/>
                            <a:rPr lang="en-GB" sz="1600" b="0" i="1">
                              <a:latin typeface="Cambria Math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GB" sz="1600">
                <a:latin typeface="Helvetica"/>
              </a:rPr>
              <a:t>, constant thermal conductivity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sz="1600" b="0" i="1">
                          <a:latin typeface="Cambria Math"/>
                        </a:rPr>
                        <m:t>𝑘</m:t>
                      </m:r>
                    </m:oMath>
                  </m:oMathPara>
                </a14:m>
              </mc:Choice>
              <mc:Fallback/>
            </mc:AlternateContent>
            <a:r>
              <a:rPr lang="en-GB" sz="1600">
                <a:latin typeface="Helvetica"/>
              </a:rPr>
              <a:t> and uniform temperature distribution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sz="1600" b="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GB" sz="16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GB" sz="1600" b="0" i="1">
                              <a:latin typeface="Cambria Math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endParaRPr lang="en-GB" sz="1600">
              <a:latin typeface="Helvetica"/>
            </a:endParaRPr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lang="en-GB" sz="1600">
                <a:latin typeface="Helvetica"/>
              </a:rPr>
              <a:t>A thermal energy balance shows:</a:t>
            </a:r>
            <a:endParaRPr/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centerGroup"/>
                    </m:oMathParaPr>
                    <m:oMath>
                      <m:r>
                        <m:rPr/>
                        <a:rPr lang="en-GB" sz="1600" b="0" i="1">
                          <a:latin typeface="Cambria Math"/>
                        </a:rPr>
                        <m:t>−</m:t>
                      </m:r>
                      <m:r>
                        <m:rPr/>
                        <a:rPr lang="en-GB" sz="1600" b="0" i="1">
                          <a:latin typeface="Cambria Math"/>
                        </a:rPr>
                        <m:t>h</m:t>
                      </m:r>
                      <m:sSub>
                        <m:sSubPr>
                          <m:ctrlPr>
                            <a:rPr lang="en-GB" sz="16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GB" sz="1600" b="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m:rPr/>
                            <a:rPr lang="en-GB" sz="1600" b="0" i="1">
                              <a:latin typeface="Cambria Math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6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GB" sz="1600" b="0" i="1">
                              <a:latin typeface="Cambria Math"/>
                            </a:rPr>
                            <m:t>𝑇</m:t>
                          </m:r>
                          <m:r>
                            <m:rPr/>
                            <a:rPr lang="en-GB" sz="1600" b="0" i="1">
                              <a:latin typeface="Cambria Math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sz="16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sz="1600" b="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m:rPr/>
                                <a:rPr lang="en-GB" sz="1600" b="0" i="1">
                                  <a:latin typeface="Cambria Math"/>
                                </a:rPr>
                                <m:t>∞</m:t>
                              </m:r>
                            </m:sub>
                          </m:sSub>
                        </m:e>
                      </m:d>
                      <m:r>
                        <m:rPr/>
                        <a:rPr lang="en-GB" sz="1600" b="0" i="1">
                          <a:latin typeface="Cambria Math"/>
                        </a:rPr>
                        <m:t>𝑑𝑡</m:t>
                      </m:r>
                      <m:r>
                        <m:rPr/>
                        <a:rPr lang="en-GB" sz="1600" b="0" i="1">
                          <a:latin typeface="Cambria Math"/>
                        </a:rPr>
                        <m:t>=</m:t>
                      </m:r>
                      <m:r>
                        <m:rPr/>
                        <a:rPr lang="en-GB" sz="1600" b="0" i="1">
                          <a:latin typeface="Cambria Math"/>
                        </a:rPr>
                        <m:t>𝑚</m:t>
                      </m:r>
                      <m:sSub>
                        <m:sSubPr>
                          <m:ctrlPr>
                            <a:rPr lang="en-GB" sz="16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GB" sz="1600" b="0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m:rPr/>
                            <a:rPr lang="en-GB" sz="1600" b="0" i="1">
                              <a:latin typeface="Cambria Math"/>
                            </a:rPr>
                            <m:t>𝑝</m:t>
                          </m:r>
                        </m:sub>
                      </m:sSub>
                      <m:r>
                        <m:rPr/>
                        <a:rPr lang="en-GB" sz="1600" b="0" i="1">
                          <a:latin typeface="Cambria Math"/>
                        </a:rPr>
                        <m:t>𝑑𝑇</m:t>
                      </m:r>
                    </m:oMath>
                  </m:oMathPara>
                </a14:m>
              </mc:Choice>
              <mc:Fallback/>
            </mc:AlternateContent>
            <a:endParaRPr lang="en-US" sz="1600">
              <a:latin typeface="Helvetica"/>
            </a:endParaRPr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lang="en-US" sz="1600">
                <a:latin typeface="Helvetica"/>
              </a:rPr>
              <a:t>and noting that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sz="1600" b="0" i="1">
                          <a:latin typeface="Cambria Math"/>
                        </a:rPr>
                        <m:t>𝑚</m:t>
                      </m:r>
                      <m:r>
                        <m:rPr/>
                        <a:rPr lang="en-GB" sz="1600" b="0" i="1">
                          <a:latin typeface="Cambria Math"/>
                        </a:rPr>
                        <m:t>=</m:t>
                      </m:r>
                      <m:r>
                        <m:rPr/>
                        <a:rPr lang="en-GB" sz="1600" b="0" i="1">
                          <a:latin typeface="Cambria Math"/>
                        </a:rPr>
                        <m:t>𝜌</m:t>
                      </m:r>
                      <m:r>
                        <m:rPr/>
                        <a:rPr lang="en-GB" sz="1600" b="0" i="1">
                          <a:latin typeface="Cambria Math"/>
                        </a:rPr>
                        <m:t>𝑉</m:t>
                      </m:r>
                    </m:oMath>
                  </m:oMathPara>
                </a14:m>
              </mc:Choice>
              <mc:Fallback/>
            </mc:AlternateContent>
            <a:r>
              <a:rPr lang="en-US" sz="1600">
                <a:latin typeface="Helvetica"/>
              </a:rPr>
              <a:t> and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sz="1600" b="0" i="1">
                          <a:latin typeface="Cambria Math"/>
                        </a:rPr>
                        <m:t>𝑑𝑇</m:t>
                      </m:r>
                      <m:r>
                        <m:rPr/>
                        <a:rPr lang="en-GB" sz="1600" b="0" i="1">
                          <a:latin typeface="Cambria Math"/>
                        </a:rPr>
                        <m:t>=</m:t>
                      </m:r>
                      <m:r>
                        <m:rPr/>
                        <a:rPr lang="en-GB" sz="1600" b="0" i="1">
                          <a:latin typeface="Cambria Math"/>
                        </a:rPr>
                        <m:t>𝑇</m:t>
                      </m:r>
                      <m:r>
                        <m:rPr/>
                        <a:rPr lang="en-GB" sz="1600" b="0" i="1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en-GB" sz="16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GB" sz="1600" b="0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m:rPr/>
                            <a:rPr lang="en-GB" sz="1600" b="0" i="1">
                              <a:latin typeface="Cambria Math"/>
                            </a:rPr>
                            <m:t>∞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1600">
                <a:latin typeface="Helvetica"/>
              </a:rPr>
              <a:t> gives:</a:t>
            </a:r>
            <a:endParaRPr/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centerGroup"/>
                    </m:oMathParaPr>
                    <m:oMath>
                      <m:f>
                        <m:fPr>
                          <m:ctrlPr>
                            <a:rPr lang="en-GB" sz="16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/>
                            <a:rPr lang="en-GB" sz="1600" i="1">
                              <a:latin typeface="Cambria Math"/>
                            </a:rPr>
                            <m:t>−</m:t>
                          </m:r>
                          <m:r>
                            <m:rPr/>
                            <a:rPr lang="en-GB" sz="1600" i="1">
                              <a:latin typeface="Cambria Math"/>
                            </a:rPr>
                            <m:t>h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𝐴</m:t>
                              </m:r>
                            </m:e>
                            <m:sub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m:rPr/>
                            <a:rPr lang="en-GB" sz="1600" b="0" i="1">
                              <a:latin typeface="Cambria Math"/>
                            </a:rPr>
                            <m:t>𝜌</m:t>
                          </m:r>
                          <m:r>
                            <m:rPr/>
                            <a:rPr lang="en-GB" sz="1600" b="0" i="1">
                              <a:latin typeface="Cambria Math"/>
                            </a:rPr>
                            <m:t>𝑉</m:t>
                          </m:r>
                          <m:sSub>
                            <m:sSubPr>
                              <m:ctrlPr>
                                <a:rPr lang="en-GB" sz="16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sz="1600" b="0" i="1">
                                  <a:latin typeface="Cambria Math"/>
                                </a:rPr>
                                <m:t>𝐶</m:t>
                              </m:r>
                            </m:e>
                            <m:sub>
                              <m:r>
                                <m:rPr/>
                                <a:rPr lang="en-GB" sz="1600" b="0" i="1">
                                  <a:latin typeface="Cambria Math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m:rPr/>
                        <a:rPr lang="en-GB" sz="1600" b="0" i="1">
                          <a:latin typeface="Cambria Math"/>
                        </a:rPr>
                        <m:t>𝑑𝑡</m:t>
                      </m:r>
                      <m:r>
                        <m:rPr/>
                        <a:rPr lang="en-GB" sz="1600" b="0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GB" sz="16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/>
                            <a:rPr lang="en-GB" sz="1600" b="0" i="1">
                              <a:latin typeface="Cambria Math"/>
                            </a:rPr>
                            <m:t>𝑑</m:t>
                          </m:r>
                          <m:d>
                            <m:dPr>
                              <m:ctrlPr>
                                <a:rPr lang="en-GB" sz="16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𝑇</m:t>
                              </m:r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GB" sz="1600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GB" sz="1600" i="1">
                                      <a:latin typeface="Cambria Math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m:rPr/>
                                    <a:rPr lang="en-GB" sz="1600" i="1">
                                      <a:latin typeface="Cambria Math"/>
                                    </a:rPr>
                                    <m:t>∞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rPr/>
                            <a:rPr lang="en-GB" sz="1600" i="1">
                              <a:latin typeface="Cambria Math"/>
                            </a:rPr>
                            <m:t>𝑇</m:t>
                          </m:r>
                          <m:r>
                            <m:rPr/>
                            <a:rPr lang="en-GB" sz="1600" i="1">
                              <a:latin typeface="Cambria Math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∞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mc:Choice>
              <mc:Fallback/>
            </mc:AlternateContent>
            <a:endParaRPr lang="en-US" sz="1600">
              <a:latin typeface="Helvetica"/>
            </a:endParaRPr>
          </a:p>
        </p:txBody>
      </p:sp>
      <p:sp>
        <p:nvSpPr>
          <p:cNvPr id="1059366405" name="TextBox 2"/>
          <p:cNvSpPr/>
          <p:nvPr/>
        </p:nvSpPr>
        <p:spPr bwMode="auto">
          <a:xfrm>
            <a:off x="1056005" y="1298574"/>
            <a:ext cx="10079990" cy="4000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spcAft>
                <a:spcPts val="600"/>
              </a:spcAft>
              <a:defRPr/>
            </a:pPr>
            <a:r>
              <a:rPr sz="2000" b="1" cap="none">
                <a:solidFill>
                  <a:srgbClr val="FF9900"/>
                </a:solidFill>
                <a:latin typeface="Helvetica"/>
                <a:ea typeface="Calibri"/>
                <a:cs typeface="Calibri"/>
              </a:rPr>
              <a:t>Example with a sphere</a:t>
            </a:r>
            <a:endParaRPr sz="2000" b="1" cap="none">
              <a:solidFill>
                <a:srgbClr val="FF9900"/>
              </a:solidFill>
              <a:latin typeface="Helvetica"/>
              <a:ea typeface="Calibri"/>
              <a:cs typeface="Calibri"/>
            </a:endParaRPr>
          </a:p>
        </p:txBody>
      </p:sp>
      <p:sp>
        <p:nvSpPr>
          <p:cNvPr id="1823344292" name="Slide Number Placeholder 17"/>
          <p:cNvSpPr/>
          <p:nvPr/>
        </p:nvSpPr>
        <p:spPr bwMode="auto">
          <a:xfrm>
            <a:off x="448945" y="6356350"/>
            <a:ext cx="4434840" cy="3651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ctr"/>
          <a:lstStyle>
            <a:lvl1pPr marL="0" algn="r" defTabSz="457200">
              <a:defRPr sz="1200" cap="none">
                <a:solidFill>
                  <a:srgbClr val="8C8C8C"/>
                </a:solidFill>
                <a:latin typeface="Calibri"/>
                <a:ea typeface="Calibri"/>
                <a:cs typeface="Calibri"/>
              </a:defRPr>
            </a:lvl1pPr>
            <a:lvl2pPr marL="457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2pPr>
            <a:lvl3pPr marL="914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3pPr>
            <a:lvl4pPr marL="1371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4pPr>
            <a:lvl5pPr marL="18288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5pPr>
            <a:lvl6pPr marL="22860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6pPr>
            <a:lvl7pPr marL="2743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7pPr>
            <a:lvl8pPr marL="3200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8pPr>
            <a:lvl9pPr marL="3657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/>
            </a:pPr>
            <a:r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EX3030/EM40JN</a:t>
            </a:r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grpSp>
        <p:nvGrpSpPr>
          <p:cNvPr id="888448805" name="Group 22"/>
          <p:cNvGrpSpPr/>
          <p:nvPr/>
        </p:nvGrpSpPr>
        <p:grpSpPr bwMode="auto">
          <a:xfrm>
            <a:off x="7244080" y="2242185"/>
            <a:ext cx="3891915" cy="3571240"/>
            <a:chOff x="7244080" y="2242185"/>
            <a:chExt cx="3891915" cy="3571240"/>
          </a:xfrm>
        </p:grpSpPr>
        <p:pic>
          <p:nvPicPr>
            <p:cNvPr id="10" name="Picture 4" descr="Diagram&#10;&#10;Description automatically generated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>
              <a:off x="8103870" y="2242185"/>
              <a:ext cx="2172335" cy="2879725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9" name="TextBox 13"/>
            <p:cNvSpPr/>
            <p:nvPr/>
          </p:nvSpPr>
          <p:spPr bwMode="auto">
            <a:xfrm>
              <a:off x="7244080" y="5166995"/>
              <a:ext cx="3891915" cy="646430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en-GB" sz="1200">
                  <a:latin typeface="Helvetica"/>
                  <a:cs typeface="Helvetica"/>
                </a:rPr>
                <a:t>S</a:t>
              </a:r>
              <a:r>
                <a:rPr lang="en-GB" sz="1200">
                  <a:solidFill>
                    <a:srgbClr val="000000"/>
                  </a:solidFill>
                  <a:latin typeface="Helvetica"/>
                  <a:ea typeface="Calibri"/>
                  <a:cs typeface="Helvetica"/>
                </a:rPr>
                <a:t>chematic of a steel sphere cooling outside of a furnace in an environment with constant temperature </a:t>
              </a:r>
              <mc:AlternateContent xmlns:mc="http://schemas.openxmlformats.org/markup-compatibility/2006" xmlns:m="http://schemas.openxmlformats.org/officeDocument/2006/math">
                <mc:Choice xmlns:a14="http://schemas.microsoft.com/office/drawing/2010/main" Requires="a14">
                  <a14:m>
                    <m:oMathPara>
                      <m:oMathParaPr/>
                      <m:oMath>
                        <m:sSub>
                          <m:sSubPr>
                            <m:ctrlPr>
                              <a:rPr lang="en-GB" sz="1200" b="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libri"/>
                                <a:cs typeface="Cambria Math"/>
                              </a:rPr>
                            </m:ctrlPr>
                          </m:sSubPr>
                          <m:e>
                            <m:r>
                              <m:rPr/>
                              <a:rPr lang="en-GB" sz="1200" b="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libri"/>
                              </a:rPr>
                              <m:t>𝑇</m:t>
                            </m:r>
                          </m:e>
                          <m:sub>
                            <m:r>
                              <m:rPr/>
                              <a:rPr lang="en-GB" sz="1200" b="0" i="1">
                                <a:solidFill>
                                  <a:srgbClr val="000000"/>
                                </a:solidFill>
                                <a:latin typeface="Cambria Math"/>
                                <a:ea typeface="Calibri"/>
                              </a:rPr>
                              <m:t>∞</m:t>
                            </m:r>
                          </m:sub>
                        </m:sSub>
                      </m:oMath>
                    </m:oMathPara>
                  </a14:m>
                </mc:Choice>
                <mc:Fallback/>
              </mc:AlternateContent>
              <a:r>
                <a:rPr lang="en-GB" sz="1200">
                  <a:latin typeface="Helvetica"/>
                  <a:cs typeface="Helvetica"/>
                </a:rPr>
                <a:t> and heat transfer coefficient </a:t>
              </a:r>
              <mc:AlternateContent xmlns:mc="http://schemas.openxmlformats.org/markup-compatibility/2006" xmlns:m="http://schemas.openxmlformats.org/officeDocument/2006/math">
                <mc:Choice xmlns:a14="http://schemas.microsoft.com/office/drawing/2010/main" Requires="a14">
                  <a14:m>
                    <m:oMathPara>
                      <m:oMathParaPr/>
                      <m:oMath>
                        <m:r>
                          <m:rPr/>
                          <a:rPr lang="en-GB" sz="1200" b="0" i="1">
                            <a:latin typeface="Cambria Math"/>
                          </a:rPr>
                          <m:t>h</m:t>
                        </m:r>
                      </m:oMath>
                    </m:oMathPara>
                  </a14:m>
                </mc:Choice>
                <mc:Fallback/>
              </mc:AlternateContent>
              <a:endParaRPr lang="en-GB" sz="1200">
                <a:latin typeface="Helvetica"/>
                <a:cs typeface="Helvetica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0427154" name="Title 3"/>
          <p:cNvSpPr>
            <a:spLocks noChangeArrowheads="1" noGrp="1"/>
          </p:cNvSpPr>
          <p:nvPr>
            <p:ph type="ctrTitle"/>
          </p:nvPr>
        </p:nvSpPr>
        <p:spPr bwMode="auto">
          <a:xfrm>
            <a:off x="0" y="360045"/>
            <a:ext cx="12192000" cy="7080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sz="4000" cap="none">
                <a:latin typeface="Helvetica"/>
                <a:ea typeface="Verdana"/>
                <a:cs typeface="Helvetica"/>
              </a:rPr>
              <a:t>Governing Equation</a:t>
            </a:r>
            <a:endParaRPr sz="4000" cap="none">
              <a:latin typeface="Helvetica"/>
              <a:ea typeface="Verdana"/>
              <a:cs typeface="Helvetica"/>
            </a:endParaRPr>
          </a:p>
        </p:txBody>
      </p:sp>
      <p:sp>
        <p:nvSpPr>
          <p:cNvPr id="658617742" name="Slide Number Placeholder 17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8999855" y="6356350"/>
            <a:ext cx="2743200" cy="365125"/>
          </a:xfrm>
        </p:spPr>
        <p:txBody>
          <a:bodyPr/>
          <a:lstStyle/>
          <a:p>
            <a:pPr>
              <a:defRPr/>
            </a:pPr>
            <a:fld id="{7ACEA6E3-AD97-9B50-D976-5B05E8382F0E}" type="slidenum"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10</a:t>
            </a:fld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1199210606" name="Picture 8" descr="A picture containing text, clipart&#10;&#10;Description automatically generated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48945" y="360045"/>
            <a:ext cx="1967865" cy="5397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8842411" name="TextBox 1"/>
          <p:cNvSpPr/>
          <p:nvPr/>
        </p:nvSpPr>
        <p:spPr bwMode="auto">
          <a:xfrm>
            <a:off x="1056005" y="1929765"/>
            <a:ext cx="10079990" cy="428498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lang="en-US" sz="1600">
                <a:latin typeface="Helvetica"/>
              </a:rPr>
              <a:t>Continuing from previous slide, we set up our integration from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sz="1600" b="0" i="1">
                          <a:latin typeface="Cambria Math"/>
                        </a:rPr>
                        <m:t>𝑡</m:t>
                      </m:r>
                    </m:oMath>
                  </m:oMathPara>
                </a14:m>
              </mc:Choice>
              <mc:Fallback/>
            </mc:AlternateContent>
            <a:r>
              <a:rPr lang="en-US" sz="1600">
                <a:latin typeface="Helvetica"/>
              </a:rPr>
              <a:t> = 0, when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sz="1600" b="0" i="1">
                          <a:latin typeface="Cambria Math"/>
                        </a:rPr>
                        <m:t>𝑇</m:t>
                      </m:r>
                      <m:r>
                        <m:rPr/>
                        <a:rPr lang="en-GB" sz="1600" b="0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GB" sz="16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GB" sz="1600" b="0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m:rPr/>
                            <a:rPr lang="en-GB" sz="1600" b="0" i="1"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1600">
                <a:latin typeface="Helvetica"/>
              </a:rPr>
              <a:t> to time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sz="1600" b="0" i="1">
                          <a:latin typeface="Cambria Math"/>
                        </a:rPr>
                        <m:t>𝑡</m:t>
                      </m:r>
                    </m:oMath>
                  </m:oMathPara>
                </a14:m>
              </mc:Choice>
              <mc:Fallback/>
            </mc:AlternateContent>
            <a:r>
              <a:rPr lang="en-US" sz="1600">
                <a:latin typeface="Helvetica"/>
              </a:rPr>
              <a:t> at which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sz="1600" b="0" i="1">
                          <a:latin typeface="Cambria Math"/>
                        </a:rPr>
                        <m:t>𝑇</m:t>
                      </m:r>
                      <m:r>
                        <m:rPr/>
                        <a:rPr lang="en-GB" sz="1600" b="0" i="1">
                          <a:latin typeface="Cambria Math"/>
                        </a:rPr>
                        <m:t>=</m:t>
                      </m:r>
                      <m:r>
                        <m:rPr/>
                        <a:rPr lang="en-GB" sz="1600" b="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GB" sz="16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GB" sz="1600" b="0" i="1">
                              <a:latin typeface="Cambria Math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 sz="1600">
                <a:latin typeface="Helvetica"/>
              </a:rPr>
              <a:t>:</a:t>
            </a:r>
            <a:endParaRPr/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centerGroup"/>
                    </m:oMathParaPr>
                    <m:oMath>
                      <m:f>
                        <m:fPr>
                          <m:ctrlPr>
                            <a:rPr lang="en-GB" sz="16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/>
                            <a:rPr lang="en-GB" sz="1600" i="1">
                              <a:latin typeface="Cambria Math"/>
                            </a:rPr>
                            <m:t>−</m:t>
                          </m:r>
                          <m:r>
                            <m:rPr/>
                            <a:rPr lang="en-GB" sz="1600" i="1">
                              <a:latin typeface="Cambria Math"/>
                            </a:rPr>
                            <m:t>h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𝐴</m:t>
                              </m:r>
                            </m:e>
                            <m:sub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m:rPr/>
                            <a:rPr lang="en-GB" sz="1600" b="0" i="1">
                              <a:latin typeface="Cambria Math"/>
                            </a:rPr>
                            <m:t>𝜌</m:t>
                          </m:r>
                          <m:r>
                            <m:rPr/>
                            <a:rPr lang="en-GB" sz="1600" b="0" i="1">
                              <a:latin typeface="Cambria Math"/>
                            </a:rPr>
                            <m:t>𝑉</m:t>
                          </m:r>
                          <m:sSub>
                            <m:sSubPr>
                              <m:ctrlPr>
                                <a:rPr lang="en-GB" sz="16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sz="1600" b="0" i="1">
                                  <a:latin typeface="Cambria Math"/>
                                </a:rPr>
                                <m:t>𝐶</m:t>
                              </m:r>
                            </m:e>
                            <m:sub>
                              <m:r>
                                <m:rPr/>
                                <a:rPr lang="en-GB" sz="1600" b="0" i="1">
                                  <a:latin typeface="Cambria Math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nary>
                        <m:naryPr>
                          <m:grow m:val="off"/>
                          <m:ctrlPr>
                            <a:rPr lang="en-GB" sz="16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GB" sz="1600" b="0" i="1">
                              <a:latin typeface="Cambria Math"/>
                            </a:rPr>
                            <m:t>0</m:t>
                          </m:r>
                        </m:sub>
                        <m:sup>
                          <m:r>
                            <m:rPr/>
                            <a:rPr lang="en-GB" sz="1600" b="0" i="1">
                              <a:latin typeface="Cambria Math"/>
                            </a:rPr>
                            <m:t>𝑡</m:t>
                          </m:r>
                        </m:sup>
                        <m:e>
                          <m:r>
                            <m:rPr/>
                            <a:rPr lang="en-GB" sz="1600" i="1">
                              <a:latin typeface="Cambria Math"/>
                            </a:rPr>
                            <m:t>𝑑𝑡</m:t>
                          </m:r>
                        </m:e>
                      </m:nary>
                      <m:r>
                        <m:rPr/>
                        <a:rPr lang="en-GB" sz="1600" b="0" i="1">
                          <a:latin typeface="Cambria Math"/>
                        </a:rPr>
                        <m:t>=</m:t>
                      </m:r>
                      <m:nary>
                        <m:naryPr>
                          <m:grow m:val="off"/>
                          <m:ctrlPr>
                            <a:rPr lang="en-GB" sz="16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GB" sz="16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en-GB" sz="1600" b="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en-GB" sz="1600" b="0" i="1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sub>
                        <m:sup>
                          <m:r>
                            <m:rPr/>
                            <a:rPr lang="en-GB" sz="1600" b="0" i="1">
                              <a:latin typeface="Cambria Math"/>
                            </a:rPr>
                            <m:t>𝑇</m:t>
                          </m:r>
                        </m:sup>
                        <m:e>
                          <m:f>
                            <m:fPr>
                              <m:ctrlPr>
                                <a:rPr lang="en-GB" sz="160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𝑑</m:t>
                              </m:r>
                              <m:d>
                                <m:dPr>
                                  <m:ctrlPr>
                                    <a:rPr lang="en-GB" sz="1600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GB" sz="1600" i="1">
                                      <a:latin typeface="Cambria Math"/>
                                    </a:rPr>
                                    <m:t>𝑇</m:t>
                                  </m:r>
                                  <m:r>
                                    <m:rPr/>
                                    <a:rPr lang="en-GB" sz="1600" i="1">
                                      <a:latin typeface="Cambria Math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GB" sz="1600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en-GB" sz="1600" i="1">
                                          <a:latin typeface="Cambria Math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en-GB" sz="1600" i="1">
                                          <a:latin typeface="Cambria Math"/>
                                        </a:rPr>
                                        <m:t>∞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𝑇</m:t>
                              </m:r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GB" sz="1600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GB" sz="1600" i="1">
                                      <a:latin typeface="Cambria Math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m:rPr/>
                                    <a:rPr lang="en-GB" sz="1600" i="1">
                                      <a:latin typeface="Cambria Math"/>
                                    </a:rPr>
                                    <m:t>∞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</mc:Choice>
              <mc:Fallback/>
            </mc:AlternateContent>
            <a:endParaRPr lang="en-US" sz="1600">
              <a:latin typeface="Helvetica"/>
            </a:endParaRPr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lang="en-US" sz="1600">
                <a:latin typeface="Helvetica"/>
              </a:rPr>
              <a:t>And after performing the integration we get:</a:t>
            </a:r>
            <a:endParaRPr/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centerGroup"/>
                    </m:oMathParaPr>
                    <m:oMath>
                      <m:r>
                        <m:rPr/>
                        <a:rPr lang="en-GB" sz="1600" b="0" i="1">
                          <a:latin typeface="Cambria Math"/>
                        </a:rPr>
                        <m:t>−</m:t>
                      </m:r>
                      <m:f>
                        <m:fPr>
                          <m:ctrlPr>
                            <a:rPr lang="en-GB" sz="160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/>
                            <a:rPr lang="en-GB" sz="1600" i="1">
                              <a:latin typeface="Cambria Math"/>
                            </a:rPr>
                            <m:t>h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𝐴</m:t>
                              </m:r>
                            </m:e>
                            <m:sub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m:rPr/>
                            <a:rPr lang="en-GB" sz="1600" i="1">
                              <a:latin typeface="Cambria Math"/>
                            </a:rPr>
                            <m:t>𝜌</m:t>
                          </m:r>
                          <m:r>
                            <m:rPr/>
                            <a:rPr lang="en-GB" sz="1600" i="1">
                              <a:latin typeface="Cambria Math"/>
                            </a:rPr>
                            <m:t>𝑉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𝐶</m:t>
                              </m:r>
                            </m:e>
                            <m:sub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m:rPr/>
                        <a:rPr lang="en-GB" sz="1600" b="0" i="1">
                          <a:latin typeface="Cambria Math"/>
                        </a:rPr>
                        <m:t>𝑡</m:t>
                      </m:r>
                      <m:r>
                        <m:rPr/>
                        <a:rPr lang="en-GB" sz="1600" b="0" i="1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en-GB" sz="16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1600" b="0" i="0">
                              <a:latin typeface="Cambria Math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sz="16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sz="1600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m:rPr/>
                                    <a:rPr lang="en-GB" sz="1600" i="1">
                                      <a:latin typeface="Cambria Math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GB" sz="1600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/>
                                        <a:rPr lang="en-GB" sz="1600" i="1">
                                          <a:latin typeface="Cambria Math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m:rPr/>
                                    <a:rPr lang="en-GB" sz="1600" i="1">
                                      <a:latin typeface="Cambria Math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GB" sz="1600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en-GB" sz="1600" i="1">
                                          <a:latin typeface="Cambria Math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en-GB" sz="1600" i="1">
                                          <a:latin typeface="Cambria Math"/>
                                        </a:rPr>
                                        <m:t>∞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GB" sz="1600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en-GB" sz="1600" i="1">
                                          <a:latin typeface="Cambria Math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en-GB" sz="1600" i="1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m:rPr/>
                                    <a:rPr lang="en-GB" sz="1600" i="1">
                                      <a:latin typeface="Cambria Math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GB" sz="1600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en-GB" sz="1600" i="1">
                                          <a:latin typeface="Cambria Math"/>
                                        </a:rPr>
                                        <m:t>𝑇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en-GB" sz="1600" i="1">
                                          <a:latin typeface="Cambria Math"/>
                                        </a:rPr>
                                        <m:t>∞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</mc:Choice>
              <mc:Fallback/>
            </mc:AlternateContent>
            <a:endParaRPr lang="en-US" sz="1600">
              <a:latin typeface="Helvetica"/>
            </a:endParaRPr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lang="en-US" sz="1600">
                <a:latin typeface="Helvetica"/>
              </a:rPr>
              <a:t>Taking the exponential of both sides and rearranging leaves us with the desired result:</a:t>
            </a:r>
            <a:endParaRPr/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centerGroup"/>
                    </m:oMathParaPr>
                    <m:oMath>
                      <m:borderBox>
                        <m:borderBoxPr>
                          <m:ctrlPr>
                            <a:rPr lang="en-GB" sz="1600" b="1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borderBoxPr>
                        <m:e>
                          <m:f>
                            <m:fPr>
                              <m:ctrlPr>
                                <a:rPr lang="en-GB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/>
                                <a:rPr lang="en-GB" sz="1600" b="1" i="1">
                                  <a:latin typeface="Cambria Math"/>
                                </a:rPr>
                                <m:t>𝑻</m:t>
                              </m:r>
                              <m:d>
                                <m:dPr>
                                  <m:ctrlPr>
                                    <a:rPr lang="en-GB" sz="16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m:rPr/>
                                    <a:rPr lang="en-GB" sz="1600" b="1" i="1">
                                      <a:latin typeface="Cambria Math"/>
                                    </a:rPr>
                                    <m:t>𝒕</m:t>
                                  </m:r>
                                </m:e>
                              </m:d>
                              <m:r>
                                <m:rPr/>
                                <a:rPr lang="en-GB" sz="1600" b="1" i="1">
                                  <a:latin typeface="Cambria Math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GB" sz="16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GB" sz="1600" b="1" i="1">
                                      <a:latin typeface="Cambria Math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m:rPr/>
                                    <a:rPr lang="en-GB" sz="1600" b="1" i="1">
                                      <a:latin typeface="Cambria Math"/>
                                    </a:rPr>
                                    <m:t>∞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GB" sz="16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GB" sz="1600" b="1" i="1">
                                      <a:latin typeface="Cambria Math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m:rPr/>
                                    <a:rPr lang="en-GB" sz="1600" b="1" i="1">
                                      <a:latin typeface="Cambria Math"/>
                                    </a:rPr>
                                    <m:t>𝒊</m:t>
                                  </m:r>
                                </m:sub>
                              </m:sSub>
                              <m:r>
                                <m:rPr/>
                                <a:rPr lang="en-GB" sz="1600" b="1" i="1">
                                  <a:latin typeface="Cambria Math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GB" sz="1600" b="1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/>
                                    <a:rPr lang="en-GB" sz="1600" b="1" i="1">
                                      <a:latin typeface="Cambria Math"/>
                                    </a:rPr>
                                    <m:t>𝑻</m:t>
                                  </m:r>
                                </m:e>
                                <m:sub>
                                  <m:r>
                                    <m:rPr/>
                                    <a:rPr lang="en-GB" sz="1600" b="1" i="1">
                                      <a:latin typeface="Cambria Math"/>
                                    </a:rPr>
                                    <m:t>∞</m:t>
                                  </m:r>
                                </m:sub>
                              </m:sSub>
                            </m:den>
                          </m:f>
                          <m:r>
                            <m:rPr/>
                            <a:rPr lang="en-GB" sz="1600" b="1" i="1">
                              <a:latin typeface="Cambria Math"/>
                            </a:rPr>
                            <m:t>=</m:t>
                          </m:r>
                          <m:sSup>
                            <m:sSupPr>
                              <m:ctrlPr>
                                <a:rPr lang="en-GB" sz="1600" b="1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GB" sz="1600" b="1" i="1">
                                  <a:latin typeface="Cambria Math"/>
                                </a:rPr>
                                <m:t>𝒆</m:t>
                              </m:r>
                            </m:e>
                            <m:sup>
                              <m:r>
                                <m:rPr/>
                                <a:rPr lang="en-GB" sz="1600" b="1" i="1">
                                  <a:latin typeface="Cambria Math"/>
                                </a:rPr>
                                <m:t>−</m:t>
                              </m:r>
                              <m:r>
                                <m:rPr/>
                                <a:rPr lang="en-GB" sz="1600" b="1" i="1">
                                  <a:latin typeface="Cambria Math"/>
                                </a:rPr>
                                <m:t>𝒃𝒕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mc:Choice>
              <mc:Fallback/>
            </mc:AlternateContent>
            <a:endParaRPr lang="en-US" sz="1600" b="1">
              <a:latin typeface="Helvetica"/>
            </a:endParaRPr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lang="en-US" sz="1600">
                <a:latin typeface="Helvetica"/>
              </a:rPr>
              <a:t>where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sz="1600" b="0" i="1">
                          <a:latin typeface="Cambria Math"/>
                        </a:rPr>
                        <m:t>𝑏</m:t>
                      </m:r>
                      <m:r>
                        <m:rPr/>
                        <a:rPr lang="en-GB" sz="1600" b="0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GB" sz="160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/>
                            <a:rPr lang="en-GB" sz="1600" i="1">
                              <a:latin typeface="Cambria Math"/>
                            </a:rPr>
                            <m:t>h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𝐴</m:t>
                              </m:r>
                            </m:e>
                            <m:sub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m:rPr/>
                            <a:rPr lang="en-GB" sz="1600" i="1">
                              <a:latin typeface="Cambria Math"/>
                            </a:rPr>
                            <m:t>𝜌</m:t>
                          </m:r>
                          <m:r>
                            <m:rPr/>
                            <a:rPr lang="en-GB" sz="1600" i="1">
                              <a:latin typeface="Cambria Math"/>
                            </a:rPr>
                            <m:t>𝑉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𝐶</m:t>
                              </m:r>
                            </m:e>
                            <m:sub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mc:Choice>
              <mc:Fallback/>
            </mc:AlternateContent>
            <a:endParaRPr lang="en-US" sz="1600" b="1">
              <a:latin typeface="Helvetica"/>
            </a:endParaRPr>
          </a:p>
        </p:txBody>
      </p:sp>
      <p:sp>
        <p:nvSpPr>
          <p:cNvPr id="1034508666" name="TextBox 2"/>
          <p:cNvSpPr/>
          <p:nvPr/>
        </p:nvSpPr>
        <p:spPr bwMode="auto">
          <a:xfrm>
            <a:off x="1056005" y="1298574"/>
            <a:ext cx="10079990" cy="4000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spcAft>
                <a:spcPts val="600"/>
              </a:spcAft>
              <a:defRPr/>
            </a:pPr>
            <a:r>
              <a:rPr sz="2000" b="1" cap="none">
                <a:solidFill>
                  <a:srgbClr val="FF9900"/>
                </a:solidFill>
                <a:latin typeface="Helvetica"/>
                <a:ea typeface="Calibri"/>
                <a:cs typeface="Calibri"/>
              </a:rPr>
              <a:t>Example with a sphere (cotd)</a:t>
            </a:r>
            <a:endParaRPr sz="2000" b="1" cap="none">
              <a:solidFill>
                <a:srgbClr val="FF9900"/>
              </a:solidFill>
              <a:latin typeface="Helvetica"/>
              <a:ea typeface="Calibri"/>
              <a:cs typeface="Calibri"/>
            </a:endParaRPr>
          </a:p>
        </p:txBody>
      </p:sp>
      <p:sp>
        <p:nvSpPr>
          <p:cNvPr id="247465806" name="Slide Number Placeholder 17"/>
          <p:cNvSpPr/>
          <p:nvPr/>
        </p:nvSpPr>
        <p:spPr bwMode="auto">
          <a:xfrm>
            <a:off x="448945" y="6356350"/>
            <a:ext cx="4434840" cy="3651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ctr"/>
          <a:lstStyle>
            <a:lvl1pPr marL="0" algn="r" defTabSz="457200">
              <a:defRPr sz="1200" cap="none">
                <a:solidFill>
                  <a:srgbClr val="8C8C8C"/>
                </a:solidFill>
                <a:latin typeface="Calibri"/>
                <a:ea typeface="Calibri"/>
                <a:cs typeface="Calibri"/>
              </a:defRPr>
            </a:lvl1pPr>
            <a:lvl2pPr marL="457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2pPr>
            <a:lvl3pPr marL="914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3pPr>
            <a:lvl4pPr marL="1371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4pPr>
            <a:lvl5pPr marL="18288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5pPr>
            <a:lvl6pPr marL="22860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6pPr>
            <a:lvl7pPr marL="2743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7pPr>
            <a:lvl8pPr marL="3200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8pPr>
            <a:lvl9pPr marL="3657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/>
            </a:pPr>
            <a:r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EX3030/EM40JN</a:t>
            </a:r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028683" name="Title 3"/>
          <p:cNvSpPr>
            <a:spLocks noChangeArrowheads="1" noGrp="1"/>
          </p:cNvSpPr>
          <p:nvPr>
            <p:ph type="ctrTitle"/>
          </p:nvPr>
        </p:nvSpPr>
        <p:spPr bwMode="auto">
          <a:xfrm>
            <a:off x="0" y="360045"/>
            <a:ext cx="12192000" cy="7080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sz="4000" cap="none">
                <a:latin typeface="Helvetica"/>
                <a:ea typeface="Verdana"/>
                <a:cs typeface="Helvetica"/>
              </a:rPr>
              <a:t>Estimating Heat Transfer</a:t>
            </a:r>
            <a:endParaRPr sz="4000" cap="none">
              <a:latin typeface="Helvetica"/>
              <a:ea typeface="Verdana"/>
              <a:cs typeface="Helvetica"/>
            </a:endParaRPr>
          </a:p>
        </p:txBody>
      </p:sp>
      <p:sp>
        <p:nvSpPr>
          <p:cNvPr id="901008330" name="Slide Number Placeholder 17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8999855" y="6356350"/>
            <a:ext cx="2743200" cy="365125"/>
          </a:xfrm>
        </p:spPr>
        <p:txBody>
          <a:bodyPr/>
          <a:lstStyle/>
          <a:p>
            <a:pPr>
              <a:defRPr/>
            </a:pPr>
            <a:fld id="{3E21E6DC-92D3-7410-9D99-6445A8D76B31}" type="slidenum"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11</a:t>
            </a:fld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1298518549" name="Picture 8" descr="A picture containing text, clipart&#10;&#10;Description automatically generated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48945" y="360045"/>
            <a:ext cx="1967865" cy="5397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081798039" name="TextBox 1"/>
          <p:cNvSpPr/>
          <p:nvPr/>
        </p:nvSpPr>
        <p:spPr bwMode="auto">
          <a:xfrm>
            <a:off x="1056005" y="2312035"/>
            <a:ext cx="10079990" cy="3430905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lang="en-GB">
                <a:latin typeface="Helvetica"/>
              </a:rPr>
              <a:t>Once we get the temperature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b="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GB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GB" b="0" i="1">
                              <a:latin typeface="Cambria Math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US">
                <a:latin typeface="Helvetica"/>
              </a:rPr>
              <a:t> from the governing equation that we just derived, it becomes possible to estimate the convection </a:t>
            </a:r>
            <a:r>
              <a:rPr lang="en-US" b="1">
                <a:latin typeface="Helvetica"/>
              </a:rPr>
              <a:t>heat transfer rate </a:t>
            </a:r>
            <a:r>
              <a:rPr lang="en-US">
                <a:latin typeface="Helvetica"/>
              </a:rPr>
              <a:t>between the body and its environment</a:t>
            </a:r>
            <a:endParaRPr/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centerGroup"/>
                    </m:oMathParaPr>
                    <m:oMath>
                      <m:acc>
                        <m:accPr>
                          <m:chr m:val="̇"/>
                          <m:ctrlPr>
                            <a:rPr lang="en-GB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/>
                            <a:rPr lang="en-GB" i="1">
                              <a:latin typeface="Cambria Math"/>
                            </a:rPr>
                            <m:t>𝑄</m:t>
                          </m:r>
                        </m:e>
                      </m:acc>
                      <m:d>
                        <m:dPr>
                          <m:ctrlPr>
                            <a:rPr lang="en-GB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GB" b="0" i="1">
                              <a:latin typeface="Cambria Math"/>
                            </a:rPr>
                            <m:t>𝑡</m:t>
                          </m:r>
                        </m:e>
                      </m:d>
                      <m:r>
                        <m:rPr/>
                        <a:rPr lang="en-GB" b="0" i="1">
                          <a:latin typeface="Cambria Math"/>
                        </a:rPr>
                        <m:t>=</m:t>
                      </m:r>
                      <m:r>
                        <m:rPr/>
                        <a:rPr lang="en-GB" b="0" i="1">
                          <a:latin typeface="Cambria Math"/>
                        </a:rPr>
                        <m:t>h</m:t>
                      </m:r>
                      <m:sSub>
                        <m:sSubPr>
                          <m:ctrlPr>
                            <a:rPr lang="en-GB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GB" b="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m:rPr/>
                            <a:rPr lang="en-GB" b="0" i="1">
                              <a:latin typeface="Cambria Math"/>
                            </a:rPr>
                            <m:t>𝑠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GB" i="1">
                              <a:latin typeface="Cambria Math"/>
                            </a:rPr>
                            <m:t>𝑇</m:t>
                          </m:r>
                          <m:d>
                            <m:dPr>
                              <m:ctrlPr>
                                <a:rPr lang="en-GB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GB" i="1">
                                  <a:latin typeface="Cambria Math"/>
                                </a:rPr>
                                <m:t>𝑡</m:t>
                              </m:r>
                            </m:e>
                          </m:d>
                          <m:r>
                            <m:rPr/>
                            <a:rPr lang="en-GB" i="1">
                              <a:latin typeface="Cambria Math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m:rPr/>
                                <a:rPr lang="en-GB" i="1">
                                  <a:latin typeface="Cambria Math"/>
                                </a:rPr>
                                <m:t>∞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>
              <a:latin typeface="Helvetica"/>
            </a:endParaRPr>
          </a:p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lang="en-US">
                <a:latin typeface="Helvetica"/>
              </a:rPr>
              <a:t>Likewise, the </a:t>
            </a:r>
            <a:r>
              <a:rPr lang="en-US" b="1">
                <a:latin typeface="Helvetica"/>
              </a:rPr>
              <a:t>total amount of heat transfer </a:t>
            </a:r>
            <a:r>
              <a:rPr lang="en-US">
                <a:latin typeface="Helvetica"/>
              </a:rPr>
              <a:t>between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b="0" i="1">
                          <a:latin typeface="Cambria Math"/>
                        </a:rPr>
                        <m:t>𝑡</m:t>
                      </m:r>
                      <m:r>
                        <m:rPr/>
                        <a:rPr lang="en-GB" b="0" i="1">
                          <a:latin typeface="Cambria Math"/>
                        </a:rPr>
                        <m:t>=0</m:t>
                      </m:r>
                    </m:oMath>
                  </m:oMathPara>
                </a14:m>
              </mc:Choice>
              <mc:Fallback/>
            </mc:AlternateContent>
            <a:r>
              <a:rPr lang="en-US">
                <a:latin typeface="Helvetica"/>
              </a:rPr>
              <a:t> and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b="0" i="1">
                          <a:latin typeface="Cambria Math"/>
                        </a:rPr>
                        <m:t>𝑡</m:t>
                      </m:r>
                    </m:oMath>
                  </m:oMathPara>
                </a14:m>
              </mc:Choice>
              <mc:Fallback/>
            </mc:AlternateContent>
            <a:r>
              <a:rPr lang="en-US">
                <a:latin typeface="Helvetica"/>
              </a:rPr>
              <a:t> is simply:</a:t>
            </a:r>
            <a:endParaRPr/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centerGroup"/>
                    </m:oMathParaPr>
                    <m:oMath>
                      <m:r>
                        <m:rPr/>
                        <a:rPr lang="en-GB" b="0" i="1">
                          <a:latin typeface="Cambria Math"/>
                        </a:rPr>
                        <m:t>𝑄</m:t>
                      </m:r>
                      <m:r>
                        <m:rPr/>
                        <a:rPr lang="en-GB" b="0" i="1">
                          <a:latin typeface="Cambria Math"/>
                        </a:rPr>
                        <m:t>=</m:t>
                      </m:r>
                      <m:r>
                        <m:rPr/>
                        <a:rPr lang="en-GB" b="0" i="1">
                          <a:latin typeface="Cambria Math"/>
                        </a:rPr>
                        <m:t>𝑚</m:t>
                      </m:r>
                      <m:sSub>
                        <m:sSubPr>
                          <m:ctrlPr>
                            <a:rPr lang="en-GB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GB" b="0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m:rPr/>
                            <a:rPr lang="en-GB" b="0" i="1">
                              <a:latin typeface="Cambria Math"/>
                            </a:rPr>
                            <m:t>𝑝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GB" i="1">
                              <a:latin typeface="Cambria Math"/>
                            </a:rPr>
                            <m:t>𝑇</m:t>
                          </m:r>
                          <m:d>
                            <m:dPr>
                              <m:ctrlPr>
                                <a:rPr lang="en-GB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m:rPr/>
                                <a:rPr lang="en-GB" i="1">
                                  <a:latin typeface="Cambria Math"/>
                                </a:rPr>
                                <m:t>𝑡</m:t>
                              </m:r>
                            </m:e>
                          </m:d>
                          <m:r>
                            <m:rPr/>
                            <a:rPr lang="en-GB" i="1">
                              <a:latin typeface="Cambria Math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m:rPr/>
                                <a:rPr lang="en-GB" b="0" i="1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>
              <a:latin typeface="Helvetica"/>
            </a:endParaRPr>
          </a:p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lang="en-US">
                <a:latin typeface="Helvetica"/>
              </a:rPr>
              <a:t>And the </a:t>
            </a:r>
            <a:r>
              <a:rPr lang="en-US" b="1">
                <a:latin typeface="Helvetica"/>
              </a:rPr>
              <a:t>maximum heat transfer </a:t>
            </a:r>
            <a:r>
              <a:rPr lang="en-US">
                <a:latin typeface="Helvetica"/>
              </a:rPr>
              <a:t>between the body and its surroundings is:</a:t>
            </a:r>
            <a:endParaRPr/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centerGroup"/>
                    </m:oMathParaPr>
                    <m:oMath>
                      <m:sSub>
                        <m:sSubPr>
                          <m:ctrlPr>
                            <a:rPr lang="en-GB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GB" b="0" i="1">
                              <a:latin typeface="Cambria Math"/>
                            </a:rPr>
                            <m:t>𝑄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GB" b="0" i="0">
                              <a:latin typeface="Cambria Math"/>
                            </a:rPr>
                            <m:t>max</m:t>
                          </m:r>
                        </m:sub>
                      </m:sSub>
                      <m:r>
                        <m:rPr/>
                        <a:rPr lang="en-GB" i="1">
                          <a:latin typeface="Cambria Math"/>
                        </a:rPr>
                        <m:t>=</m:t>
                      </m:r>
                      <m:r>
                        <m:rPr/>
                        <a:rPr lang="en-GB" b="0" i="1">
                          <a:latin typeface="Cambria Math"/>
                        </a:rPr>
                        <m:t>𝑚</m:t>
                      </m:r>
                      <m:sSub>
                        <m:sSubPr>
                          <m:ctrlPr>
                            <a:rPr lang="en-GB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GB" b="0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m:rPr/>
                            <a:rPr lang="en-GB" b="0" i="1">
                              <a:latin typeface="Cambria Math"/>
                            </a:rPr>
                            <m:t>𝑝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GB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m:rPr/>
                                <a:rPr lang="en-GB" b="0" i="1">
                                  <a:latin typeface="Cambria Math"/>
                                </a:rPr>
                                <m:t>∞</m:t>
                              </m:r>
                            </m:sub>
                          </m:sSub>
                          <m:r>
                            <m:rPr/>
                            <a:rPr lang="en-GB" i="1">
                              <a:latin typeface="Cambria Math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m:rPr/>
                                <a:rPr lang="en-GB" b="0" i="1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mc:Choice>
              <mc:Fallback/>
            </mc:AlternateContent>
            <a:endParaRPr lang="en-US">
              <a:latin typeface="Helvetica"/>
            </a:endParaRPr>
          </a:p>
        </p:txBody>
      </p:sp>
      <p:sp>
        <p:nvSpPr>
          <p:cNvPr id="1340650909" name="TextBox 2"/>
          <p:cNvSpPr/>
          <p:nvPr/>
        </p:nvSpPr>
        <p:spPr bwMode="auto">
          <a:xfrm>
            <a:off x="1056005" y="1490345"/>
            <a:ext cx="10079990" cy="4000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spcAft>
                <a:spcPts val="600"/>
              </a:spcAft>
              <a:defRPr/>
            </a:pPr>
            <a:r>
              <a:rPr sz="2000" b="1" cap="none">
                <a:solidFill>
                  <a:srgbClr val="FF9900"/>
                </a:solidFill>
                <a:latin typeface="Helvetica"/>
                <a:ea typeface="Calibri"/>
                <a:cs typeface="Calibri"/>
              </a:rPr>
              <a:t>Example with a sphere (cotd)</a:t>
            </a:r>
            <a:endParaRPr sz="2000" b="1" cap="none">
              <a:solidFill>
                <a:srgbClr val="FF9900"/>
              </a:solidFill>
              <a:latin typeface="Helvetica"/>
              <a:ea typeface="Calibri"/>
              <a:cs typeface="Calibri"/>
            </a:endParaRPr>
          </a:p>
        </p:txBody>
      </p:sp>
      <p:sp>
        <p:nvSpPr>
          <p:cNvPr id="973359212" name="Slide Number Placeholder 17"/>
          <p:cNvSpPr/>
          <p:nvPr/>
        </p:nvSpPr>
        <p:spPr bwMode="auto">
          <a:xfrm>
            <a:off x="448945" y="6356350"/>
            <a:ext cx="4434840" cy="3651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ctr"/>
          <a:lstStyle>
            <a:lvl1pPr marL="0" algn="r" defTabSz="457200">
              <a:defRPr sz="1200" cap="none">
                <a:solidFill>
                  <a:srgbClr val="8C8C8C"/>
                </a:solidFill>
                <a:latin typeface="Calibri"/>
                <a:ea typeface="Calibri"/>
                <a:cs typeface="Calibri"/>
              </a:defRPr>
            </a:lvl1pPr>
            <a:lvl2pPr marL="457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2pPr>
            <a:lvl3pPr marL="914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3pPr>
            <a:lvl4pPr marL="1371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4pPr>
            <a:lvl5pPr marL="18288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5pPr>
            <a:lvl6pPr marL="22860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6pPr>
            <a:lvl7pPr marL="2743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7pPr>
            <a:lvl8pPr marL="3200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8pPr>
            <a:lvl9pPr marL="3657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/>
            </a:pPr>
            <a:r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EX3030/EM40JN</a:t>
            </a:r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508280" name="Title 3"/>
          <p:cNvSpPr>
            <a:spLocks noChangeArrowheads="1" noGrp="1"/>
          </p:cNvSpPr>
          <p:nvPr>
            <p:ph type="ctrTitle"/>
          </p:nvPr>
        </p:nvSpPr>
        <p:spPr bwMode="auto">
          <a:xfrm>
            <a:off x="0" y="360045"/>
            <a:ext cx="12192000" cy="7080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sz="4000" cap="none">
                <a:latin typeface="Helvetica"/>
                <a:ea typeface="Verdana"/>
                <a:cs typeface="Helvetica"/>
              </a:rPr>
              <a:t>The Time Constant Term</a:t>
            </a:r>
            <a:endParaRPr sz="4000" cap="none">
              <a:latin typeface="Helvetica"/>
              <a:ea typeface="Verdana"/>
              <a:cs typeface="Helvetica"/>
            </a:endParaRPr>
          </a:p>
        </p:txBody>
      </p:sp>
      <p:sp>
        <p:nvSpPr>
          <p:cNvPr id="1731990868" name="Slide Number Placeholder 17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8999855" y="6356350"/>
            <a:ext cx="2743200" cy="365125"/>
          </a:xfrm>
        </p:spPr>
        <p:txBody>
          <a:bodyPr/>
          <a:lstStyle/>
          <a:p>
            <a:pPr>
              <a:defRPr/>
            </a:pPr>
            <a:fld id="{66171B36-788B-42ED-C5AF-8EB855E133DB}" type="slidenum"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12</a:t>
            </a:fld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1639981597" name="Picture 8" descr="A picture containing text, clipart&#10;&#10;Description automatically generated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48945" y="360045"/>
            <a:ext cx="1967865" cy="5397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505176023" name="TextBox 1"/>
          <p:cNvSpPr/>
          <p:nvPr/>
        </p:nvSpPr>
        <p:spPr bwMode="auto">
          <a:xfrm>
            <a:off x="2666365" y="5770880"/>
            <a:ext cx="6852920" cy="58547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sz="1400" cap="none">
                <a:solidFill>
                  <a:srgbClr val="767272"/>
                </a:solidFill>
                <a:latin typeface="Helvetica"/>
                <a:ea typeface="Calibri"/>
                <a:cs typeface="Helvetica"/>
              </a:rPr>
              <a:t>Example of the effect of the time constant </a:t>
            </a:r>
            <a:r>
              <a:rPr sz="1400" i="1" cap="none">
                <a:solidFill>
                  <a:srgbClr val="767272"/>
                </a:solidFill>
                <a:latin typeface="Helvetica"/>
                <a:ea typeface="Calibri"/>
                <a:cs typeface="Helvetica"/>
              </a:rPr>
              <a:t>b</a:t>
            </a:r>
            <a:r>
              <a:rPr sz="1400" cap="none">
                <a:solidFill>
                  <a:srgbClr val="767272"/>
                </a:solidFill>
                <a:latin typeface="Helvetica"/>
                <a:ea typeface="Calibri"/>
                <a:cs typeface="Helvetica"/>
              </a:rPr>
              <a:t> on the cooling rate of an object in a ‘lumped system’. The values chosen in the example are for illustrative purposes only</a:t>
            </a:r>
            <a:endParaRPr sz="1400" cap="none">
              <a:solidFill>
                <a:srgbClr val="767272"/>
              </a:solidFill>
              <a:latin typeface="Helvetica"/>
              <a:ea typeface="Calibri"/>
              <a:cs typeface="Helvetica"/>
            </a:endParaRPr>
          </a:p>
        </p:txBody>
      </p:sp>
      <p:sp>
        <p:nvSpPr>
          <p:cNvPr id="1424033935" name="Slide Number Placeholder 17"/>
          <p:cNvSpPr/>
          <p:nvPr/>
        </p:nvSpPr>
        <p:spPr bwMode="auto">
          <a:xfrm>
            <a:off x="448945" y="6356350"/>
            <a:ext cx="4434840" cy="3651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ctr"/>
          <a:lstStyle>
            <a:lvl1pPr marL="0" algn="r" defTabSz="457200">
              <a:defRPr sz="1200" cap="none">
                <a:solidFill>
                  <a:srgbClr val="8C8C8C"/>
                </a:solidFill>
                <a:latin typeface="Calibri"/>
                <a:ea typeface="Calibri"/>
                <a:cs typeface="Calibri"/>
              </a:defRPr>
            </a:lvl1pPr>
            <a:lvl2pPr marL="457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2pPr>
            <a:lvl3pPr marL="914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3pPr>
            <a:lvl4pPr marL="1371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4pPr>
            <a:lvl5pPr marL="18288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5pPr>
            <a:lvl6pPr marL="22860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6pPr>
            <a:lvl7pPr marL="2743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7pPr>
            <a:lvl8pPr marL="3200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8pPr>
            <a:lvl9pPr marL="3657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/>
            </a:pPr>
            <a:r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EX3030/EM40JN</a:t>
            </a:r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78349404" name="Picture 6" descr="A screenshot of a computer&#10;&#10;Description automatically generated with medium confidence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3099435" y="2450465"/>
            <a:ext cx="5475605" cy="3178175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8579462" name="TextBox 23"/>
          <p:cNvSpPr/>
          <p:nvPr/>
        </p:nvSpPr>
        <p:spPr bwMode="auto">
          <a:xfrm>
            <a:off x="1817370" y="1351915"/>
            <a:ext cx="8550275" cy="956945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en-GB" sz="1600">
                <a:latin typeface="Helvetica"/>
                <a:cs typeface="Helvetica"/>
              </a:rPr>
              <a:t>Rearranging the general equation in terms of temperature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sz="1600" b="0" i="1">
                          <a:latin typeface="Cambria Math"/>
                          <a:cs typeface="Helvetica"/>
                        </a:rPr>
                        <m:t>𝑇</m:t>
                      </m:r>
                      <m:d>
                        <m:dPr>
                          <m:ctrlPr>
                            <a:rPr lang="en-GB" sz="1600" b="0" i="1">
                              <a:latin typeface="Cambria Math"/>
                              <a:ea typeface="Cambria Math"/>
                              <a:cs typeface="Helvetica"/>
                            </a:rPr>
                          </m:ctrlPr>
                        </m:dPr>
                        <m:e>
                          <m:r>
                            <m:rPr/>
                            <a:rPr lang="en-GB" sz="1600" b="0" i="1">
                              <a:latin typeface="Cambria Math"/>
                              <a:cs typeface="Helvetica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</mc:Choice>
              <mc:Fallback/>
            </mc:AlternateContent>
            <a:r>
              <a:rPr lang="en-GB" sz="1600">
                <a:latin typeface="Helvetica"/>
                <a:cs typeface="Helvetica"/>
              </a:rPr>
              <a:t>:</a:t>
            </a:r>
            <a:endParaRPr/>
          </a:p>
          <a:p>
            <a:pPr algn="ctr">
              <a:lnSpc>
                <a:spcPct val="120000"/>
              </a:lnSpc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centerGroup"/>
                    </m:oMathParaPr>
                    <m:oMath>
                      <m:r>
                        <m:rPr/>
                        <a:rPr lang="en-GB" sz="1600" i="1">
                          <a:latin typeface="Cambria Math"/>
                        </a:rPr>
                        <m:t>𝑇</m:t>
                      </m:r>
                      <m:d>
                        <m:dPr>
                          <m:ctrlPr>
                            <a:rPr lang="en-GB" sz="160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/>
                            <a:rPr lang="en-GB" sz="1600" i="1">
                              <a:latin typeface="Cambria Math"/>
                            </a:rPr>
                            <m:t>𝑡</m:t>
                          </m:r>
                        </m:e>
                      </m:d>
                      <m:r>
                        <m:rPr/>
                        <a:rPr lang="en-GB" sz="1600" i="1">
                          <a:latin typeface="Cambria Math"/>
                        </a:rPr>
                        <m:t> =</m:t>
                      </m:r>
                      <m:d>
                        <m:dPr>
                          <m:ctrlPr>
                            <a:rPr lang="en-GB" sz="16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sz="160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  <m:r>
                            <m:rPr/>
                            <a:rPr lang="en-GB" sz="1600" i="1">
                              <a:latin typeface="Cambria Math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GB" sz="160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𝑇</m:t>
                              </m:r>
                            </m:e>
                            <m:sub>
                              <m:r>
                                <m:rPr/>
                                <a:rPr lang="en-GB" sz="1600" i="1">
                                  <a:latin typeface="Cambria Math"/>
                                </a:rPr>
                                <m:t>∞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GB" sz="160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/>
                            <a:rPr lang="en-GB" sz="1600" b="0" i="1">
                              <a:latin typeface="Cambria Math"/>
                            </a:rPr>
                            <m:t>𝑒</m:t>
                          </m:r>
                        </m:e>
                        <m:sup>
                          <m:r>
                            <m:rPr/>
                            <a:rPr lang="en-GB" sz="1600" b="0" i="1">
                              <a:latin typeface="Cambria Math"/>
                            </a:rPr>
                            <m:t>−</m:t>
                          </m:r>
                          <m:r>
                            <m:rPr/>
                            <a:rPr lang="en-GB" sz="1600" b="0" i="1">
                              <a:latin typeface="Cambria Math"/>
                            </a:rPr>
                            <m:t>𝑏𝑡</m:t>
                          </m:r>
                        </m:sup>
                      </m:sSup>
                      <m:r>
                        <m:rPr/>
                        <a:rPr lang="en-GB" sz="1600" b="0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GB" sz="16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GB" sz="1600" b="0" i="1">
                              <a:latin typeface="Cambria Math"/>
                            </a:rPr>
                            <m:t>𝑇</m:t>
                          </m:r>
                        </m:e>
                        <m:sub>
                          <m:r>
                            <m:rPr/>
                            <a:rPr lang="en-GB" sz="1600" b="0" i="1">
                              <a:latin typeface="Cambria Math"/>
                            </a:rPr>
                            <m:t>∞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lang="en-GB" sz="1600">
              <a:latin typeface="Helvetica"/>
              <a:cs typeface="Helvetica"/>
            </a:endParaRPr>
          </a:p>
          <a:p>
            <a:pPr algn="ctr">
              <a:lnSpc>
                <a:spcPct val="120000"/>
              </a:lnSpc>
              <a:defRPr/>
            </a:pPr>
            <a:r>
              <a:rPr lang="en-GB" sz="1600">
                <a:latin typeface="Helvetica"/>
                <a:cs typeface="Helvetica"/>
              </a:rPr>
              <a:t>and plotting the results for selected values of the time constant term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sz="1600" b="0" i="1">
                          <a:latin typeface="Cambria Math"/>
                          <a:cs typeface="Helvetica"/>
                        </a:rPr>
                        <m:t>𝑏</m:t>
                      </m:r>
                    </m:oMath>
                  </m:oMathPara>
                </a14:m>
              </mc:Choice>
              <mc:Fallback/>
            </mc:AlternateContent>
            <a:r>
              <a:rPr lang="en-GB" sz="1600">
                <a:latin typeface="Helvetica"/>
                <a:cs typeface="Helvetica"/>
              </a:rPr>
              <a:t>: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7406048" name="Title 3"/>
          <p:cNvSpPr>
            <a:spLocks noChangeArrowheads="1" noGrp="1"/>
          </p:cNvSpPr>
          <p:nvPr>
            <p:ph type="ctrTitle"/>
          </p:nvPr>
        </p:nvSpPr>
        <p:spPr bwMode="auto">
          <a:xfrm>
            <a:off x="0" y="360045"/>
            <a:ext cx="12192000" cy="7080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sz="4000" cap="none">
                <a:latin typeface="Helvetica"/>
                <a:ea typeface="Verdana"/>
                <a:cs typeface="Helvetica"/>
              </a:rPr>
              <a:t>General Observations</a:t>
            </a:r>
            <a:endParaRPr sz="4000" cap="none">
              <a:latin typeface="Helvetica"/>
              <a:ea typeface="Verdana"/>
              <a:cs typeface="Helvetica"/>
            </a:endParaRPr>
          </a:p>
        </p:txBody>
      </p:sp>
      <p:sp>
        <p:nvSpPr>
          <p:cNvPr id="1210530864" name="Slide Number Placeholder 17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8999855" y="6356350"/>
            <a:ext cx="2743200" cy="365125"/>
          </a:xfrm>
        </p:spPr>
        <p:txBody>
          <a:bodyPr/>
          <a:lstStyle/>
          <a:p>
            <a:pPr>
              <a:defRPr/>
            </a:pPr>
            <a:fld id="{7E4A67FD-B393-1F91-DDF2-45C429BC2B10}" type="slidenum"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13</a:t>
            </a:fld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1392562835" name="Picture 8" descr="A picture containing text, clipart&#10;&#10;Description automatically generated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48945" y="360045"/>
            <a:ext cx="1967865" cy="5397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048530" name="TextBox 2"/>
          <p:cNvSpPr/>
          <p:nvPr/>
        </p:nvSpPr>
        <p:spPr bwMode="auto">
          <a:xfrm>
            <a:off x="2376170" y="1714500"/>
            <a:ext cx="7439660" cy="3429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spcAft>
                <a:spcPts val="600"/>
              </a:spcAft>
              <a:defRPr/>
            </a:pPr>
            <a:r>
              <a:rPr sz="2000" b="1" cap="none">
                <a:solidFill>
                  <a:srgbClr val="FF9900"/>
                </a:solidFill>
                <a:latin typeface="Helvetica"/>
                <a:ea typeface="Calibri"/>
                <a:cs typeface="Calibri"/>
              </a:rPr>
              <a:t>General observations on the Lumped Capacitance Method</a:t>
            </a:r>
            <a:endParaRPr sz="2000" b="1" cap="none">
              <a:solidFill>
                <a:srgbClr val="FF9900"/>
              </a:solidFill>
              <a:latin typeface="Helvetica"/>
              <a:ea typeface="Calibri"/>
              <a:cs typeface="Calibri"/>
            </a:endParaRPr>
          </a:p>
          <a:p>
            <a:pPr algn="ctr">
              <a:spcAft>
                <a:spcPts val="600"/>
              </a:spcAft>
              <a:defRPr/>
            </a:pPr>
            <a:endParaRPr sz="2000" b="1" cap="none">
              <a:solidFill>
                <a:srgbClr val="FF9900"/>
              </a:solidFill>
              <a:latin typeface="Helvetica"/>
              <a:ea typeface="Calibri"/>
              <a:cs typeface="Calibri"/>
            </a:endParaRPr>
          </a:p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sz="2000" cap="none">
                <a:latin typeface="Helvetica"/>
                <a:ea typeface="Calibri"/>
                <a:cs typeface="Calibri"/>
              </a:rPr>
              <a:t>Temperature of the body approaches the surrounding temperature exponentially</a:t>
            </a:r>
            <a:endParaRPr sz="2000" cap="none">
              <a:latin typeface="Helvetica"/>
              <a:ea typeface="Calibri"/>
              <a:cs typeface="Calibri"/>
            </a:endParaRPr>
          </a:p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sz="2000" cap="none">
                <a:latin typeface="Helvetica"/>
                <a:ea typeface="Calibri"/>
                <a:cs typeface="Calibri"/>
              </a:rPr>
              <a:t>Larger values of the time constant term indicate higher rate of temperature decay (rise)</a:t>
            </a:r>
            <a:endParaRPr sz="2000" cap="none">
              <a:latin typeface="Helvetica"/>
              <a:ea typeface="Calibri"/>
              <a:cs typeface="Calibri"/>
            </a:endParaRPr>
          </a:p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sz="2000" cap="none">
                <a:latin typeface="Helvetica"/>
                <a:ea typeface="Calibri"/>
                <a:cs typeface="Calibri"/>
              </a:rPr>
              <a:t>Bodies with larger mass take longer to heat/cool, particularly if they also have large heat capacity</a:t>
            </a:r>
            <a:endParaRPr sz="2000" cap="none">
              <a:latin typeface="Helvetica"/>
              <a:ea typeface="Calibri"/>
              <a:cs typeface="Calibri"/>
            </a:endParaRPr>
          </a:p>
        </p:txBody>
      </p:sp>
      <p:sp>
        <p:nvSpPr>
          <p:cNvPr id="1896052779" name="Slide Number Placeholder 17"/>
          <p:cNvSpPr/>
          <p:nvPr/>
        </p:nvSpPr>
        <p:spPr bwMode="auto">
          <a:xfrm>
            <a:off x="448945" y="6356350"/>
            <a:ext cx="4434840" cy="3651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ctr"/>
          <a:lstStyle>
            <a:lvl1pPr marL="0" algn="r" defTabSz="457200">
              <a:defRPr sz="1200" cap="none">
                <a:solidFill>
                  <a:srgbClr val="8C8C8C"/>
                </a:solidFill>
                <a:latin typeface="Calibri"/>
                <a:ea typeface="Calibri"/>
                <a:cs typeface="Calibri"/>
              </a:defRPr>
            </a:lvl1pPr>
            <a:lvl2pPr marL="457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2pPr>
            <a:lvl3pPr marL="914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3pPr>
            <a:lvl4pPr marL="1371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4pPr>
            <a:lvl5pPr marL="18288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5pPr>
            <a:lvl6pPr marL="22860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6pPr>
            <a:lvl7pPr marL="2743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7pPr>
            <a:lvl8pPr marL="3200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8pPr>
            <a:lvl9pPr marL="3657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/>
            </a:pPr>
            <a:r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EX3030/EM40JN</a:t>
            </a:r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3189274" name="Title 3"/>
          <p:cNvSpPr>
            <a:spLocks noChangeArrowheads="1" noGrp="1"/>
          </p:cNvSpPr>
          <p:nvPr>
            <p:ph type="ctrTitle"/>
          </p:nvPr>
        </p:nvSpPr>
        <p:spPr bwMode="auto">
          <a:xfrm>
            <a:off x="0" y="360045"/>
            <a:ext cx="12192000" cy="7080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sz="4000" cap="none">
                <a:latin typeface="Helvetica"/>
                <a:ea typeface="Verdana"/>
                <a:cs typeface="Helvetica"/>
              </a:rPr>
              <a:t>A (very practical) Example</a:t>
            </a:r>
            <a:endParaRPr sz="4000" cap="none">
              <a:latin typeface="Helvetica"/>
              <a:ea typeface="Verdana"/>
              <a:cs typeface="Helvetica"/>
            </a:endParaRPr>
          </a:p>
        </p:txBody>
      </p:sp>
      <p:sp>
        <p:nvSpPr>
          <p:cNvPr id="812068458" name="Slide Number Placeholder 17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8999855" y="6356350"/>
            <a:ext cx="2743200" cy="365125"/>
          </a:xfrm>
        </p:spPr>
        <p:txBody>
          <a:bodyPr/>
          <a:lstStyle/>
          <a:p>
            <a:pPr>
              <a:defRPr/>
            </a:pPr>
            <a:fld id="{03A76E9F-D1EE-F298-A01F-27CD20515672}" type="slidenum"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14</a:t>
            </a:fld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1329131461" name="Picture 8" descr="A picture containing text, clipart&#10;&#10;Description automatically generated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48945" y="360045"/>
            <a:ext cx="1967865" cy="5397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717902655" name="TextBox 1"/>
          <p:cNvSpPr/>
          <p:nvPr/>
        </p:nvSpPr>
        <p:spPr bwMode="auto">
          <a:xfrm>
            <a:off x="1056005" y="2357755"/>
            <a:ext cx="10079990" cy="36283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sz="2000" cap="none">
                <a:latin typeface="Helvetica"/>
                <a:ea typeface="Calibri"/>
                <a:cs typeface="Helvetica"/>
              </a:rPr>
              <a:t>Based on what we’ve just seen let’s try to put it in practice by attempting to answer an important question:</a:t>
            </a:r>
            <a:endParaRPr sz="2000" cap="none">
              <a:latin typeface="Helvetica"/>
              <a:ea typeface="Calibri"/>
              <a:cs typeface="Helvetica"/>
            </a:endParaRPr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sz="2000" b="1" cap="none">
                <a:latin typeface="Helvetica"/>
                <a:ea typeface="Calibri"/>
                <a:cs typeface="Helvetica"/>
              </a:rPr>
              <a:t>How long does it take to boil an egg?</a:t>
            </a:r>
            <a:endParaRPr sz="2000" b="1" cap="none">
              <a:latin typeface="Helvetica"/>
              <a:ea typeface="Calibri"/>
              <a:cs typeface="Helvetica"/>
            </a:endParaRPr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sz="2000" cap="none">
                <a:latin typeface="Helvetica"/>
                <a:ea typeface="Calibri"/>
                <a:cs typeface="Helvetica"/>
              </a:rPr>
              <a:t>Use the lumped capacitance method…</a:t>
            </a:r>
            <a:endParaRPr sz="2000" cap="none">
              <a:latin typeface="Helvetica"/>
              <a:ea typeface="Calibri"/>
              <a:cs typeface="Helvetica"/>
            </a:endParaRPr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sz="2000" cap="none">
                <a:latin typeface="Helvetica"/>
                <a:ea typeface="Calibri"/>
                <a:cs typeface="Helvetica"/>
              </a:rPr>
              <a:t>Do the results make sense?</a:t>
            </a:r>
            <a:endParaRPr sz="2000" cap="none">
              <a:latin typeface="Helvetica"/>
              <a:ea typeface="Calibri"/>
              <a:cs typeface="Helvetica"/>
            </a:endParaRPr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sz="2000" cap="none">
                <a:solidFill>
                  <a:srgbClr val="767272"/>
                </a:solidFill>
                <a:latin typeface="Helvetica"/>
                <a:ea typeface="Calibri"/>
                <a:cs typeface="Helvetica"/>
              </a:rPr>
              <a:t>See also “</a:t>
            </a:r>
            <a:r>
              <a:rPr sz="2000" i="1" cap="none">
                <a:solidFill>
                  <a:srgbClr val="767272"/>
                </a:solidFill>
                <a:latin typeface="Helvetica"/>
                <a:ea typeface="Calibri"/>
                <a:cs typeface="Helvetica"/>
              </a:rPr>
              <a:t>How long does it take to boil an egg? A simple approach to the energy transfer equation</a:t>
            </a:r>
            <a:r>
              <a:rPr sz="2000" cap="none">
                <a:solidFill>
                  <a:srgbClr val="767272"/>
                </a:solidFill>
                <a:latin typeface="Helvetica"/>
                <a:ea typeface="Calibri"/>
                <a:cs typeface="Helvetica"/>
              </a:rPr>
              <a:t>” (Roura </a:t>
            </a:r>
            <a:r>
              <a:rPr sz="2000" i="1" cap="none">
                <a:solidFill>
                  <a:srgbClr val="767272"/>
                </a:solidFill>
                <a:latin typeface="Helvetica"/>
                <a:ea typeface="Calibri"/>
                <a:cs typeface="Helvetica"/>
              </a:rPr>
              <a:t>et al</a:t>
            </a:r>
            <a:r>
              <a:rPr sz="2000" cap="none">
                <a:solidFill>
                  <a:srgbClr val="767272"/>
                </a:solidFill>
                <a:latin typeface="Helvetica"/>
                <a:ea typeface="Calibri"/>
                <a:cs typeface="Helvetica"/>
              </a:rPr>
              <a:t>., 2000) for an alternative scientific approach to the problem</a:t>
            </a:r>
            <a:endParaRPr sz="2000" cap="none">
              <a:solidFill>
                <a:srgbClr val="767272"/>
              </a:solidFill>
              <a:latin typeface="Helvetica"/>
              <a:ea typeface="Calibri"/>
              <a:cs typeface="Helvetica"/>
            </a:endParaRPr>
          </a:p>
        </p:txBody>
      </p:sp>
      <p:sp>
        <p:nvSpPr>
          <p:cNvPr id="483712690" name="TextBox 2"/>
          <p:cNvSpPr/>
          <p:nvPr/>
        </p:nvSpPr>
        <p:spPr bwMode="auto">
          <a:xfrm>
            <a:off x="1056005" y="1512570"/>
            <a:ext cx="10079990" cy="4000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spcAft>
                <a:spcPts val="600"/>
              </a:spcAft>
              <a:defRPr/>
            </a:pPr>
            <a:r>
              <a:rPr sz="2000" b="1" cap="none">
                <a:solidFill>
                  <a:srgbClr val="FF9900"/>
                </a:solidFill>
                <a:latin typeface="Helvetica"/>
                <a:ea typeface="Calibri"/>
                <a:cs typeface="Calibri"/>
              </a:rPr>
              <a:t>Boiling an egg</a:t>
            </a:r>
            <a:endParaRPr sz="2000" b="1" cap="none">
              <a:solidFill>
                <a:srgbClr val="FF9900"/>
              </a:solidFill>
              <a:latin typeface="Helvetica"/>
              <a:ea typeface="Calibri"/>
              <a:cs typeface="Calibri"/>
            </a:endParaRPr>
          </a:p>
        </p:txBody>
      </p:sp>
      <p:sp>
        <p:nvSpPr>
          <p:cNvPr id="1550763999" name="Slide Number Placeholder 17"/>
          <p:cNvSpPr/>
          <p:nvPr/>
        </p:nvSpPr>
        <p:spPr bwMode="auto">
          <a:xfrm>
            <a:off x="448945" y="6356350"/>
            <a:ext cx="4434840" cy="3651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ctr"/>
          <a:lstStyle>
            <a:lvl1pPr marL="0" algn="r" defTabSz="457200">
              <a:defRPr sz="1200" cap="none">
                <a:solidFill>
                  <a:srgbClr val="8C8C8C"/>
                </a:solidFill>
                <a:latin typeface="Calibri"/>
                <a:ea typeface="Calibri"/>
                <a:cs typeface="Calibri"/>
              </a:defRPr>
            </a:lvl1pPr>
            <a:lvl2pPr marL="457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2pPr>
            <a:lvl3pPr marL="914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3pPr>
            <a:lvl4pPr marL="1371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4pPr>
            <a:lvl5pPr marL="18288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5pPr>
            <a:lvl6pPr marL="22860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6pPr>
            <a:lvl7pPr marL="2743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7pPr>
            <a:lvl8pPr marL="3200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8pPr>
            <a:lvl9pPr marL="3657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/>
            </a:pPr>
            <a:r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EX3030/EM40JN</a:t>
            </a:r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8019112" name="Title 1"/>
          <p:cNvSpPr>
            <a:spLocks noChangeArrowheads="1"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Solution</a:t>
            </a:r>
            <a:endParaRPr/>
          </a:p>
        </p:txBody>
      </p:sp>
      <p:sp>
        <p:nvSpPr>
          <p:cNvPr id="2093674516" name="Content Placeholder 2"/>
          <p:cNvSpPr>
            <a:spLocks noChangeArrowheads="1"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Assume egg is 5cm in diameter and a sphere.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=5</m:t>
                      </m:r>
                    </m:oMath>
                  </m:oMathPara>
                </a14:m>
              </mc:Choice>
              <mc:Fallback/>
            </mc:AlternateContent>
            <a:r>
              <a:rPr/>
              <a:t>C</a:t>
            </a:r>
            <a:r>
              <a:rPr/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/>
                            <a:rPr lang="en-U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∞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</m:oMath>
                  </m:oMathPara>
                </a14:m>
              </mc:Choice>
              <mc:Fallback/>
            </mc:AlternateContent>
            <a:r>
              <a:rPr/>
              <a:t>100C</a:t>
            </a:r>
            <a:endParaRPr/>
          </a:p>
          <a:p>
            <a:pPr>
              <a:defRPr/>
            </a:pPr>
            <a:r>
              <a:rPr lang="en-US"/>
              <a:t>Assume egg is cooked at 70C (see the research paper).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h=1000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W/m</a:t>
            </a:r>
            <a:r>
              <a:rPr lang="en-US" baseline="30000"/>
              <a:t>2</a:t>
            </a:r>
            <a:r>
              <a:rPr lang="en-US"/>
              <a:t>/C,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ρ=1000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kg/m</a:t>
            </a:r>
            <a:r>
              <a:rPr lang="en-US" baseline="30000"/>
              <a:t>3</a:t>
            </a:r>
            <a:r>
              <a:rPr lang="en-US"/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=4180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 J/kg/C,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k=0.66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W/m/C</a:t>
            </a:r>
            <a:br>
              <a:rPr lang="en-US"/>
            </a:br>
            <a:r>
              <a:rPr lang="en-US"/>
              <a:t>(assuming</a:t>
            </a:r>
            <a:r>
              <a:rPr lang="en-US"/>
              <a:t> egg is made of water in stirred pot of boiling water)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b=</m:t>
                      </m:r>
                      <m:f>
                        <m:fPr>
                          <m:ctrlPr>
                            <a:rPr lang="en-US" sz="28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 </m:t>
                          </m:r>
                          <m:sSub>
                            <m:sSubPr>
                              <m:ctrl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ρC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  <m:r>
                                <m:rPr/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8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</m:t>
                          </m:r>
                          <m:d>
                            <m:dPr>
                              <m:begChr m:val="("/>
                              <m:endChr m:val=")"/>
                              <m:ctrl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8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4πR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sz="28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ρC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  <m:d>
                                <m:dPr>
                                  <m:begChr m:val="("/>
                                  <m:endChr m:val=")"/>
                                  <m:ctrlPr>
                                    <a:rPr lang="en-US" sz="2800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sz="2800" b="0" i="1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sty m:val="i"/>
                                        </m:rPr>
                                        <a:rPr lang="en-US" sz="28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4</m:t>
                                      </m:r>
                                    </m:num>
                                    <m:den>
                                      <m:r>
                                        <m:rPr>
                                          <m:sty m:val="i"/>
                                        </m:rPr>
                                        <a:rPr lang="en-US" sz="28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3</m:t>
                                      </m:r>
                                    </m:den>
                                  </m:f>
                                  <m:sSup>
                                    <m:sSupPr>
                                      <m:ctrlPr>
                                        <a:rPr lang="en-US" sz="28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/>
                                        <a:rPr lang="en-US" sz="28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πR</m:t>
                                      </m:r>
                                    </m:e>
                                    <m:sup>
                                      <m:r>
                                        <m:rPr/>
                                        <a:rPr lang="en-US" sz="2800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3</m:t>
                                      </m:r>
                                    </m:sup>
                                  </m:sSup>
                                </m:e>
                              </m:d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8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3h</m:t>
                          </m:r>
                        </m:num>
                        <m:den>
                          <m:sSub>
                            <m:sSubPr>
                              <m:ctrl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ρC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  <m:r>
                                <m:rPr/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0.0287s</m:t>
                          </m:r>
                        </m:e>
                        <m:sup>
                          <m:r>
                            <m:rPr/>
                            <a:rPr lang="en-U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-1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en-US" sz="28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70-100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5-100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-0.0287 t</m:t>
                          </m:r>
                        </m:sup>
                      </m:sSup>
                    </m:oMath>
                  </m:oMathPara>
                </a14:m>
              </mc:Choice>
              <mc:Fallback/>
            </mc:AlternateContent>
            <a:r>
              <a:rPr lang="en-US"/>
              <a:t> Therefore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t=40.15s</m:t>
                      </m:r>
                    </m:oMath>
                  </m:oMathPara>
                </a14:m>
              </mc:Choice>
              <mc:Fallback/>
            </mc:AlternateContent>
            <a:r>
              <a:rPr lang="en-US"/>
              <a:t>..... Seems too low? Maybe the method is bad?</a:t>
            </a:r>
            <a:r>
              <a:rPr lang="en" sz="1400"/>
              <a:t>  </a:t>
            </a:r>
            <a:endParaRPr lang="en-US"/>
          </a:p>
        </p:txBody>
      </p:sp>
      <p:sp>
        <p:nvSpPr>
          <p:cNvPr id="16184730" name="Date Placeholder 3"/>
          <p:cNvSpPr>
            <a:spLocks noChangeArrowheads="1"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B94224F-3FF3-ABD3-9965-49FEF0F49D5C}" type="datetime1">
              <a:rPr cap="none"/>
              <a:t/>
            </a:fld>
            <a:endParaRPr cap="none"/>
          </a:p>
        </p:txBody>
      </p:sp>
      <p:sp>
        <p:nvSpPr>
          <p:cNvPr id="31439894" name="Slide Number Placeholder 5"/>
          <p:cNvSpPr>
            <a:spLocks noChangeArrowheads="1"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4BB3D3E-C992-43D4-063F-501CA0A67A67}" type="slidenum">
              <a:rPr cap="none"/>
              <a:t/>
            </a:fld>
            <a:endParaRPr cap="none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9415721" name="Title 3"/>
          <p:cNvSpPr>
            <a:spLocks noChangeArrowheads="1" noGrp="1"/>
          </p:cNvSpPr>
          <p:nvPr>
            <p:ph type="ctrTitle"/>
          </p:nvPr>
        </p:nvSpPr>
        <p:spPr bwMode="auto">
          <a:xfrm>
            <a:off x="0" y="360045"/>
            <a:ext cx="12192000" cy="7080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sz="4000" cap="none">
                <a:latin typeface="Helvetica"/>
                <a:ea typeface="Verdana"/>
                <a:cs typeface="Helvetica"/>
              </a:rPr>
              <a:t>The Actual Way to Boil an Egg</a:t>
            </a:r>
            <a:endParaRPr sz="4000" cap="none">
              <a:latin typeface="Helvetica"/>
              <a:ea typeface="Verdana"/>
              <a:cs typeface="Helvetica"/>
            </a:endParaRPr>
          </a:p>
        </p:txBody>
      </p:sp>
      <p:sp>
        <p:nvSpPr>
          <p:cNvPr id="1440047610" name="Slide Number Placeholder 17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8999855" y="6356350"/>
            <a:ext cx="2743200" cy="365125"/>
          </a:xfrm>
        </p:spPr>
        <p:txBody>
          <a:bodyPr/>
          <a:lstStyle/>
          <a:p>
            <a:pPr>
              <a:defRPr/>
            </a:pPr>
            <a:fld id="{01F36D84-CAEC-A69B-A24B-3CCE23055469}" type="slidenum"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15</a:t>
            </a:fld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1609940863" name="Picture 8" descr="A picture containing text, clipart&#10;&#10;Description automatically generated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48945" y="360045"/>
            <a:ext cx="1967865" cy="5397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664498358" name="TextBox 2"/>
          <p:cNvSpPr/>
          <p:nvPr/>
        </p:nvSpPr>
        <p:spPr bwMode="auto">
          <a:xfrm>
            <a:off x="1056005" y="1298574"/>
            <a:ext cx="10079990" cy="4000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spcAft>
                <a:spcPts val="600"/>
              </a:spcAft>
              <a:defRPr/>
            </a:pPr>
            <a:r>
              <a:rPr sz="2000" b="1" cap="none">
                <a:solidFill>
                  <a:srgbClr val="FF9900"/>
                </a:solidFill>
                <a:latin typeface="Helvetica"/>
                <a:ea typeface="Calibri"/>
                <a:cs typeface="Calibri"/>
              </a:rPr>
              <a:t>Advice from Heston</a:t>
            </a:r>
            <a:endParaRPr sz="2000" b="1" cap="none">
              <a:solidFill>
                <a:srgbClr val="FF9900"/>
              </a:solidFill>
              <a:latin typeface="Helvetica"/>
              <a:ea typeface="Calibri"/>
              <a:cs typeface="Calibri"/>
            </a:endParaRPr>
          </a:p>
        </p:txBody>
      </p:sp>
      <p:sp>
        <p:nvSpPr>
          <p:cNvPr id="1549264527" name="Slide Number Placeholder 17"/>
          <p:cNvSpPr/>
          <p:nvPr/>
        </p:nvSpPr>
        <p:spPr bwMode="auto">
          <a:xfrm>
            <a:off x="448945" y="6356350"/>
            <a:ext cx="4434840" cy="3651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ctr"/>
          <a:lstStyle>
            <a:lvl1pPr marL="0" algn="r" defTabSz="457200">
              <a:defRPr sz="1200" cap="none">
                <a:solidFill>
                  <a:srgbClr val="8C8C8C"/>
                </a:solidFill>
                <a:latin typeface="Calibri"/>
                <a:ea typeface="Calibri"/>
                <a:cs typeface="Calibri"/>
              </a:defRPr>
            </a:lvl1pPr>
            <a:lvl2pPr marL="457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2pPr>
            <a:lvl3pPr marL="914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3pPr>
            <a:lvl4pPr marL="1371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4pPr>
            <a:lvl5pPr marL="18288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5pPr>
            <a:lvl6pPr marL="22860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6pPr>
            <a:lvl7pPr marL="2743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7pPr>
            <a:lvl8pPr marL="3200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8pPr>
            <a:lvl9pPr marL="3657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/>
            </a:pPr>
            <a:r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EX3030/EM40JN</a:t>
            </a:r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sp>
        <p:nvSpPr>
          <p:cNvPr id="2013617544" name="TextBox 9"/>
          <p:cNvSpPr/>
          <p:nvPr/>
        </p:nvSpPr>
        <p:spPr bwMode="auto">
          <a:xfrm>
            <a:off x="1008380" y="5956935"/>
            <a:ext cx="10175240" cy="27686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>
              <a:defRPr/>
            </a:pPr>
            <a:r>
              <a:rPr sz="1200" cap="none">
                <a:latin typeface="Helvetica"/>
                <a:ea typeface="Calibri"/>
                <a:cs typeface="Helvetica"/>
              </a:rPr>
              <a:t>Extract from the Guardian: </a:t>
            </a:r>
            <a:r>
              <a:rPr sz="1200" u="sng" cap="none">
                <a:hlinkClick r:id="rId4" tooltip="https://www.theguardian.com/lifeandstyle/2014/nov/11/how-to-boil-an-egg-the-heston-blumenthal-way"/>
              </a:rPr>
              <a:t>https://www.theguardian.com/lifeandstyle/2014/nov/11/how-to-boil-an-egg-the-heston-blumenthal-way</a:t>
            </a:r>
            <a:r>
              <a:rPr sz="1200" cap="none"/>
              <a:t>  </a:t>
            </a:r>
            <a:endParaRPr cap="none"/>
          </a:p>
        </p:txBody>
      </p:sp>
      <p:grpSp>
        <p:nvGrpSpPr>
          <p:cNvPr id="2075298682" name="Group 12"/>
          <p:cNvGrpSpPr/>
          <p:nvPr/>
        </p:nvGrpSpPr>
        <p:grpSpPr bwMode="auto">
          <a:xfrm>
            <a:off x="1008380" y="1897380"/>
            <a:ext cx="10175240" cy="4041140"/>
            <a:chOff x="1008380" y="1897380"/>
            <a:chExt cx="10175240" cy="4041140"/>
          </a:xfrm>
        </p:grpSpPr>
        <p:grpSp>
          <p:nvGrpSpPr>
            <p:cNvPr id="10" name="Group 10"/>
            <p:cNvGrpSpPr/>
            <p:nvPr/>
          </p:nvGrpSpPr>
          <p:grpSpPr bwMode="auto">
            <a:xfrm>
              <a:off x="1089025" y="2025015"/>
              <a:ext cx="9999345" cy="3785870"/>
              <a:chOff x="1089025" y="2025015"/>
              <a:chExt cx="9999345" cy="3785870"/>
            </a:xfrm>
          </p:grpSpPr>
          <p:sp>
            <p:nvSpPr>
              <p:cNvPr id="14" name="TextBox 1"/>
              <p:cNvSpPr/>
              <p:nvPr/>
            </p:nvSpPr>
            <p:spPr bwMode="auto">
              <a:xfrm>
                <a:off x="2369185" y="2025015"/>
                <a:ext cx="8719185" cy="378587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91440" tIns="45720" rIns="91440" bIns="45720" numCol="1" spcCol="215899" anchor="t"/>
              <a:lstStyle/>
              <a:p>
                <a:pPr marL="0" marR="0" indent="0" algn="ctr" defTabSz="91440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sz="1600" cap="none">
                    <a:solidFill>
                      <a:srgbClr val="121212"/>
                    </a:solidFill>
                    <a:latin typeface="Helvetica"/>
                    <a:ea typeface="Calibri"/>
                    <a:cs typeface="Helvetica"/>
                  </a:rPr>
                  <a:t>After relentless trials, here is </a:t>
                </a:r>
                <a:r>
                  <a:rPr sz="1600" b="1" cap="none">
                    <a:solidFill>
                      <a:srgbClr val="121212"/>
                    </a:solidFill>
                    <a:latin typeface="Helvetica"/>
                    <a:ea typeface="Calibri"/>
                    <a:cs typeface="Helvetica"/>
                  </a:rPr>
                  <a:t>my formula for the perfect boiled egg</a:t>
                </a:r>
                <a:r>
                  <a:rPr sz="1600" cap="none">
                    <a:solidFill>
                      <a:srgbClr val="121212"/>
                    </a:solidFill>
                    <a:latin typeface="Helvetica"/>
                    <a:ea typeface="Calibri"/>
                    <a:cs typeface="Helvetica"/>
                  </a:rPr>
                  <a:t>:</a:t>
                </a:r>
                <a:endParaRPr sz="1600" cap="none">
                  <a:latin typeface="Helvetica"/>
                  <a:ea typeface="Calibri"/>
                  <a:cs typeface="Helvetica"/>
                </a:endParaRPr>
              </a:p>
              <a:p>
                <a:pPr marL="0" marR="0" indent="0" algn="l" defTabSz="91440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sz="1600" cap="none">
                    <a:latin typeface="Helvetica"/>
                    <a:ea typeface="Calibri"/>
                    <a:cs typeface="Helvetica"/>
                  </a:rPr>
                  <a:t>          </a:t>
                </a:r>
                <a:endParaRPr sz="1600" cap="none">
                  <a:latin typeface="Helvetica"/>
                  <a:ea typeface="Calibri"/>
                  <a:cs typeface="Helvetica"/>
                </a:endParaRPr>
              </a:p>
              <a:p>
                <a:pPr marL="0" marR="0" indent="0" algn="l" defTabSz="91440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sz="1600" b="1" cap="none">
                    <a:latin typeface="Helvetica"/>
                    <a:ea typeface="Calibri"/>
                    <a:cs typeface="Helvetica"/>
                  </a:rPr>
                  <a:t>Step 1. </a:t>
                </a:r>
                <a:r>
                  <a:rPr sz="1600" cap="none">
                    <a:solidFill>
                      <a:srgbClr val="121212"/>
                    </a:solidFill>
                    <a:latin typeface="Helvetica"/>
                    <a:ea typeface="Calibri"/>
                    <a:cs typeface="Helvetica"/>
                  </a:rPr>
                  <a:t>Take a small saucepan with a glass lid and carefully place a single egg (or two, or three) inside it. Burford brown eggs have a nice orange yolk. Fill the pan so the water only just covers the eggs – not even a millimetre more. If you had a centimetre of water covering the egg then you could still get the same result, but you’d have to play with the timing.</a:t>
                </a:r>
                <a:endParaRPr sz="1600" cap="none">
                  <a:latin typeface="Helvetica"/>
                  <a:ea typeface="Calibri"/>
                  <a:cs typeface="Helvetica"/>
                </a:endParaRPr>
              </a:p>
              <a:p>
                <a:pPr marL="0" marR="0" indent="0" algn="l" defTabSz="91440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sz="1600" cap="none">
                    <a:latin typeface="Helvetica"/>
                    <a:ea typeface="Calibri"/>
                    <a:cs typeface="Helvetica"/>
                  </a:rPr>
                  <a:t>          </a:t>
                </a:r>
                <a:endParaRPr sz="1600" cap="none">
                  <a:latin typeface="Helvetica"/>
                  <a:ea typeface="Calibri"/>
                  <a:cs typeface="Helvetica"/>
                </a:endParaRPr>
              </a:p>
              <a:p>
                <a:pPr marL="0" marR="0" indent="0" algn="l" defTabSz="91440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sz="1600" cap="none">
                  <a:latin typeface="Helvetica"/>
                  <a:ea typeface="Calibri"/>
                  <a:cs typeface="Helvetica"/>
                </a:endParaRPr>
              </a:p>
              <a:p>
                <a:pPr marL="0" marR="0" indent="0" algn="l" defTabSz="91440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sz="1600" b="1" cap="none">
                    <a:latin typeface="Helvetica"/>
                    <a:ea typeface="Calibri"/>
                    <a:cs typeface="Helvetica"/>
                  </a:rPr>
                  <a:t>Step 2.</a:t>
                </a:r>
                <a:r>
                  <a:rPr sz="1600" cap="none">
                    <a:latin typeface="Helvetica"/>
                    <a:ea typeface="Calibri"/>
                    <a:cs typeface="Helvetica"/>
                  </a:rPr>
                  <a:t> </a:t>
                </a:r>
                <a:r>
                  <a:rPr sz="1600" cap="none">
                    <a:solidFill>
                      <a:srgbClr val="121212"/>
                    </a:solidFill>
                    <a:latin typeface="Helvetica"/>
                    <a:ea typeface="Calibri"/>
                    <a:cs typeface="Helvetica"/>
                  </a:rPr>
                  <a:t>Put the pan on maximum heat with the lid on and bring to the boil.</a:t>
                </a:r>
                <a:endParaRPr sz="1600" cap="none">
                  <a:latin typeface="Helvetica"/>
                  <a:ea typeface="Calibri"/>
                  <a:cs typeface="Helvetica"/>
                </a:endParaRPr>
              </a:p>
              <a:p>
                <a:pPr marL="0" marR="0" indent="0" algn="l" defTabSz="91440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sz="1600" cap="none">
                  <a:latin typeface="Helvetica"/>
                  <a:ea typeface="Calibri"/>
                  <a:cs typeface="Helvetica"/>
                </a:endParaRPr>
              </a:p>
              <a:p>
                <a:pPr marL="0" marR="0" indent="0" algn="l" defTabSz="91440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sz="1600" cap="none">
                  <a:latin typeface="Helvetica"/>
                  <a:ea typeface="Calibri"/>
                  <a:cs typeface="Helvetica"/>
                </a:endParaRPr>
              </a:p>
              <a:p>
                <a:pPr marL="0" marR="0" indent="0" algn="l" defTabSz="91440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sz="1600" cap="none">
                  <a:latin typeface="Helvetica"/>
                  <a:ea typeface="Calibri"/>
                  <a:cs typeface="Helvetica"/>
                </a:endParaRPr>
              </a:p>
              <a:p>
                <a:pPr marL="0" marR="0" indent="0" algn="l" defTabSz="91440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sz="1600" b="1" cap="none">
                    <a:latin typeface="Helvetica"/>
                    <a:ea typeface="Calibri"/>
                    <a:cs typeface="Helvetica"/>
                  </a:rPr>
                  <a:t>Step 3. </a:t>
                </a:r>
                <a:r>
                  <a:rPr sz="1600" cap="none">
                    <a:solidFill>
                      <a:srgbClr val="121212"/>
                    </a:solidFill>
                    <a:latin typeface="Helvetica"/>
                    <a:ea typeface="Calibri"/>
                    <a:cs typeface="Helvetica"/>
                  </a:rPr>
                  <a:t>As soon as the water starts to bubble, remove from the heat. As you take the pan off, set a timer for six minutes; keep the lid on. Make sure you time it exactly, and you’ll end up with the perfect egg.</a:t>
                </a:r>
                <a:endParaRPr sz="1600" cap="none">
                  <a:latin typeface="Helvetica"/>
                  <a:ea typeface="Calibri"/>
                  <a:cs typeface="Helvetica"/>
                </a:endParaRPr>
              </a:p>
            </p:txBody>
          </p:sp>
          <p:pic>
            <p:nvPicPr>
              <p:cNvPr id="13" name="Picture 6" descr="Heston's boiled egg"/>
              <p:cNvPicPr>
                <a:picLocks noChangeAspect="1"/>
              </p:cNvPicPr>
              <p:nvPr/>
            </p:nvPicPr>
            <p:blipFill>
              <a:blip r:embed="rId5"/>
              <a:stretch/>
            </p:blipFill>
            <p:spPr bwMode="auto">
              <a:xfrm>
                <a:off x="1089025" y="2732405"/>
                <a:ext cx="1143000" cy="6858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</p:pic>
          <p:pic>
            <p:nvPicPr>
              <p:cNvPr id="12" name="Picture 7" descr="Heston's boiled egg"/>
              <p:cNvPicPr>
                <a:picLocks noChangeAspect="1"/>
              </p:cNvPicPr>
              <p:nvPr/>
            </p:nvPicPr>
            <p:blipFill>
              <a:blip r:embed="rId6"/>
              <a:stretch/>
            </p:blipFill>
            <p:spPr bwMode="auto">
              <a:xfrm>
                <a:off x="1089025" y="3824605"/>
                <a:ext cx="1143000" cy="6858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</p:pic>
          <p:pic>
            <p:nvPicPr>
              <p:cNvPr id="11" name="Picture 8" descr="Heston's boiled egg"/>
              <p:cNvPicPr>
                <a:picLocks noChangeAspect="1"/>
              </p:cNvPicPr>
              <p:nvPr/>
            </p:nvPicPr>
            <p:blipFill>
              <a:blip r:embed="rId7"/>
              <a:stretch/>
            </p:blipFill>
            <p:spPr bwMode="auto">
              <a:xfrm>
                <a:off x="1089025" y="5018404"/>
                <a:ext cx="1143000" cy="6858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</p:pic>
        </p:grpSp>
        <p:sp>
          <p:nvSpPr>
            <p:cNvPr id="9" name="Rectangle 11"/>
            <p:cNvSpPr/>
            <p:nvPr/>
          </p:nvSpPr>
          <p:spPr bwMode="auto">
            <a:xfrm>
              <a:off x="1008380" y="1897380"/>
              <a:ext cx="10175240" cy="4041140"/>
            </a:xfrm>
            <a:prstGeom prst="rect">
              <a:avLst/>
            </a:prstGeom>
            <a:noFill/>
            <a:ln w="28575" cap="flat" cmpd="sng" algn="ctr">
              <a:solidFill>
                <a:srgbClr val="767272"/>
              </a:solidFill>
              <a:prstDash val="solid"/>
              <a:headEnd type="none"/>
              <a:tailEnd type="none"/>
            </a:ln>
            <a:effectLst/>
          </p:spPr>
          <p:txBody>
            <a:bodyPr vert="horz" wrap="square" lIns="91440" tIns="45720" rIns="91440" bIns="45720" numCol="1" spcCol="215899" anchor="ctr"/>
            <a:lstStyle/>
            <a:p>
              <a:pPr algn="ctr">
                <a:defRPr cap="none">
                  <a:solidFill>
                    <a:srgbClr val="FFFFFF"/>
                  </a:solidFill>
                  <a:latin typeface="Calibri"/>
                  <a:ea typeface="Calibri"/>
                  <a:cs typeface="Calibri"/>
                </a:defRPr>
              </a:pPr>
              <a:endParaRPr cap="none"/>
            </a:p>
          </p:txBody>
        </p:sp>
      </p:grpSp>
      <p:pic>
        <p:nvPicPr>
          <p:cNvPr id="1812138053" name="Picture 10" descr="Heston Blumenthal: female chefs had to &quot;fight harder&quot; to be successful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8698865" y="260985"/>
            <a:ext cx="2868930" cy="161417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228794" name="Title 3"/>
          <p:cNvSpPr>
            <a:spLocks noChangeArrowheads="1" noGrp="1"/>
          </p:cNvSpPr>
          <p:nvPr>
            <p:ph type="ctrTitle"/>
          </p:nvPr>
        </p:nvSpPr>
        <p:spPr bwMode="auto">
          <a:xfrm>
            <a:off x="0" y="360045"/>
            <a:ext cx="12192000" cy="7080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sz="4000" cap="none">
                <a:latin typeface="Helvetica"/>
                <a:ea typeface="Verdana"/>
                <a:cs typeface="Helvetica"/>
              </a:rPr>
              <a:t>Biot Number</a:t>
            </a:r>
            <a:endParaRPr sz="4000" cap="none">
              <a:latin typeface="Helvetica"/>
              <a:ea typeface="Verdana"/>
              <a:cs typeface="Helvetica"/>
            </a:endParaRPr>
          </a:p>
        </p:txBody>
      </p:sp>
      <p:sp>
        <p:nvSpPr>
          <p:cNvPr id="637837584" name="Slide Number Placeholder 17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8999855" y="6356350"/>
            <a:ext cx="2743200" cy="365125"/>
          </a:xfrm>
        </p:spPr>
        <p:txBody>
          <a:bodyPr/>
          <a:lstStyle/>
          <a:p>
            <a:pPr>
              <a:defRPr/>
            </a:pPr>
            <a:fld id="{051C9C84-CAE8-496A-A6A4-3C3FD2EA5069}" type="slidenum"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16</a:t>
            </a:fld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793730695" name="Picture 8" descr="A picture containing text, clipart&#10;&#10;Description automatically generated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48945" y="360045"/>
            <a:ext cx="1967865" cy="5397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719153711" name="TextBox 1"/>
          <p:cNvSpPr/>
          <p:nvPr/>
        </p:nvSpPr>
        <p:spPr bwMode="auto">
          <a:xfrm>
            <a:off x="1056003" y="1929763"/>
            <a:ext cx="10151988" cy="4873933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lang="en-GB" sz="2000">
                <a:latin typeface="Helvetica"/>
              </a:rPr>
              <a:t>Assumption of a lumped system not always the most appropriate</a:t>
            </a:r>
            <a:endParaRPr/>
          </a:p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lang="en-GB" sz="2000">
                <a:latin typeface="Helvetica"/>
              </a:rPr>
              <a:t>Define the dimensionless </a:t>
            </a:r>
            <a:r>
              <a:rPr lang="en-GB" sz="2000">
                <a:latin typeface="Helvetica"/>
              </a:rPr>
              <a:t>Biot</a:t>
            </a:r>
            <a:r>
              <a:rPr lang="en-GB" sz="2000">
                <a:latin typeface="Helvetica"/>
              </a:rPr>
              <a:t> Number, </a:t>
            </a:r>
            <a:r>
              <a:rPr lang="en-GB" sz="2000" i="1">
                <a:latin typeface="Helvetica"/>
              </a:rPr>
              <a:t>Bi</a:t>
            </a:r>
            <a:r>
              <a:rPr lang="en-GB" sz="2000">
                <a:latin typeface="Helvetica"/>
              </a:rPr>
              <a:t>:</a:t>
            </a:r>
            <a:endParaRPr/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centerGroup"/>
                    </m:oMathParaPr>
                    <m:oMath>
                      <m:r>
                        <m:rPr/>
                        <a:rPr lang="en-GB" sz="2000" b="0" i="1">
                          <a:latin typeface="Cambria Math"/>
                        </a:rPr>
                        <m:t>𝐵𝑖</m:t>
                      </m:r>
                      <m:r>
                        <m:rPr/>
                        <a:rPr lang="en-GB" sz="2000" b="0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GB" sz="20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sz="2000" b="0" i="0">
                              <a:latin typeface="Cambria Math"/>
                            </a:rPr>
                            <m:t>Conduction</m:t>
                          </m:r>
                          <m:r>
                            <m:rPr/>
                            <a:rPr lang="en-GB" sz="2000" b="0" i="0">
                              <a:latin typeface="Cambria Math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GB" sz="2000" b="0" i="0">
                              <a:latin typeface="Cambria Math"/>
                            </a:rPr>
                            <m:t>resistance</m:t>
                          </m:r>
                          <m:r>
                            <m:rPr/>
                            <a:rPr lang="en-GB" sz="2000" b="0" i="0">
                              <a:latin typeface="Cambria Math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GB" sz="2000" b="0" i="0">
                              <a:latin typeface="Cambria Math"/>
                            </a:rPr>
                            <m:t>within</m:t>
                          </m:r>
                          <m:r>
                            <m:rPr/>
                            <a:rPr lang="en-GB" sz="2000" b="0" i="0">
                              <a:latin typeface="Cambria Math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GB" sz="2000" b="0" i="0">
                              <a:latin typeface="Cambria Math"/>
                            </a:rPr>
                            <m:t>the</m:t>
                          </m:r>
                          <m:r>
                            <m:rPr/>
                            <a:rPr lang="en-GB" sz="2000" b="0" i="0">
                              <a:latin typeface="Cambria Math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GB" sz="2000" b="0" i="0">
                              <a:latin typeface="Cambria Math"/>
                            </a:rPr>
                            <m:t>body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GB" sz="2000" b="0" i="0">
                              <a:latin typeface="Cambria Math"/>
                            </a:rPr>
                            <m:t>Convection</m:t>
                          </m:r>
                          <m:r>
                            <m:rPr/>
                            <a:rPr lang="en-GB" sz="2000" b="0" i="0">
                              <a:latin typeface="Cambria Math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GB" sz="2000" b="0" i="0">
                              <a:latin typeface="Cambria Math"/>
                            </a:rPr>
                            <m:t>resistance</m:t>
                          </m:r>
                          <m:r>
                            <m:rPr/>
                            <a:rPr lang="en-GB" sz="2000" b="0" i="0">
                              <a:latin typeface="Cambria Math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GB" sz="2000" b="0" i="0">
                              <a:latin typeface="Cambria Math"/>
                            </a:rPr>
                            <m:t>at</m:t>
                          </m:r>
                          <m:r>
                            <m:rPr/>
                            <a:rPr lang="en-GB" sz="2000" b="0" i="0">
                              <a:latin typeface="Cambria Math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GB" sz="2000" b="0" i="0">
                              <a:latin typeface="Cambria Math"/>
                            </a:rPr>
                            <m:t>the</m:t>
                          </m:r>
                          <m:r>
                            <m:rPr/>
                            <a:rPr lang="en-GB" sz="2000" b="0" i="0">
                              <a:latin typeface="Cambria Math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GB" sz="2000" b="0" i="0">
                              <a:latin typeface="Cambria Math"/>
                            </a:rPr>
                            <m:t>surface</m:t>
                          </m:r>
                        </m:den>
                      </m:f>
                      <m:r>
                        <m:rPr/>
                        <a:rPr lang="en-GB" sz="2000" b="0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GB" sz="20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GB" sz="20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sz="2000" b="0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2000" b="0" i="1"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en-GB" sz="2000" b="0" i="1">
                                          <a:latin typeface="Cambria Math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en-GB" sz="2000" b="0" i="1">
                                          <a:latin typeface="Cambria Math"/>
                                        </a:rPr>
                                        <m:t>𝑐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m:rPr/>
                                    <a:rPr lang="en-GB" sz="2000" b="0" i="1">
                                      <a:latin typeface="Cambria Math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GB" sz="20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GB" sz="2000" b="0" i="1"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m:rPr/>
                                    <a:rPr lang="en-GB" sz="2000" b="0" i="1">
                                      <a:latin typeface="Cambria Math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m:rPr/>
                                    <a:rPr lang="en-GB" sz="2000" b="0" i="1">
                                      <a:latin typeface="Cambria Math"/>
                                    </a:rPr>
                                    <m:t>h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/>
                        <a:rPr lang="en-GB" sz="2000" b="0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GB" sz="20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/>
                            <a:rPr lang="en-GB" sz="2000" b="0" i="1">
                              <a:latin typeface="Cambria Math"/>
                            </a:rPr>
                            <m:t>h</m:t>
                          </m:r>
                          <m:sSub>
                            <m:sSubPr>
                              <m:ctrlPr>
                                <a:rPr lang="en-GB" sz="20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sz="2000" b="0" i="1">
                                  <a:latin typeface="Cambria Math"/>
                                </a:rPr>
                                <m:t>𝐿</m:t>
                              </m:r>
                            </m:e>
                            <m:sub>
                              <m:r>
                                <m:rPr/>
                                <a:rPr lang="en-GB" sz="2000" b="0" i="1">
                                  <a:latin typeface="Cambria Math"/>
                                </a:rPr>
                                <m:t>𝑐</m:t>
                              </m:r>
                            </m:sub>
                          </m:sSub>
                        </m:num>
                        <m:den>
                          <m:r>
                            <m:rPr/>
                            <a:rPr lang="en-GB" sz="2000" b="0" i="1">
                              <a:latin typeface="Cambria Math"/>
                            </a:rPr>
                            <m:t>𝑘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endParaRPr lang="en-GB" sz="2000">
              <a:latin typeface="Helvetica"/>
            </a:endParaRPr>
          </a:p>
          <a:p>
            <a:pPr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defRPr/>
            </a:pPr>
            <a:r>
              <a:rPr lang="en-GB" sz="2000">
                <a:latin typeface="Helvetica"/>
              </a:rPr>
              <a:t>where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GB" sz="20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GB" sz="2000" b="0" i="1">
                              <a:latin typeface="Cambria Math"/>
                            </a:rPr>
                            <m:t>𝐿</m:t>
                          </m:r>
                        </m:e>
                        <m:sub>
                          <m:r>
                            <m:rPr/>
                            <a:rPr lang="en-GB" sz="2000" b="0" i="1"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m:rPr/>
                        <a:rPr lang="en-GB" sz="2000" b="0" i="1">
                          <a:latin typeface="Cambria Math"/>
                        </a:rPr>
                        <m:t>=</m:t>
                      </m:r>
                      <m:r>
                        <m:rPr/>
                        <a:rPr lang="en-GB" sz="2000" b="0" i="1">
                          <a:latin typeface="Cambria Math"/>
                        </a:rPr>
                        <m:t>𝑉</m:t>
                      </m:r>
                      <m:r>
                        <m:rPr/>
                        <a:rPr lang="en-GB" sz="2000" b="0" i="1">
                          <a:latin typeface="Cambria Math"/>
                        </a:rPr>
                        <m:t>/</m:t>
                      </m:r>
                      <m:sSub>
                        <m:sSubPr>
                          <m:ctrlPr>
                            <a:rPr lang="en-GB" sz="20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GB" sz="2000" b="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m:rPr/>
                            <a:rPr lang="en-GB" sz="2000" b="0" i="1">
                              <a:latin typeface="Cambria Math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GB" sz="2000">
                <a:latin typeface="Helvetica"/>
              </a:rPr>
              <a:t> is the characteristic length,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sz="2000" b="0" i="1">
                          <a:latin typeface="Cambria Math"/>
                        </a:rPr>
                        <m:t>𝑉</m:t>
                      </m:r>
                    </m:oMath>
                  </m:oMathPara>
                </a14:m>
              </mc:Choice>
              <mc:Fallback/>
            </mc:AlternateContent>
            <a:r>
              <a:rPr lang="en-GB" sz="2000">
                <a:latin typeface="Helvetica"/>
              </a:rPr>
              <a:t> is the volume of the body and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GB" sz="20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GB" sz="2000" b="0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m:rPr/>
                            <a:rPr lang="en-GB" sz="2000" b="0" i="1">
                              <a:latin typeface="Cambria Math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GB" sz="2000">
                <a:latin typeface="Helvetica"/>
              </a:rPr>
              <a:t> is the surface area for convection </a:t>
            </a:r>
            <a:endParaRPr/>
          </a:p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lang="en-GB" sz="2000" b="1">
                <a:latin typeface="Helvetica"/>
              </a:rPr>
              <a:t>Approach is valid when </a:t>
            </a:r>
            <a:r>
              <a:rPr lang="en-GB" sz="2000" b="1" i="1">
                <a:latin typeface="Helvetica"/>
              </a:rPr>
              <a:t>Bi</a:t>
            </a:r>
            <a:r>
              <a:rPr lang="en-GB" sz="2000" b="1">
                <a:latin typeface="Helvetica"/>
              </a:rPr>
              <a:t> &lt; 0.1</a:t>
            </a:r>
            <a:endParaRPr lang="en-GB" sz="2000" b="1">
              <a:latin typeface="Helvetica"/>
            </a:endParaRPr>
          </a:p>
          <a:p>
            <a:pPr algn="ctr">
              <a:lnSpc>
                <a:spcPct val="120000"/>
              </a:lnSpc>
              <a:spcBef>
                <a:spcPts val="599"/>
              </a:spcBef>
              <a:spcAft>
                <a:spcPts val="599"/>
              </a:spcAft>
              <a:defRPr/>
            </a:pPr>
            <a:r>
              <a:rPr lang="en" sz="2000" b="1">
                <a:latin typeface="Helvetica"/>
              </a:rPr>
              <a:t>Note: </a:t>
            </a:r>
            <a:r>
              <a:rPr lang="en" sz="2000" b="0">
                <a:latin typeface="Helvetica"/>
              </a:rPr>
              <a:t>The Biot number is the Nusselt number, except the thermal conductivity is inside the object, rather than the fluid cooling it.</a:t>
            </a:r>
            <a:endParaRPr lang="en" sz="20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20000"/>
              </a:lnSpc>
              <a:spcBef>
                <a:spcPts val="598"/>
              </a:spcBef>
              <a:spcAft>
                <a:spcPts val="598"/>
              </a:spcAft>
              <a:defRPr/>
            </a:pPr>
            <a:r>
              <a:rPr lang="en" sz="2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For our egg,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Bi=</m:t>
                      </m:r>
                      <m:f>
                        <m:fPr>
                          <m:ctrlPr>
                            <a:rPr lang="en-GB" sz="20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/>
                            <a:rPr lang="en-GB" sz="2000" b="0" i="1">
                              <a:latin typeface="Cambria Math"/>
                            </a:rPr>
                            <m:t>h</m:t>
                          </m:r>
                          <m:sSub>
                            <m:sSubPr>
                              <m:ctrlPr>
                                <a:rPr lang="en-GB" sz="20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sz="2000" b="0" i="1">
                                  <a:latin typeface="Cambria Math"/>
                                </a:rPr>
                                <m:t> </m:t>
                              </m:r>
                              <m:r>
                                <m:rPr/>
                                <a:rPr lang="en-GB" sz="2000" b="0" i="1">
                                  <a:latin typeface="Cambria Math"/>
                                </a:rPr>
                                <m:t>𝐿</m:t>
                              </m:r>
                            </m:e>
                            <m:sub>
                              <m:r>
                                <m:rPr/>
                                <a:rPr lang="en-GB" sz="2000" b="0" i="1">
                                  <a:latin typeface="Cambria Math"/>
                                </a:rPr>
                                <m:t>𝑐</m:t>
                              </m:r>
                            </m:sub>
                          </m:sSub>
                        </m:num>
                        <m:den>
                          <m:r>
                            <m:rPr/>
                            <a:rPr lang="en-GB" sz="2000" b="0" i="1">
                              <a:latin typeface="Cambria Math"/>
                            </a:rPr>
                            <m:t>𝑘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lang="en" sz="2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GB" sz="2000" b="0" i="0" u="none" strike="noStrike" cap="none" spc="0">
                <a:solidFill>
                  <a:schemeClr val="tx1"/>
                </a:solidFill>
                <a:latin typeface="Helvetica"/>
                <a:ea typeface="Helvetica"/>
                <a:cs typeface="Helvetica"/>
              </a:rPr>
              <a:t>where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GB" sz="20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GB" sz="2000" b="0" i="1">
                              <a:latin typeface="Cambria Math"/>
                              <a:ea typeface="Cambria Math"/>
                              <a:cs typeface="Cambria Math"/>
                            </a:rPr>
                            <m:t>𝐿</m:t>
                          </m:r>
                        </m:e>
                        <m:sub>
                          <m:r>
                            <m:rPr/>
                            <a:rPr lang="en-GB" sz="2000" b="0" i="1">
                              <a:latin typeface="Cambria Math"/>
                              <a:ea typeface="Cambria Math"/>
                              <a:cs typeface="Cambria Math"/>
                            </a:rPr>
                            <m:t>𝑐</m:t>
                          </m:r>
                        </m:sub>
                      </m:sSub>
                      <m:r>
                        <m:rPr/>
                        <a:rPr lang="en-GB" sz="2000" b="0" i="1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GB" sz="20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/>
                            <a:rPr lang="en-GB" sz="2000" b="0" i="1">
                              <a:latin typeface="Cambria Math"/>
                              <a:ea typeface="Cambria Math"/>
                              <a:cs typeface="Cambria Math"/>
                            </a:rPr>
                            <m:t>𝑉</m:t>
                          </m:r>
                        </m:num>
                        <m:den>
                          <m:sSub>
                            <m:sSubPr>
                              <m:ctrlPr>
                                <a:rPr lang="en-GB" sz="20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sz="20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𝐴</m:t>
                              </m:r>
                            </m:e>
                            <m:sub>
                              <m:r>
                                <m:rPr/>
                                <a:rPr lang="en-GB" sz="20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r>
                        <m:rPr>
                          <m:sty m:val="i"/>
                        </m:rPr>
                        <a:rPr lang="en-GB" sz="2000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d>
                        <m:dPr>
                          <m:begChr m:val="("/>
                          <m:endChr m:val=")"/>
                          <m:ctrlPr>
                            <a:rPr lang="en-GB"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i"/>
                                </m:rPr>
                                <a:rPr lang="en-GB"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</m:t>
                              </m:r>
                            </m:num>
                            <m:den>
                              <m:r>
                                <m:rPr>
                                  <m:sty m:val="i"/>
                                </m:rPr>
                                <a:rPr lang="en-GB"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den>
                          </m:f>
                        </m:e>
                      </m:d>
                      <m:f>
                        <m:fPr>
                          <m:ctrlPr>
                            <a:rPr lang="en-GB"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GB"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i"/>
                                </m:rPr>
                                <a:rPr lang="en-GB"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πr</m:t>
                              </m:r>
                            </m:e>
                            <m:sup>
                              <m:r>
                                <m:rPr>
                                  <m:sty m:val="i"/>
                                </m:rPr>
                                <a:rPr lang="en-GB"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GB"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/>
                                <a:rPr lang="en-GB"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4πr</m:t>
                              </m:r>
                            </m:e>
                            <m:sup>
                              <m:r>
                                <m:rPr/>
                                <a:rPr lang="en-GB" sz="20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m:rPr/>
                        <a:rPr lang="en-GB" sz="2000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GB"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/>
                            <a:rPr lang="en-GB" sz="2000"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num>
                        <m:den>
                          <m:r>
                            <m:rPr/>
                            <a:rPr lang="en-GB" sz="2000"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lang="en" sz="20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, thus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lang="en-GB" sz="2000">
                          <a:latin typeface="Cambria Math"/>
                          <a:ea typeface="Cambria Math"/>
                          <a:cs typeface="Cambria Math"/>
                        </a:rPr>
                        <m:t>Bi=</m:t>
                      </m:r>
                      <m:f>
                        <m:fPr>
                          <m:ctrlPr>
                            <a:rPr lang="en-GB" sz="20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/>
                            <a:rPr lang="en-GB" sz="2000" b="0" i="1">
                              <a:latin typeface="Cambria Math"/>
                            </a:rPr>
                            <m:t>hr</m:t>
                          </m:r>
                        </m:num>
                        <m:den>
                          <m:r>
                            <m:rPr/>
                            <a:rPr lang="en-GB" sz="2000" b="0" i="1">
                              <a:latin typeface="Cambria Math"/>
                            </a:rPr>
                            <m:t>3 𝑘</m:t>
                          </m:r>
                        </m:den>
                      </m:f>
                      <m:r>
                        <m:rPr>
                          <m:sty m:val="i"/>
                        </m:rPr>
                        <a:rPr lang="en-GB" sz="2000"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GB" sz="20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 lang="en-GB" sz="2000">
                              <a:latin typeface="Cambria Math"/>
                              <a:ea typeface="Cambria Math"/>
                              <a:cs typeface="Cambria Math"/>
                            </a:rPr>
                            <m:t>1000</m:t>
                          </m:r>
                          <m:r>
                            <m:rPr>
                              <m:sty m:val="i"/>
                            </m:rPr>
                            <a:rPr lang="en-GB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r>
                            <m:rPr>
                              <m:sty m:val="i"/>
                            </m:rPr>
                            <a:rPr lang="en-GB" sz="2000">
                              <a:latin typeface="Cambria Math"/>
                              <a:ea typeface="Cambria Math"/>
                              <a:cs typeface="Cambria Math"/>
                            </a:rPr>
                            <m:t>0.025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 lang="en-GB" sz="2000"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  <m:r>
                            <m:rPr>
                              <m:sty m:val="i"/>
                            </m:rPr>
                            <a:rPr lang="en-GB" sz="20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</m:t>
                          </m:r>
                          <m:r>
                            <m:rPr>
                              <m:sty m:val="i"/>
                            </m:rPr>
                            <a:rPr lang="en-GB" sz="2000">
                              <a:latin typeface="Cambria Math"/>
                              <a:ea typeface="Cambria Math"/>
                              <a:cs typeface="Cambria Math"/>
                            </a:rPr>
                            <m:t>0.66</m:t>
                          </m:r>
                        </m:den>
                      </m:f>
                      <m:r>
                        <m:rPr>
                          <m:sty m:val="i"/>
                        </m:rPr>
                        <a:rPr lang="en-GB" sz="20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≈</m:t>
                      </m:r>
                      <m:r>
                        <m:rPr>
                          <m:sty m:val="i"/>
                        </m:rPr>
                        <a:rPr lang="en-GB" sz="2000">
                          <a:latin typeface="Cambria Math"/>
                          <a:ea typeface="Cambria Math"/>
                          <a:cs typeface="Cambria Math"/>
                        </a:rPr>
                        <m:t>12.63</m:t>
                      </m:r>
                    </m:oMath>
                  </m:oMathPara>
                </a14:m>
              </mc:Choice>
              <mc:Fallback/>
            </mc:AlternateContent>
            <a:r>
              <a:rPr lang="en" sz="2000" b="0">
                <a:latin typeface="Helvetica"/>
              </a:rPr>
              <a:t>!</a:t>
            </a:r>
            <a:endParaRPr lang="en" sz="2000" b="0">
              <a:latin typeface="Helvetica"/>
            </a:endParaRPr>
          </a:p>
        </p:txBody>
      </p:sp>
      <p:sp>
        <p:nvSpPr>
          <p:cNvPr id="252581315" name="TextBox 2"/>
          <p:cNvSpPr/>
          <p:nvPr/>
        </p:nvSpPr>
        <p:spPr bwMode="auto">
          <a:xfrm>
            <a:off x="1056005" y="1298574"/>
            <a:ext cx="10079990" cy="4000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spcAft>
                <a:spcPts val="600"/>
              </a:spcAft>
              <a:defRPr/>
            </a:pPr>
            <a:r>
              <a:rPr sz="2000" b="1" cap="none">
                <a:solidFill>
                  <a:srgbClr val="FF9900"/>
                </a:solidFill>
                <a:latin typeface="Helvetica"/>
                <a:ea typeface="Calibri"/>
                <a:cs typeface="Calibri"/>
              </a:rPr>
              <a:t>When is the approach valid?</a:t>
            </a:r>
            <a:endParaRPr sz="2000" b="1" cap="none">
              <a:solidFill>
                <a:srgbClr val="FF9900"/>
              </a:solidFill>
              <a:latin typeface="Helvetica"/>
              <a:ea typeface="Calibri"/>
              <a:cs typeface="Calibri"/>
            </a:endParaRPr>
          </a:p>
        </p:txBody>
      </p:sp>
      <p:sp>
        <p:nvSpPr>
          <p:cNvPr id="718798725" name="Slide Number Placeholder 17"/>
          <p:cNvSpPr/>
          <p:nvPr/>
        </p:nvSpPr>
        <p:spPr bwMode="auto">
          <a:xfrm>
            <a:off x="448945" y="6356350"/>
            <a:ext cx="4434840" cy="3651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ctr"/>
          <a:lstStyle>
            <a:lvl1pPr marL="0" algn="r" defTabSz="457200">
              <a:defRPr sz="1200" cap="none">
                <a:solidFill>
                  <a:srgbClr val="8C8C8C"/>
                </a:solidFill>
                <a:latin typeface="Calibri"/>
                <a:ea typeface="Calibri"/>
                <a:cs typeface="Calibri"/>
              </a:defRPr>
            </a:lvl1pPr>
            <a:lvl2pPr marL="457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2pPr>
            <a:lvl3pPr marL="914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3pPr>
            <a:lvl4pPr marL="1371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4pPr>
            <a:lvl5pPr marL="18288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5pPr>
            <a:lvl6pPr marL="22860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6pPr>
            <a:lvl7pPr marL="2743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7pPr>
            <a:lvl8pPr marL="3200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8pPr>
            <a:lvl9pPr marL="3657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/>
            </a:pPr>
            <a:r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EX3030/EM40JN</a:t>
            </a:r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7864091" name="Title 3"/>
          <p:cNvSpPr>
            <a:spLocks noChangeArrowheads="1" noGrp="1"/>
          </p:cNvSpPr>
          <p:nvPr>
            <p:ph type="ctrTitle"/>
          </p:nvPr>
        </p:nvSpPr>
        <p:spPr bwMode="auto">
          <a:xfrm>
            <a:off x="0" y="360045"/>
            <a:ext cx="12192000" cy="7080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sz="4000" cap="none">
                <a:latin typeface="Helvetica"/>
                <a:ea typeface="Verdana"/>
                <a:cs typeface="Helvetica"/>
              </a:rPr>
              <a:t>Worked Example 1</a:t>
            </a:r>
            <a:endParaRPr sz="4000" cap="none">
              <a:latin typeface="Helvetica"/>
              <a:ea typeface="Verdana"/>
              <a:cs typeface="Helvetica"/>
            </a:endParaRPr>
          </a:p>
        </p:txBody>
      </p:sp>
      <p:sp>
        <p:nvSpPr>
          <p:cNvPr id="1663780936" name="Slide Number Placeholder 17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8999855" y="6356350"/>
            <a:ext cx="2743200" cy="365125"/>
          </a:xfrm>
        </p:spPr>
        <p:txBody>
          <a:bodyPr/>
          <a:lstStyle/>
          <a:p>
            <a:pPr>
              <a:defRPr/>
            </a:pPr>
            <a:fld id="{62F855E2-AC8F-ADA3-C140-5AF61B0E370F}" type="slidenum"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17</a:t>
            </a:fld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1861471184" name="Picture 8" descr="A picture containing text, clipart&#10;&#10;Description automatically generated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48945" y="360045"/>
            <a:ext cx="1967865" cy="5397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774273780" name="TextBox 2"/>
          <p:cNvSpPr/>
          <p:nvPr/>
        </p:nvSpPr>
        <p:spPr bwMode="auto">
          <a:xfrm>
            <a:off x="1056005" y="1298574"/>
            <a:ext cx="10079990" cy="4000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spcAft>
                <a:spcPts val="600"/>
              </a:spcAft>
              <a:defRPr/>
            </a:pPr>
            <a:r>
              <a:rPr sz="2000" b="1" cap="none">
                <a:solidFill>
                  <a:srgbClr val="FF9900"/>
                </a:solidFill>
                <a:latin typeface="Helvetica"/>
                <a:ea typeface="Calibri"/>
                <a:cs typeface="Calibri"/>
              </a:rPr>
              <a:t>Thermo-couple junction</a:t>
            </a:r>
            <a:endParaRPr sz="2000" b="1" cap="none">
              <a:solidFill>
                <a:srgbClr val="FF9900"/>
              </a:solidFill>
              <a:latin typeface="Helvetica"/>
              <a:ea typeface="Calibri"/>
              <a:cs typeface="Calibri"/>
            </a:endParaRPr>
          </a:p>
        </p:txBody>
      </p:sp>
      <p:sp>
        <p:nvSpPr>
          <p:cNvPr id="682020015" name="Slide Number Placeholder 17"/>
          <p:cNvSpPr/>
          <p:nvPr/>
        </p:nvSpPr>
        <p:spPr bwMode="auto">
          <a:xfrm>
            <a:off x="448945" y="6356350"/>
            <a:ext cx="4434840" cy="3651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ctr"/>
          <a:lstStyle>
            <a:lvl1pPr marL="0" algn="r" defTabSz="457200">
              <a:defRPr sz="1200" cap="none">
                <a:solidFill>
                  <a:srgbClr val="8C8C8C"/>
                </a:solidFill>
                <a:latin typeface="Calibri"/>
                <a:ea typeface="Calibri"/>
                <a:cs typeface="Calibri"/>
              </a:defRPr>
            </a:lvl1pPr>
            <a:lvl2pPr marL="457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2pPr>
            <a:lvl3pPr marL="914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3pPr>
            <a:lvl4pPr marL="1371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4pPr>
            <a:lvl5pPr marL="18288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5pPr>
            <a:lvl6pPr marL="22860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6pPr>
            <a:lvl7pPr marL="2743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7pPr>
            <a:lvl8pPr marL="3200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8pPr>
            <a:lvl9pPr marL="3657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/>
            </a:pPr>
            <a:r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EX3030/EM40JN</a:t>
            </a:r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1775919964" name="Picture 6" descr="Diagram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795780" y="2041525"/>
            <a:ext cx="3729990" cy="297434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130546758" name="TextBox 9"/>
          <p:cNvSpPr/>
          <p:nvPr/>
        </p:nvSpPr>
        <p:spPr bwMode="auto">
          <a:xfrm>
            <a:off x="6096000" y="1941830"/>
            <a:ext cx="5039995" cy="337185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/>
            </a:pPr>
            <a:r>
              <a:rPr lang="en-US" sz="1600" b="0" i="0" u="none" strike="noStrike">
                <a:solidFill>
                  <a:srgbClr val="000000"/>
                </a:solidFill>
                <a:latin typeface="Helvetica"/>
                <a:cs typeface="Helvetica"/>
              </a:rPr>
              <a:t> A temperature sensing element (thermo-couple junction) is placed in a gas stream. Assume the sensor is perfectly spherical.</a:t>
            </a:r>
            <a:endParaRPr/>
          </a:p>
          <a:p>
            <a:pPr>
              <a:lnSpc>
                <a:spcPct val="120000"/>
              </a:lnSpc>
              <a:defRPr/>
            </a:pPr>
            <a:endParaRPr lang="en-GB" sz="1600" b="0" i="0" u="none" strike="noStrike">
              <a:solidFill>
                <a:srgbClr val="000000"/>
              </a:solidFill>
              <a:latin typeface="Helvetica"/>
              <a:cs typeface="Helvetica"/>
            </a:endParaRPr>
          </a:p>
          <a:p>
            <a:pPr algn="ctr">
              <a:lnSpc>
                <a:spcPct val="120000"/>
              </a:lnSpc>
              <a:defRPr/>
            </a:pPr>
            <a:r>
              <a:rPr lang="en-US" sz="1600" i="0" u="none" strike="noStrike">
                <a:solidFill>
                  <a:srgbClr val="000000"/>
                </a:solidFill>
                <a:latin typeface="Helvetica"/>
                <a:cs typeface="Helvetica"/>
              </a:rPr>
              <a:t>The sensor's thermo-physical properties are:</a:t>
            </a:r>
            <a:endParaRPr/>
          </a:p>
          <a:p>
            <a:pPr marL="285750" indent="-285750" algn="ctr">
              <a:lnSpc>
                <a:spcPct val="120000"/>
              </a:lnSpc>
              <a:buFont typeface="Arial"/>
              <a:buChar char="•"/>
              <a:defRPr/>
            </a:pPr>
            <a:r>
              <a:rPr lang="en-US" sz="1600" i="0" u="none" strike="noStrike">
                <a:solidFill>
                  <a:srgbClr val="000000"/>
                </a:solidFill>
                <a:latin typeface="Helvetica"/>
                <a:cs typeface="Helvetica"/>
              </a:rPr>
              <a:t>Thermal conductivity,</a:t>
            </a:r>
            <a:r>
              <a:rPr lang="en-US" sz="1600" i="0" u="none" strike="noStrike">
                <a:solidFill>
                  <a:srgbClr val="000000"/>
                </a:solidFill>
                <a:latin typeface="Helvetica"/>
                <a:cs typeface="Helvetica"/>
              </a:rPr>
              <a:t>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sz="1600" b="0" i="1" u="none" strike="noStrike">
                          <a:solidFill>
                            <a:srgbClr val="000000"/>
                          </a:solidFill>
                          <a:latin typeface="Cambria Math"/>
                        </a:rPr>
                        <m:t>𝑘</m:t>
                      </m:r>
                    </m:oMath>
                  </m:oMathPara>
                </a14:m>
              </mc:Choice>
              <mc:Fallback/>
            </mc:AlternateContent>
            <a:r>
              <a:rPr lang="en-US" sz="1600" i="0" u="none" strike="noStrike">
                <a:solidFill>
                  <a:srgbClr val="000000"/>
                </a:solidFill>
                <a:latin typeface="Helvetica"/>
                <a:cs typeface="Helvetica"/>
              </a:rPr>
              <a:t> = 20</a:t>
            </a:r>
            <a:r>
              <a:rPr lang="en-US" sz="1600" i="0" u="none" strike="noStrike">
                <a:solidFill>
                  <a:srgbClr val="000000"/>
                </a:solidFill>
                <a:latin typeface="Helvetica"/>
                <a:cs typeface="Helvetica"/>
              </a:rPr>
              <a:t> [W/</a:t>
            </a:r>
            <a:r>
              <a:rPr lang="en-US" sz="1600" i="0" u="none" strike="noStrike">
                <a:solidFill>
                  <a:srgbClr val="000000"/>
                </a:solidFill>
                <a:latin typeface="Helvetica"/>
                <a:cs typeface="Helvetica"/>
              </a:rPr>
              <a:t>m·K</a:t>
            </a:r>
            <a:r>
              <a:rPr lang="en-US" sz="1600" i="0" u="none" strike="noStrike">
                <a:solidFill>
                  <a:srgbClr val="000000"/>
                </a:solidFill>
                <a:latin typeface="Helvetica"/>
                <a:cs typeface="Helvetica"/>
              </a:rPr>
              <a:t>]</a:t>
            </a:r>
            <a:endParaRPr/>
          </a:p>
          <a:p>
            <a:pPr marL="285750" indent="-285750" algn="ctr">
              <a:lnSpc>
                <a:spcPct val="120000"/>
              </a:lnSpc>
              <a:buFont typeface="Arial"/>
              <a:buChar char="•"/>
              <a:defRPr/>
            </a:pPr>
            <a:r>
              <a:rPr lang="en-US" sz="1600">
                <a:solidFill>
                  <a:srgbClr val="000000"/>
                </a:solidFill>
                <a:latin typeface="Helvetica"/>
                <a:cs typeface="Helvetica"/>
              </a:rPr>
              <a:t>Specific heat capacity,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GB" sz="1600" i="1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GB" sz="1600" b="0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m:rPr/>
                            <a:rPr lang="en-GB" sz="1600" b="0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1600">
                <a:solidFill>
                  <a:srgbClr val="000000"/>
                </a:solidFill>
                <a:latin typeface="Helvetica"/>
                <a:cs typeface="Helvetica"/>
              </a:rPr>
              <a:t> = 400 [J/</a:t>
            </a:r>
            <a:r>
              <a:rPr lang="en-US" sz="1600">
                <a:solidFill>
                  <a:srgbClr val="000000"/>
                </a:solidFill>
                <a:latin typeface="Helvetica"/>
                <a:cs typeface="Helvetica"/>
              </a:rPr>
              <a:t>kg·K</a:t>
            </a:r>
            <a:r>
              <a:rPr lang="en-US" sz="1600">
                <a:solidFill>
                  <a:srgbClr val="000000"/>
                </a:solidFill>
                <a:latin typeface="Helvetica"/>
                <a:cs typeface="Helvetica"/>
              </a:rPr>
              <a:t>]</a:t>
            </a:r>
            <a:endParaRPr/>
          </a:p>
          <a:p>
            <a:pPr marL="285750" indent="-285750" algn="ctr">
              <a:lnSpc>
                <a:spcPct val="120000"/>
              </a:lnSpc>
              <a:buFont typeface="Arial"/>
              <a:buChar char="•"/>
              <a:defRPr/>
            </a:pPr>
            <a:r>
              <a:rPr lang="en-US" sz="1600">
                <a:solidFill>
                  <a:srgbClr val="000000"/>
                </a:solidFill>
                <a:latin typeface="Helvetica"/>
                <a:cs typeface="Helvetica"/>
              </a:rPr>
              <a:t>Density, 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sz="1600" b="0" i="1">
                          <a:solidFill>
                            <a:srgbClr val="000000"/>
                          </a:solidFill>
                          <a:latin typeface="Cambria Math"/>
                        </a:rPr>
                        <m:t>𝜌</m:t>
                      </m:r>
                    </m:oMath>
                  </m:oMathPara>
                </a14:m>
              </mc:Choice>
              <mc:Fallback/>
            </mc:AlternateContent>
            <a:r>
              <a:rPr lang="en-US" sz="1600">
                <a:solidFill>
                  <a:srgbClr val="000000"/>
                </a:solidFill>
                <a:latin typeface="Helvetica"/>
                <a:cs typeface="Helvetica"/>
              </a:rPr>
              <a:t> = 8,500 [kg/m</a:t>
            </a:r>
            <a:r>
              <a:rPr lang="en-US" sz="1600" baseline="30000">
                <a:solidFill>
                  <a:srgbClr val="000000"/>
                </a:solidFill>
                <a:latin typeface="Helvetica"/>
                <a:cs typeface="Helvetica"/>
              </a:rPr>
              <a:t>3</a:t>
            </a:r>
            <a:r>
              <a:rPr lang="en-US" sz="1600">
                <a:solidFill>
                  <a:srgbClr val="000000"/>
                </a:solidFill>
                <a:latin typeface="Helvetica"/>
                <a:cs typeface="Helvetica"/>
              </a:rPr>
              <a:t>]</a:t>
            </a:r>
            <a:endParaRPr/>
          </a:p>
          <a:p>
            <a:pPr>
              <a:lnSpc>
                <a:spcPct val="120000"/>
              </a:lnSpc>
              <a:defRPr/>
            </a:pPr>
            <a:endParaRPr lang="en-US" sz="1600">
              <a:solidFill>
                <a:srgbClr val="000000"/>
              </a:solidFill>
              <a:latin typeface="Helvetica"/>
              <a:cs typeface="Helvetica"/>
            </a:endParaRPr>
          </a:p>
          <a:p>
            <a:pPr algn="ctr">
              <a:lnSpc>
                <a:spcPct val="120000"/>
              </a:lnSpc>
              <a:defRPr/>
            </a:pPr>
            <a:r>
              <a:rPr lang="en-US" sz="1600" i="0" u="none" strike="noStrike">
                <a:latin typeface="Helvetica"/>
                <a:cs typeface="Helvetica"/>
              </a:rPr>
              <a:t>The convection coefficient between the sensor </a:t>
            </a:r>
            <a:r>
              <a:rPr lang="en-US" sz="1600" b="0" i="0" u="none" strike="noStrike">
                <a:latin typeface="Helvetica"/>
                <a:cs typeface="Helvetica"/>
              </a:rPr>
              <a:t>surface and the gas is </a:t>
            </a:r>
            <a:r>
              <a:rPr lang="en-US" sz="1600" i="0" u="none" strike="noStrike">
                <a:latin typeface="Helvetica"/>
                <a:cs typeface="Helvetica"/>
              </a:rPr>
              <a:t>ℎ = 400 </a:t>
            </a:r>
            <a:r>
              <a:rPr lang="en-US" sz="1600" i="0" u="none" strike="noStrike">
                <a:solidFill>
                  <a:srgbClr val="000000"/>
                </a:solidFill>
                <a:latin typeface="Helvetica"/>
                <a:cs typeface="Helvetica"/>
              </a:rPr>
              <a:t>[W/m</a:t>
            </a:r>
            <a:r>
              <a:rPr lang="en-US" sz="1600" i="0" u="none" strike="noStrike" baseline="30000">
                <a:solidFill>
                  <a:srgbClr val="000000"/>
                </a:solidFill>
                <a:latin typeface="Helvetica"/>
                <a:cs typeface="Helvetica"/>
              </a:rPr>
              <a:t>2</a:t>
            </a:r>
            <a:r>
              <a:rPr lang="en-US" sz="1600" i="0" u="none" strike="noStrike">
                <a:solidFill>
                  <a:srgbClr val="000000"/>
                </a:solidFill>
                <a:latin typeface="Helvetica"/>
                <a:cs typeface="Helvetica"/>
              </a:rPr>
              <a:t>·K]</a:t>
            </a:r>
            <a:endParaRPr lang="en-US" sz="1600" i="0" u="none" strike="noStrike">
              <a:latin typeface="Helvetica"/>
              <a:cs typeface="Helvetica"/>
            </a:endParaRPr>
          </a:p>
        </p:txBody>
      </p:sp>
      <p:sp>
        <p:nvSpPr>
          <p:cNvPr id="1265860343" name="TextBox 11"/>
          <p:cNvSpPr/>
          <p:nvPr/>
        </p:nvSpPr>
        <p:spPr bwMode="auto">
          <a:xfrm>
            <a:off x="1056005" y="5359400"/>
            <a:ext cx="10079990" cy="95123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marL="342900" indent="-342900">
              <a:lnSpc>
                <a:spcPct val="120000"/>
              </a:lnSpc>
              <a:buAutoNum type="arabicParenBoth"/>
              <a:defRPr/>
            </a:pPr>
            <a:r>
              <a:rPr sz="1600" cap="none">
                <a:latin typeface="Helvetica"/>
                <a:ea typeface="Calibri"/>
                <a:cs typeface="Helvetica"/>
              </a:rPr>
              <a:t>Determine the sensor diameter needed for the thermo-couple to have a time constant of 1 second. </a:t>
            </a:r>
            <a:endParaRPr sz="1600" cap="none">
              <a:latin typeface="Helvetica"/>
              <a:ea typeface="Calibri"/>
              <a:cs typeface="Helvetica"/>
            </a:endParaRPr>
          </a:p>
          <a:p>
            <a:pPr marL="342900" indent="-342900">
              <a:lnSpc>
                <a:spcPct val="120000"/>
              </a:lnSpc>
              <a:buAutoNum type="arabicParenBoth"/>
              <a:defRPr/>
            </a:pPr>
            <a:r>
              <a:rPr sz="1600" cap="none">
                <a:latin typeface="Helvetica"/>
                <a:ea typeface="Calibri"/>
                <a:cs typeface="Helvetica"/>
              </a:rPr>
              <a:t>If the sensor is at 25°C and is placed in a gas stream that is at 200°C, how long will it take for the centre of the sensor to reach 199°C?</a:t>
            </a:r>
            <a:endParaRPr sz="1600" cap="none">
              <a:latin typeface="Helvetica"/>
              <a:ea typeface="Calibri"/>
              <a:cs typeface="Helvetic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683444" name="Title 1"/>
          <p:cNvSpPr>
            <a:spLocks noChangeArrowheads="1"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Solution</a:t>
            </a:r>
            <a:endParaRPr/>
          </a:p>
        </p:txBody>
      </p:sp>
      <p:sp>
        <p:nvSpPr>
          <p:cNvPr id="1117410481" name="Content Placeholder 2"/>
          <p:cNvSpPr>
            <a:spLocks noChangeArrowheads="1"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sz="2800" b="0" i="1" u="none" strike="noStrike">
                          <a:solidFill>
                            <a:srgbClr val="000000"/>
                          </a:solidFill>
                          <a:latin typeface="Cambria Math"/>
                        </a:rPr>
                        <m:t>𝑘</m:t>
                      </m:r>
                    </m:oMath>
                  </m:oMathPara>
                </a14:m>
              </mc:Choice>
              <mc:Fallback/>
            </mc:AlternateContent>
            <a:r>
              <a:rPr lang="en-US" sz="2800" b="0" i="0" u="none" strike="noStrike" cap="none" spc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 = 20</a:t>
            </a:r>
            <a:r>
              <a:rPr lang="en-US" sz="2800" b="0" i="0" u="none" strike="noStrike" cap="none" spc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W/</a:t>
            </a:r>
            <a:r>
              <a:rPr lang="en-US" sz="2800" b="0" i="0" u="none" strike="noStrike" cap="none" spc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m·K,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GB" sz="2800" i="1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/>
                            <a:rPr lang="en-GB" sz="2800" b="0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m:rPr/>
                            <a:rPr lang="en-GB" sz="2800" b="0" i="1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800" b="0" i="0" u="none" strike="noStrike" cap="none" spc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 = 400J/</a:t>
            </a:r>
            <a:r>
              <a:rPr lang="en-US" sz="2800" b="0" i="0" u="none" strike="noStrike" cap="none" spc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kg·K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en-GB" sz="2800" b="0" i="1">
                          <a:solidFill>
                            <a:srgbClr val="000000"/>
                          </a:solidFill>
                          <a:latin typeface="Cambria Math"/>
                        </a:rPr>
                        <m:t>𝜌</m:t>
                      </m:r>
                    </m:oMath>
                  </m:oMathPara>
                </a14:m>
              </mc:Choice>
              <mc:Fallback/>
            </mc:AlternateContent>
            <a:r>
              <a:rPr lang="en-US" sz="2800" b="0" i="0" u="none" strike="noStrike" cap="none" spc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 = 8,500kg/m</a:t>
            </a:r>
            <a:r>
              <a:rPr lang="en-US" sz="2800" b="0" i="0" u="none" strike="noStrike" cap="none" spc="0" baseline="3000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3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sz="28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ℎ=400W/m2·K</a:t>
            </a:r>
            <a:endParaRPr lang="en-US" sz="2800" b="0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b=</m:t>
                      </m:r>
                      <m:f>
                        <m:fPr>
                          <m:ctrlPr>
                            <a:rPr lang="en-US" sz="28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time constant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8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8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 </m:t>
                          </m:r>
                          <m:sSub>
                            <m:sSubPr>
                              <m:ctrl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ρC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  <m:r>
                                <m:rPr/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V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lang="en-US" sz="28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=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f>
                        <m:fPr>
                          <m:ctrlPr>
                            <a:rPr lang="en-US" sz="28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3h</m:t>
                          </m:r>
                        </m:num>
                        <m:den>
                          <m:sSub>
                            <m:sSubPr>
                              <m:ctrl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ρC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  <m:r>
                                <m:rPr/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R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mc:Choice>
              <mc:Fallback/>
            </mc:AlternateContent>
            <a:endParaRPr lang="en-US" sz="2800" b="0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R=</m:t>
                      </m:r>
                      <m:f>
                        <m:fPr>
                          <m:ctrlPr>
                            <a:rPr lang="en-US" sz="28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3h</m:t>
                          </m:r>
                        </m:num>
                        <m:den>
                          <m:sSub>
                            <m:sSubPr>
                              <m:ctrl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ρC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80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</m:oMath>
                  </m:oMathPara>
                </a14:m>
              </mc:Choice>
              <mc:Fallback/>
            </mc:AlternateContent>
            <a:r>
              <a:rPr lang="en-US" sz="28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0.000353m=0.353mm</a:t>
            </a:r>
            <a:endParaRPr lang="en-US" sz="2800" b="0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tx1"/>
                </a:solidFill>
                <a:latin typeface="Calibri"/>
                <a:ea typeface="Calibri"/>
                <a:cs typeface="Calibri"/>
              </a:rPr>
              <a:t>Is Lumped capacitance appropriate?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Bi=</m:t>
                      </m:r>
                      <m:f>
                        <m:fPr>
                          <m:ctrlPr>
                            <a:rPr lang="en-GB" sz="2800" b="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/>
                            <a:rPr lang="en-GB" sz="2800" b="0" i="1">
                              <a:latin typeface="Cambria Math"/>
                            </a:rPr>
                            <m:t>h</m:t>
                          </m:r>
                          <m:sSub>
                            <m:sSubPr>
                              <m:ctrlPr>
                                <a:rPr lang="en-GB" sz="2800" b="0" i="1"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/>
                                <a:rPr lang="en-GB" sz="2800" b="0" i="1">
                                  <a:latin typeface="Cambria Math"/>
                                </a:rPr>
                                <m:t> </m:t>
                              </m:r>
                              <m:r>
                                <m:rPr/>
                                <a:rPr lang="en-GB" sz="2800" b="0" i="1">
                                  <a:latin typeface="Cambria Math"/>
                                </a:rPr>
                                <m:t>𝐿</m:t>
                              </m:r>
                            </m:e>
                            <m:sub>
                              <m:r>
                                <m:rPr/>
                                <a:rPr lang="en-GB" sz="2800" b="0" i="1">
                                  <a:latin typeface="Cambria Math"/>
                                </a:rPr>
                                <m:t>𝑐</m:t>
                              </m:r>
                            </m:sub>
                          </m:sSub>
                        </m:num>
                        <m:den>
                          <m:r>
                            <m:rPr/>
                            <a:rPr lang="en-GB" sz="2800" b="0" i="1">
                              <a:latin typeface="Cambria Math"/>
                            </a:rPr>
                            <m:t>𝑘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800" b="0" i="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h R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=0.0467</m:t>
                      </m:r>
                    </m:oMath>
                  </m:oMathPara>
                </a14:m>
              </mc:Choice>
              <mc:Fallback/>
            </mc:AlternateContent>
            <a:endParaRPr/>
          </a:p>
          <a:p>
            <a:pPr>
              <a:defRPr/>
            </a:pPr>
            <a:r>
              <a:rPr lang="en-US"/>
              <a:t>Bi&lt;0.1, so yes!</a:t>
            </a:r>
            <a:endParaRPr lang="en-US"/>
          </a:p>
          <a:p>
            <a:pPr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-bt = </m:t>
                      </m:r>
                      <m:func>
                        <m:funcPr>
                          <m:ctrlPr>
                            <a:rPr lang="en-U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sz="2800" b="0" i="0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i"/>
                                    </m:rPr>
                                    <a:rPr lang="en-US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T</m:t>
                                  </m:r>
                                  <m:d>
                                    <m:dPr>
                                      <m:begChr m:val="("/>
                                      <m:endChr m:val=")"/>
                                      <m:ctrlPr>
                                        <a:rPr lang="en-US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t</m:t>
                                      </m:r>
                                    </m:e>
                                  </m:d>
                                  <m:r>
                                    <m:rPr/>
                                    <a:rPr lang="en-US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  <m:sSub>
                                    <m:sSubPr>
                                      <m:ctrlPr>
                                        <a:rPr lang="en-US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en-US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T</m:t>
                                      </m:r>
                                    </m:e>
                                    <m:sub>
                                      <m:r>
                                        <m:rPr/>
                                        <a:rPr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∞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i"/>
                                        </m:rPr>
                                        <a:rPr lang="en-US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T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i"/>
                                        </m:rPr>
                                        <a:rPr lang="en-US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i</m:t>
                                      </m:r>
                                    </m:sub>
                                  </m:sSub>
                                  <m:r>
                                    <m:rPr/>
                                    <a:rPr lang="en-US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-</m:t>
                                  </m:r>
                                  <m:sSub>
                                    <m:sSubPr>
                                      <m:ctrlPr>
                                        <a:rPr lang="en-US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/>
                                        <a:rPr lang="en-US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T</m:t>
                                      </m:r>
                                    </m:e>
                                    <m:sub>
                                      <m:r>
                                        <m:rPr/>
                                        <a:rPr lang="en-US" u="none" strike="noStrike" cap="none" spc="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∞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</mc:Choice>
              <mc:Fallback/>
            </mc:AlternateContent>
            <a:r>
              <a:rPr lang="en-US"/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t=-</m:t>
                      </m:r>
                      <m:func>
                        <m:funcPr>
                          <m:ctrlPr>
                            <a:rPr lang="en-U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n-US" i="1" u="none" strike="noStrike" cap="none" spc="0">
                                  <a:solidFill>
                                    <a:srgbClr val="000000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i"/>
                                    </m:rPr>
                                    <a:rPr lang="en-US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199-200</m:t>
                                  </m:r>
                                </m:num>
                                <m:den>
                                  <m:r>
                                    <m:rPr>
                                      <m:sty m:val="i"/>
                                    </m:rPr>
                                    <a:rPr lang="en-US" u="none" strike="noStrike" cap="none" spc="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25-200</m:t>
                                  </m:r>
                                </m:den>
                              </m:f>
                            </m:e>
                          </m:d>
                          <m:r>
                            <m:rPr/>
                            <a:rPr lang="en-US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=5.16</m:t>
                          </m:r>
                        </m:e>
                      </m:func>
                    </m:oMath>
                  </m:oMathPara>
                </a14:m>
              </mc:Choice>
              <mc:Fallback/>
            </mc:AlternateContent>
            <a:r>
              <a:rPr lang="en-US"/>
              <a:t> seconds</a:t>
            </a:r>
            <a:endParaRPr lang="en-US"/>
          </a:p>
          <a:p>
            <a:pPr>
              <a:defRPr/>
            </a:pPr>
            <a:endParaRPr lang="en-US"/>
          </a:p>
        </p:txBody>
      </p:sp>
      <p:sp>
        <p:nvSpPr>
          <p:cNvPr id="719750664" name="Date Placeholder 3"/>
          <p:cNvSpPr>
            <a:spLocks noChangeArrowheads="1"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B5C921C-5349-1A88-47E6-86987CFFA355}" type="datetime1">
              <a:rPr cap="none"/>
              <a:t/>
            </a:fld>
            <a:endParaRPr cap="none"/>
          </a:p>
        </p:txBody>
      </p:sp>
      <p:sp>
        <p:nvSpPr>
          <p:cNvPr id="989572779" name="Slide Number Placeholder 5"/>
          <p:cNvSpPr>
            <a:spLocks noChangeArrowheads="1"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9C6A93B-CF13-BEE0-E99E-D4D94AC33472}" type="slidenum">
              <a:rPr cap="none"/>
              <a:t/>
            </a:fld>
            <a:endParaRPr cap="none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7284172" name="Title 3"/>
          <p:cNvSpPr>
            <a:spLocks noChangeArrowheads="1" noGrp="1"/>
          </p:cNvSpPr>
          <p:nvPr>
            <p:ph type="ctrTitle"/>
          </p:nvPr>
        </p:nvSpPr>
        <p:spPr bwMode="auto">
          <a:xfrm>
            <a:off x="0" y="360045"/>
            <a:ext cx="12192000" cy="7080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sz="4000" cap="none">
                <a:latin typeface="Helvetica"/>
                <a:ea typeface="Verdana"/>
                <a:cs typeface="Helvetica"/>
              </a:rPr>
              <a:t>Summary</a:t>
            </a:r>
            <a:endParaRPr sz="4000" cap="none">
              <a:latin typeface="Helvetica"/>
              <a:ea typeface="Verdana"/>
              <a:cs typeface="Helvetica"/>
            </a:endParaRPr>
          </a:p>
        </p:txBody>
      </p:sp>
      <p:sp>
        <p:nvSpPr>
          <p:cNvPr id="1752583782" name="Slide Number Placeholder 17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8999855" y="6356350"/>
            <a:ext cx="2743200" cy="365125"/>
          </a:xfrm>
        </p:spPr>
        <p:txBody>
          <a:bodyPr/>
          <a:lstStyle/>
          <a:p>
            <a:pPr>
              <a:defRPr/>
            </a:pPr>
            <a:fld id="{0D515762-2CE0-04A1-AEE9-DAF419A7588F}" type="slidenum"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18</a:t>
            </a:fld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430878188" name="Picture 8" descr="A picture containing text, clipart&#10;&#10;Description automatically generated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48945" y="360045"/>
            <a:ext cx="1967865" cy="5397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607495148" name="TextBox 1"/>
          <p:cNvSpPr/>
          <p:nvPr/>
        </p:nvSpPr>
        <p:spPr bwMode="auto">
          <a:xfrm>
            <a:off x="1056005" y="4822825"/>
            <a:ext cx="10079990" cy="101536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defRPr/>
            </a:pPr>
            <a:r>
              <a:rPr sz="2000" cap="none">
                <a:latin typeface="Helvetica"/>
                <a:ea typeface="Calibri"/>
                <a:cs typeface="Calibri"/>
              </a:rPr>
              <a:t>“</a:t>
            </a:r>
            <a:r>
              <a:rPr sz="2000" i="1" cap="none">
                <a:latin typeface="Helvetica"/>
                <a:ea typeface="Calibri"/>
                <a:cs typeface="Calibri"/>
              </a:rPr>
              <a:t>Do not dismiss lumped-capacity analysis because of its simplicity. Because of uncertainties in the convection coefficient, it may not be necessary to use more elaborate analysis </a:t>
            </a:r>
            <a:r>
              <a:rPr sz="2000" i="1" cap="none">
                <a:latin typeface="Helvetica"/>
                <a:ea typeface="Calibri"/>
                <a:cs typeface="Calibri"/>
              </a:rPr>
              <a:t>techniques.</a:t>
            </a:r>
            <a:r>
              <a:rPr sz="2000" cap="none">
                <a:latin typeface="Helvetica"/>
                <a:ea typeface="Calibri"/>
                <a:cs typeface="Calibri"/>
              </a:rPr>
              <a:t>” (Holman, 2010, p143)</a:t>
            </a:r>
            <a:endParaRPr sz="2000" cap="none">
              <a:latin typeface="Helvetica"/>
              <a:ea typeface="Calibri"/>
              <a:cs typeface="Calibri"/>
            </a:endParaRPr>
          </a:p>
        </p:txBody>
      </p:sp>
      <p:sp>
        <p:nvSpPr>
          <p:cNvPr id="1664028370" name="Slide Number Placeholder 17"/>
          <p:cNvSpPr/>
          <p:nvPr/>
        </p:nvSpPr>
        <p:spPr bwMode="auto">
          <a:xfrm>
            <a:off x="448945" y="6356350"/>
            <a:ext cx="4434840" cy="3651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ctr"/>
          <a:lstStyle>
            <a:lvl1pPr marL="0" algn="r" defTabSz="457200">
              <a:defRPr sz="1200" cap="none">
                <a:solidFill>
                  <a:srgbClr val="8C8C8C"/>
                </a:solidFill>
                <a:latin typeface="Calibri"/>
                <a:ea typeface="Calibri"/>
                <a:cs typeface="Calibri"/>
              </a:defRPr>
            </a:lvl1pPr>
            <a:lvl2pPr marL="457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2pPr>
            <a:lvl3pPr marL="914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3pPr>
            <a:lvl4pPr marL="1371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4pPr>
            <a:lvl5pPr marL="18288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5pPr>
            <a:lvl6pPr marL="22860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6pPr>
            <a:lvl7pPr marL="2743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7pPr>
            <a:lvl8pPr marL="3200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8pPr>
            <a:lvl9pPr marL="3657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/>
            </a:pPr>
            <a:r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EX3030/EM40JN</a:t>
            </a:r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sp>
        <p:nvSpPr>
          <p:cNvPr id="866838513" name="TextBox 4"/>
          <p:cNvSpPr/>
          <p:nvPr/>
        </p:nvSpPr>
        <p:spPr bwMode="auto">
          <a:xfrm>
            <a:off x="1056005" y="2079625"/>
            <a:ext cx="10079990" cy="236664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sz="2000" cap="none">
                <a:latin typeface="Helvetica"/>
                <a:ea typeface="Calibri"/>
                <a:cs typeface="Calibri"/>
              </a:rPr>
              <a:t>The simplest type of unsteady heat transfer problem, </a:t>
            </a:r>
            <a:r>
              <a:rPr sz="2000" i="1" cap="none">
                <a:latin typeface="Helvetica"/>
                <a:ea typeface="Calibri"/>
                <a:cs typeface="Calibri"/>
              </a:rPr>
              <a:t>T</a:t>
            </a:r>
            <a:r>
              <a:rPr sz="2000" cap="none">
                <a:latin typeface="Helvetica"/>
                <a:ea typeface="Calibri"/>
                <a:cs typeface="Calibri"/>
              </a:rPr>
              <a:t>(</a:t>
            </a:r>
            <a:r>
              <a:rPr sz="2000" i="1" cap="none">
                <a:latin typeface="Helvetica"/>
                <a:ea typeface="Calibri"/>
                <a:cs typeface="Calibri"/>
              </a:rPr>
              <a:t>t</a:t>
            </a:r>
            <a:r>
              <a:rPr sz="2000" cap="none">
                <a:latin typeface="Helvetica"/>
                <a:ea typeface="Calibri"/>
                <a:cs typeface="Calibri"/>
              </a:rPr>
              <a:t>)</a:t>
            </a:r>
            <a:endParaRPr sz="2000" cap="none">
              <a:latin typeface="Helvetica"/>
              <a:ea typeface="Calibri"/>
              <a:cs typeface="Calibri"/>
            </a:endParaRPr>
          </a:p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sz="2000" cap="none">
                <a:latin typeface="Helvetica"/>
                <a:ea typeface="Calibri"/>
                <a:cs typeface="Calibri"/>
              </a:rPr>
              <a:t>Applicable in many situations e.g. heating/cooling of simple geometrical objects</a:t>
            </a:r>
            <a:endParaRPr sz="2000" cap="none">
              <a:latin typeface="Helvetica"/>
              <a:ea typeface="Calibri"/>
              <a:cs typeface="Calibri"/>
            </a:endParaRPr>
          </a:p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sz="2000" cap="none">
                <a:latin typeface="Helvetica"/>
                <a:ea typeface="Calibri"/>
                <a:cs typeface="Calibri"/>
              </a:rPr>
              <a:t>Useful for estimating e.g. time it will take a given body to reach a certain temperature or for a given time, we can determine the temperature</a:t>
            </a:r>
            <a:endParaRPr sz="2000" cap="none">
              <a:latin typeface="Helvetica"/>
              <a:ea typeface="Calibri"/>
              <a:cs typeface="Calibri"/>
            </a:endParaRPr>
          </a:p>
          <a:p>
            <a:pPr marL="285750" indent="-285750" algn="ctr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  <a:defRPr/>
            </a:pPr>
            <a:r>
              <a:rPr sz="2000" cap="none">
                <a:latin typeface="Helvetica"/>
                <a:ea typeface="Calibri"/>
                <a:cs typeface="Calibri"/>
              </a:rPr>
              <a:t>Strictly speaking, Bi &lt; 0.1 to obtain acceptable results </a:t>
            </a:r>
            <a:r>
              <a:rPr sz="2000" b="1" cap="none">
                <a:latin typeface="Helvetica"/>
                <a:ea typeface="Calibri"/>
                <a:cs typeface="Calibri"/>
              </a:rPr>
              <a:t>so always check </a:t>
            </a:r>
            <a:r>
              <a:rPr sz="2000" b="1" i="1" cap="none">
                <a:latin typeface="Helvetica"/>
                <a:ea typeface="Calibri"/>
                <a:cs typeface="Calibri"/>
              </a:rPr>
              <a:t>Bi</a:t>
            </a:r>
            <a:r>
              <a:rPr sz="2000" b="1" cap="none">
                <a:latin typeface="Helvetica"/>
                <a:ea typeface="Calibri"/>
                <a:cs typeface="Calibri"/>
              </a:rPr>
              <a:t> first</a:t>
            </a:r>
            <a:endParaRPr sz="2000" b="1" cap="none">
              <a:latin typeface="Helvetica"/>
              <a:ea typeface="Calibri"/>
              <a:cs typeface="Calibri"/>
            </a:endParaRPr>
          </a:p>
        </p:txBody>
      </p:sp>
      <p:sp>
        <p:nvSpPr>
          <p:cNvPr id="1500149509" name="TextBox 6"/>
          <p:cNvSpPr/>
          <p:nvPr/>
        </p:nvSpPr>
        <p:spPr bwMode="auto">
          <a:xfrm>
            <a:off x="1056005" y="1303020"/>
            <a:ext cx="10079990" cy="4000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/>
          <a:lstStyle/>
          <a:p>
            <a:pPr algn="ctr">
              <a:spcAft>
                <a:spcPts val="600"/>
              </a:spcAft>
              <a:defRPr/>
            </a:pPr>
            <a:r>
              <a:rPr sz="2000" b="1" cap="none">
                <a:solidFill>
                  <a:srgbClr val="FF9900"/>
                </a:solidFill>
                <a:latin typeface="Helvetica"/>
                <a:ea typeface="Calibri"/>
                <a:cs typeface="Calibri"/>
              </a:rPr>
              <a:t>Summary of the lumped capacitance method</a:t>
            </a:r>
            <a:endParaRPr sz="2000" b="1" cap="none">
              <a:solidFill>
                <a:srgbClr val="FF9900"/>
              </a:solidFill>
              <a:latin typeface="Helvetica"/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0353076" name="Title 3"/>
          <p:cNvSpPr>
            <a:spLocks noChangeArrowheads="1" noGrp="1"/>
          </p:cNvSpPr>
          <p:nvPr>
            <p:ph type="ctrTitle"/>
          </p:nvPr>
        </p:nvSpPr>
        <p:spPr bwMode="auto">
          <a:xfrm>
            <a:off x="1524000" y="3075305"/>
            <a:ext cx="9144000" cy="7073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t">
            <a:prstTxWarp prst="textNoShape"/>
          </a:bodyPr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sz="4000" cap="none">
                <a:latin typeface="Helvetica"/>
                <a:ea typeface="Verdana"/>
                <a:cs typeface="Helvetica"/>
              </a:rPr>
              <a:t>Thanks for your attention</a:t>
            </a:r>
            <a:endParaRPr sz="4000" cap="none">
              <a:latin typeface="Helvetica"/>
              <a:ea typeface="Verdana"/>
              <a:cs typeface="Helvetica"/>
            </a:endParaRPr>
          </a:p>
        </p:txBody>
      </p:sp>
      <p:sp>
        <p:nvSpPr>
          <p:cNvPr id="1481623741" name="Slide Number Placeholder 17"/>
          <p:cNvSpPr>
            <a:spLocks noChangeArrowheads="1" noGrp="1"/>
          </p:cNvSpPr>
          <p:nvPr>
            <p:ph type="sldNum" sz="quarter" idx="12"/>
          </p:nvPr>
        </p:nvSpPr>
        <p:spPr bwMode="auto">
          <a:xfrm>
            <a:off x="8999855" y="6356350"/>
            <a:ext cx="2743200" cy="365125"/>
          </a:xfrm>
        </p:spPr>
        <p:txBody>
          <a:bodyPr/>
          <a:lstStyle/>
          <a:p>
            <a:pPr>
              <a:defRPr/>
            </a:pPr>
            <a:fld id="{39ECC716-58D4-B931-9A54-AE64891A6CFB}" type="slidenum"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19</a:t>
            </a:fld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  <p:pic>
        <p:nvPicPr>
          <p:cNvPr id="1725424404" name="Picture 2" descr="A picture containing text, clipart&#10;&#10;Description automatically generated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48945" y="360045"/>
            <a:ext cx="1967865" cy="539750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406420017" name="Slide Number Placeholder 17"/>
          <p:cNvSpPr/>
          <p:nvPr/>
        </p:nvSpPr>
        <p:spPr bwMode="auto">
          <a:xfrm>
            <a:off x="448945" y="6356350"/>
            <a:ext cx="4434840" cy="36512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899" anchor="ctr"/>
          <a:lstStyle>
            <a:lvl1pPr marL="0" algn="r" defTabSz="457200">
              <a:defRPr sz="1200" cap="none">
                <a:solidFill>
                  <a:srgbClr val="8C8C8C"/>
                </a:solidFill>
                <a:latin typeface="Calibri"/>
                <a:ea typeface="Calibri"/>
                <a:cs typeface="Calibri"/>
              </a:defRPr>
            </a:lvl1pPr>
            <a:lvl2pPr marL="457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2pPr>
            <a:lvl3pPr marL="914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3pPr>
            <a:lvl4pPr marL="1371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4pPr>
            <a:lvl5pPr marL="18288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5pPr>
            <a:lvl6pPr marL="22860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6pPr>
            <a:lvl7pPr marL="27432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7pPr>
            <a:lvl8pPr marL="32004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8pPr>
            <a:lvl9pPr marL="3657600" algn="l" defTabSz="457200">
              <a:defRPr sz="1800" cap="none">
                <a:solidFill>
                  <a:schemeClr val="tx1"/>
                </a:solidFill>
                <a:latin typeface="Calibri"/>
                <a:ea typeface="Calibri"/>
                <a:cs typeface="Calibri"/>
              </a:defRPr>
            </a:lvl9pPr>
          </a:lstStyle>
          <a:p>
            <a:pPr algn="l">
              <a:defRPr/>
            </a:pPr>
            <a:r>
              <a:rPr sz="1600" cap="none">
                <a:solidFill>
                  <a:srgbClr val="7F7F7F"/>
                </a:solidFill>
                <a:latin typeface="Helvetica"/>
                <a:ea typeface="Calibri"/>
                <a:cs typeface="Helvetica"/>
              </a:rPr>
              <a:t>EX3030/EM40JN</a:t>
            </a:r>
            <a:endParaRPr sz="1600" cap="none">
              <a:solidFill>
                <a:srgbClr val="7F7F7F"/>
              </a:solidFill>
              <a:latin typeface="Helvetica"/>
              <a:ea typeface="Calibri"/>
              <a:cs typeface="Helvetic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Presentation">
  <a:themeElements>
    <a:clrScheme name="Presentation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resentation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4472C4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5B9BD5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Presentation">
  <a:themeElements>
    <a:clrScheme name="Presentation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resentation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44546A"/>
        </a:dk2>
        <a:lt2>
          <a:srgbClr val="E7E6E6"/>
        </a:lt2>
        <a:accent1>
          <a:srgbClr val="4472C4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5B9BD5"/>
        </a:accent5>
        <a:accent6>
          <a:srgbClr val="70AD47"/>
        </a:accent6>
        <a:hlink>
          <a:srgbClr val="0563C1"/>
        </a:hlink>
        <a:folHlink>
          <a:srgbClr val="954F7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ONLYOFFICE/9.0.0.172</Application>
  <PresentationFormat>On-screen Show (4:3)</PresentationFormat>
  <Paragraphs>0</Paragraphs>
  <Slides>20</Slides>
  <Notes>20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4</cp:revision>
  <dcterms:created xsi:type="dcterms:W3CDTF">2021-11-09T11:20:31Z</dcterms:created>
  <dcterms:modified xsi:type="dcterms:W3CDTF">2025-11-04T10:37:34Z</dcterms:modified>
</cp:coreProperties>
</file>