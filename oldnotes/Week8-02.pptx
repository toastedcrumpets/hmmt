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2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9144000"/>
  <p:defaultTextStyle>
    <a:lvl1pPr marL="0" marR="0" indent="0" algn="l" defTabSz="457200">
      <a:lnSpc>
        <a:spcPct val="100000"/>
      </a:lnSpc>
      <a:spcBef>
        <a:spcPts val="0"/>
      </a:spcBef>
      <a:spcAft>
        <a:spcPts val="0"/>
      </a:spcAft>
      <a:buNone/>
      <a:defRPr sz="1800" b="0" i="0" u="none" strike="noStrike" cap="none" spc="0">
        <a:solidFill>
          <a:schemeClr val="tx1"/>
        </a:solidFill>
        <a:latin typeface="Calibri"/>
        <a:ea typeface="Calibri"/>
        <a:cs typeface="Calibri"/>
      </a:defRPr>
    </a:lvl1pPr>
    <a:lvl2pPr marL="457200" marR="0" indent="0" algn="l" defTabSz="457200">
      <a:lnSpc>
        <a:spcPct val="100000"/>
      </a:lnSpc>
      <a:spcBef>
        <a:spcPts val="0"/>
      </a:spcBef>
      <a:spcAft>
        <a:spcPts val="0"/>
      </a:spcAft>
      <a:buNone/>
      <a:defRPr sz="1800" b="0" i="0" u="none" strike="noStrike" cap="none" spc="0">
        <a:solidFill>
          <a:schemeClr val="tx1"/>
        </a:solidFill>
        <a:latin typeface="Calibri"/>
        <a:ea typeface="Calibri"/>
        <a:cs typeface="Calibri"/>
      </a:defRPr>
    </a:lvl2pPr>
    <a:lvl3pPr marL="914400" marR="0" indent="0" algn="l" defTabSz="457200">
      <a:lnSpc>
        <a:spcPct val="100000"/>
      </a:lnSpc>
      <a:spcBef>
        <a:spcPts val="0"/>
      </a:spcBef>
      <a:spcAft>
        <a:spcPts val="0"/>
      </a:spcAft>
      <a:buNone/>
      <a:defRPr sz="1800" b="0" i="0" u="none" strike="noStrike" cap="none" spc="0">
        <a:solidFill>
          <a:schemeClr val="tx1"/>
        </a:solidFill>
        <a:latin typeface="Calibri"/>
        <a:ea typeface="Calibri"/>
        <a:cs typeface="Calibri"/>
      </a:defRPr>
    </a:lvl3pPr>
    <a:lvl4pPr marL="1371600" marR="0" indent="0" algn="l" defTabSz="457200">
      <a:lnSpc>
        <a:spcPct val="100000"/>
      </a:lnSpc>
      <a:spcBef>
        <a:spcPts val="0"/>
      </a:spcBef>
      <a:spcAft>
        <a:spcPts val="0"/>
      </a:spcAft>
      <a:buNone/>
      <a:defRPr sz="1800" b="0" i="0" u="none" strike="noStrike" cap="none" spc="0">
        <a:solidFill>
          <a:schemeClr val="tx1"/>
        </a:solidFill>
        <a:latin typeface="Calibri"/>
        <a:ea typeface="Calibri"/>
        <a:cs typeface="Calibri"/>
      </a:defRPr>
    </a:lvl4pPr>
    <a:lvl5pPr marL="1828800" marR="0" indent="0" algn="l" defTabSz="457200">
      <a:lnSpc>
        <a:spcPct val="100000"/>
      </a:lnSpc>
      <a:spcBef>
        <a:spcPts val="0"/>
      </a:spcBef>
      <a:spcAft>
        <a:spcPts val="0"/>
      </a:spcAft>
      <a:buNone/>
      <a:defRPr sz="1800" b="0" i="0" u="none" strike="noStrike" cap="none" spc="0">
        <a:solidFill>
          <a:schemeClr val="tx1"/>
        </a:solidFill>
        <a:latin typeface="Calibri"/>
        <a:ea typeface="Calibri"/>
        <a:cs typeface="Calibri"/>
      </a:defRPr>
    </a:lvl5pPr>
    <a:lvl6pPr marL="2286000" marR="0" indent="0" algn="l" defTabSz="457200">
      <a:lnSpc>
        <a:spcPct val="100000"/>
      </a:lnSpc>
      <a:spcBef>
        <a:spcPts val="0"/>
      </a:spcBef>
      <a:spcAft>
        <a:spcPts val="0"/>
      </a:spcAft>
      <a:buNone/>
      <a:defRPr sz="1800" b="0" i="0" u="none" strike="noStrike" cap="none" spc="0">
        <a:solidFill>
          <a:schemeClr val="tx1"/>
        </a:solidFill>
        <a:latin typeface="Calibri"/>
        <a:ea typeface="Calibri"/>
        <a:cs typeface="Calibri"/>
      </a:defRPr>
    </a:lvl6pPr>
    <a:lvl7pPr marL="2743200" marR="0" indent="0" algn="l" defTabSz="457200">
      <a:lnSpc>
        <a:spcPct val="100000"/>
      </a:lnSpc>
      <a:spcBef>
        <a:spcPts val="0"/>
      </a:spcBef>
      <a:spcAft>
        <a:spcPts val="0"/>
      </a:spcAft>
      <a:buNone/>
      <a:defRPr sz="1800" b="0" i="0" u="none" strike="noStrike" cap="none" spc="0">
        <a:solidFill>
          <a:schemeClr val="tx1"/>
        </a:solidFill>
        <a:latin typeface="Calibri"/>
        <a:ea typeface="Calibri"/>
        <a:cs typeface="Calibri"/>
      </a:defRPr>
    </a:lvl7pPr>
    <a:lvl8pPr marL="3200400" marR="0" indent="0" algn="l" defTabSz="457200">
      <a:lnSpc>
        <a:spcPct val="100000"/>
      </a:lnSpc>
      <a:spcBef>
        <a:spcPts val="0"/>
      </a:spcBef>
      <a:spcAft>
        <a:spcPts val="0"/>
      </a:spcAft>
      <a:buNone/>
      <a:defRPr sz="1800" b="0" i="0" u="none" strike="noStrike" cap="none" spc="0">
        <a:solidFill>
          <a:schemeClr val="tx1"/>
        </a:solidFill>
        <a:latin typeface="Calibri"/>
        <a:ea typeface="Calibri"/>
        <a:cs typeface="Calibri"/>
      </a:defRPr>
    </a:lvl8pPr>
    <a:lvl9pPr marL="3657600" marR="0" indent="0" algn="l" defTabSz="457200">
      <a:lnSpc>
        <a:spcPct val="100000"/>
      </a:lnSpc>
      <a:spcBef>
        <a:spcPts val="0"/>
      </a:spcBef>
      <a:spcAft>
        <a:spcPts val="0"/>
      </a:spcAft>
      <a:buNone/>
      <a:defRPr sz="1800" b="0" i="0" u="none" strike="noStrike" cap="none" spc="0">
        <a:solidFill>
          <a:schemeClr val="tx1"/>
        </a:solidFill>
        <a:latin typeface="Calibri"/>
        <a:ea typeface="Calibri"/>
        <a:cs typeface="Calibri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enClr>
      <a:srgbClr val="0000FF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 snapToGrid="0">
      <p:cViewPr varScale="1">
        <p:scale>
          <a:sx n="106" d="100"/>
          <a:sy n="106" d="100"/>
        </p:scale>
        <p:origin x="4455" y="215"/>
      </p:cViewPr>
      <p:guideLst>
        <p:guide pos="2160" orient="horz"/>
        <p:guide pos="3863"/>
      </p:guideLst>
    </p:cSldViewPr>
  </p:slideViewPr>
  <p:gridSpacing cx="184017920" cy="18401792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 /><Relationship Id="rId25" Type="http://schemas.openxmlformats.org/officeDocument/2006/relationships/tableStyles" Target="tableStyles.xml" /><Relationship Id="rId2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5699415" name="Header Placeholder 1"/>
          <p:cNvSpPr>
            <a:spLocks noChangeArrowheads="1" noGrp="1"/>
          </p:cNvSpPr>
          <p:nvPr>
            <p:ph type="hdr" sz="quarter"/>
          </p:nvPr>
        </p:nvSpPr>
        <p:spPr bwMode="auto">
          <a:xfrm>
            <a:off x="0" y="0"/>
            <a:ext cx="2971800" cy="459104"/>
          </a:xfrm>
          <a:prstGeom prst="rect">
            <a:avLst/>
          </a:prstGeom>
        </p:spPr>
        <p:txBody>
          <a:bodyPr vert="horz" wrap="square" lIns="91440" tIns="45720" rIns="91440" bIns="45720" numCol="1" spcCol="215899" anchor="t">
            <a:prstTxWarp prst="textNoShape"/>
          </a:bodyPr>
          <a:lstStyle>
            <a:lvl1pPr algn="l">
              <a:defRPr sz="1200" cap="none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defRPr/>
            </a:pPr>
            <a:endParaRPr cap="none"/>
          </a:p>
        </p:txBody>
      </p:sp>
      <p:sp>
        <p:nvSpPr>
          <p:cNvPr id="1138643021" name="Date Placeholder 2"/>
          <p:cNvSpPr>
            <a:spLocks noChangeArrowheads="1" noGrp="1"/>
          </p:cNvSpPr>
          <p:nvPr>
            <p:ph type="dt" idx="10"/>
          </p:nvPr>
        </p:nvSpPr>
        <p:spPr bwMode="auto">
          <a:xfrm>
            <a:off x="3884930" y="0"/>
            <a:ext cx="2971800" cy="459104"/>
          </a:xfrm>
          <a:prstGeom prst="rect">
            <a:avLst/>
          </a:prstGeom>
        </p:spPr>
        <p:txBody>
          <a:bodyPr vert="horz" wrap="square" lIns="91440" tIns="45720" rIns="91440" bIns="45720" numCol="1" spcCol="215899" anchor="t">
            <a:prstTxWarp prst="textNoShape"/>
          </a:bodyPr>
          <a:lstStyle>
            <a:lvl1pPr algn="r">
              <a:defRPr sz="1200" cap="none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defRPr/>
            </a:pPr>
            <a:fld id="{01F07C9A-D4EC-A58A-A248-22DF32065477}" type="datetime1">
              <a:rPr cap="none"/>
              <a:t>10/11/2022</a:t>
            </a:fld>
            <a:endParaRPr cap="none"/>
          </a:p>
        </p:txBody>
      </p:sp>
      <p:sp>
        <p:nvSpPr>
          <p:cNvPr id="1845720550" name="Slide Image Placeholder 3"/>
          <p:cNvSpPr>
            <a:spLocks noChangeArrowheads="1" noGrp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 algn="ctr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 vert="horz" wrap="square" lIns="91440" tIns="45720" rIns="91440" bIns="45720" numCol="1" spcCol="215899" anchor="ctr">
            <a:prstTxWarp prst="textNoShape"/>
          </a:bodyPr>
          <a:lstStyle/>
          <a:p>
            <a:pPr>
              <a:defRPr/>
            </a:pPr>
            <a:endParaRPr cap="none"/>
          </a:p>
        </p:txBody>
      </p:sp>
      <p:sp>
        <p:nvSpPr>
          <p:cNvPr id="614363951" name="Notes Placeholder 4"/>
          <p:cNvSpPr>
            <a:spLocks noChangeArrowheads="1" noGrp="1"/>
          </p:cNvSpPr>
          <p:nvPr>
            <p:ph type="body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899" anchor="t">
            <a:prstTxWarp prst="textNoShape"/>
          </a:bodyPr>
          <a:lstStyle/>
          <a:p>
            <a:pPr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 cap="none"/>
          </a:p>
        </p:txBody>
      </p:sp>
      <p:sp>
        <p:nvSpPr>
          <p:cNvPr id="2004035809" name="Footer Placeholder 5"/>
          <p:cNvSpPr>
            <a:spLocks noChangeArrowheads="1" noGrp="1"/>
          </p:cNvSpPr>
          <p:nvPr>
            <p:ph type="ftr" sz="quarter" idx="11"/>
          </p:nvPr>
        </p:nvSpPr>
        <p:spPr bwMode="auto">
          <a:xfrm>
            <a:off x="0" y="8685530"/>
            <a:ext cx="2971800" cy="4584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899" anchor="b">
            <a:prstTxWarp prst="textNoShape"/>
          </a:bodyPr>
          <a:lstStyle>
            <a:lvl1pPr algn="l">
              <a:defRPr sz="1200" cap="none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defRPr/>
            </a:pPr>
            <a:endParaRPr cap="none"/>
          </a:p>
        </p:txBody>
      </p:sp>
      <p:sp>
        <p:nvSpPr>
          <p:cNvPr id="1506430429" name="Slide Number Placeholder 6"/>
          <p:cNvSpPr>
            <a:spLocks noChangeArrowheads="1" noGrp="1"/>
          </p:cNvSpPr>
          <p:nvPr>
            <p:ph type="sldNum" sz="quarter" idx="12"/>
          </p:nvPr>
        </p:nvSpPr>
        <p:spPr bwMode="auto">
          <a:xfrm>
            <a:off x="3884930" y="8685530"/>
            <a:ext cx="2971800" cy="4584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899" anchor="b">
            <a:prstTxWarp prst="textNoShape"/>
          </a:bodyPr>
          <a:lstStyle>
            <a:lvl1pPr algn="r">
              <a:defRPr sz="1200" cap="none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defRPr/>
            </a:pPr>
            <a:fld id="{5F348971-3FB2-617F-FC8C-C92AC7C20A9C}" type="slidenum">
              <a:rPr cap="none"/>
              <a:t>‹#›</a:t>
            </a:fld>
            <a:endParaRPr cap="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1" ftr="0" hdr="0" sldNum="1"/>
  <p:notesStyle>
    <a:lvl1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200" b="0" i="0" u="none" strike="noStrike" cap="none" spc="0">
        <a:solidFill>
          <a:schemeClr val="tx1"/>
        </a:solidFill>
        <a:latin typeface="Calibri"/>
        <a:ea typeface="Calibri"/>
        <a:cs typeface="Calibri"/>
      </a:defRPr>
    </a:lvl1pPr>
    <a:lvl2pPr marL="45720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200" b="0" i="0" u="none" strike="noStrike" cap="none" spc="0">
        <a:solidFill>
          <a:schemeClr val="tx1"/>
        </a:solidFill>
        <a:latin typeface="Calibri"/>
        <a:ea typeface="Calibri"/>
        <a:cs typeface="Calibri"/>
      </a:defRPr>
    </a:lvl2pPr>
    <a:lvl3pPr marL="91440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200" b="0" i="0" u="none" strike="noStrike" cap="none" spc="0">
        <a:solidFill>
          <a:schemeClr val="tx1"/>
        </a:solidFill>
        <a:latin typeface="Calibri"/>
        <a:ea typeface="Calibri"/>
        <a:cs typeface="Calibri"/>
      </a:defRPr>
    </a:lvl3pPr>
    <a:lvl4pPr marL="137160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200" b="0" i="0" u="none" strike="noStrike" cap="none" spc="0">
        <a:solidFill>
          <a:schemeClr val="tx1"/>
        </a:solidFill>
        <a:latin typeface="Calibri"/>
        <a:ea typeface="Calibri"/>
        <a:cs typeface="Calibri"/>
      </a:defRPr>
    </a:lvl4pPr>
    <a:lvl5pPr marL="182880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200" b="0" i="0" u="none" strike="noStrike" cap="none" spc="0">
        <a:solidFill>
          <a:schemeClr val="tx1"/>
        </a:solidFill>
        <a:latin typeface="Calibri"/>
        <a:ea typeface="Calibri"/>
        <a:cs typeface="Calibri"/>
      </a:defRPr>
    </a:lvl5pPr>
    <a:lvl6pPr marL="228600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200" b="0" i="0" u="none" strike="noStrike" cap="none" spc="0">
        <a:solidFill>
          <a:schemeClr val="tx1"/>
        </a:solidFill>
        <a:latin typeface="Calibri"/>
        <a:ea typeface="Calibri"/>
        <a:cs typeface="Calibri"/>
      </a:defRPr>
    </a:lvl6pPr>
    <a:lvl7pPr marL="274320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200" b="0" i="0" u="none" strike="noStrike" cap="none" spc="0">
        <a:solidFill>
          <a:schemeClr val="tx1"/>
        </a:solidFill>
        <a:latin typeface="Calibri"/>
        <a:ea typeface="Calibri"/>
        <a:cs typeface="Calibri"/>
      </a:defRPr>
    </a:lvl7pPr>
    <a:lvl8pPr marL="320040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200" b="0" i="0" u="none" strike="noStrike" cap="none" spc="0">
        <a:solidFill>
          <a:schemeClr val="tx1"/>
        </a:solidFill>
        <a:latin typeface="Calibri"/>
        <a:ea typeface="Calibri"/>
        <a:cs typeface="Calibri"/>
      </a:defRPr>
    </a:lvl8pPr>
    <a:lvl9pPr marL="365760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200" b="0" i="0" u="none" strike="noStrike" cap="none" spc="0">
        <a:solidFill>
          <a:schemeClr val="tx1"/>
        </a:solidFill>
        <a:latin typeface="Calibri"/>
        <a:ea typeface="Calibri"/>
        <a:cs typeface="Calibri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6646960" name="Slide Image Placeholder 1"/>
          <p:cNvSpPr>
            <a:spLocks noChangeArrowheads="1" noGrp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947271" name="Notes Placeholder 2"/>
          <p:cNvSpPr>
            <a:spLocks noChangeArrowheads="1"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</p:spPr>
        <p:txBody>
          <a:bodyPr/>
          <a:lstStyle/>
          <a:p>
            <a:pPr marL="0" indent="0">
              <a:buNone/>
              <a:defRPr/>
            </a:pPr>
            <a:endParaRPr cap="none">
              <a:latin typeface="Helvetica"/>
              <a:ea typeface="Calibri"/>
              <a:cs typeface="Helvetica"/>
            </a:endParaRPr>
          </a:p>
        </p:txBody>
      </p:sp>
      <p:sp>
        <p:nvSpPr>
          <p:cNvPr id="133492840" name="Slide Number Placeholder 3"/>
          <p:cNvSpPr>
            <a:spLocks noChangeArrowheads="1" noGrp="1"/>
          </p:cNvSpPr>
          <p:nvPr>
            <p:ph type="sldNum" sz="quarter" idx="12"/>
          </p:nvPr>
        </p:nvSpPr>
        <p:spPr bwMode="auto">
          <a:xfrm>
            <a:off x="3884930" y="8685530"/>
            <a:ext cx="2971800" cy="458470"/>
          </a:xfrm>
        </p:spPr>
        <p:txBody>
          <a:bodyPr/>
          <a:lstStyle/>
          <a:p>
            <a:pPr marL="0" marR="0" indent="0" algn="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fld id="{72835FFE-B09F-D6A9-D13B-46FC11752713}" type="slidenum">
              <a:rPr cap="none">
                <a:solidFill>
                  <a:srgbClr val="000000"/>
                </a:solidFill>
              </a:rPr>
              <a:t>1</a:t>
            </a:fld>
            <a:endParaRPr cap="none">
              <a:solidFill>
                <a:srgbClr val="000000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560251" name="Slide Image Placeholder 1"/>
          <p:cNvSpPr>
            <a:spLocks noChangeArrowheads="1" noGrp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9124786" name="Notes Placeholder 2"/>
          <p:cNvSpPr>
            <a:spLocks noChangeArrowheads="1"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</p:spPr>
        <p:txBody>
          <a:bodyPr/>
          <a:lstStyle/>
          <a:p>
            <a:pPr marL="171450" indent="-171450">
              <a:buFontTx/>
              <a:buChar char="-"/>
              <a:defRPr/>
            </a:pPr>
            <a:endParaRPr cap="none">
              <a:latin typeface="Helvetica"/>
              <a:ea typeface="Calibri"/>
              <a:cs typeface="Helvetica"/>
            </a:endParaRPr>
          </a:p>
        </p:txBody>
      </p:sp>
      <p:sp>
        <p:nvSpPr>
          <p:cNvPr id="1195696375" name="Slide Number Placeholder 3"/>
          <p:cNvSpPr>
            <a:spLocks noChangeArrowheads="1" noGrp="1"/>
          </p:cNvSpPr>
          <p:nvPr>
            <p:ph type="sldNum" sz="quarter" idx="12"/>
          </p:nvPr>
        </p:nvSpPr>
        <p:spPr bwMode="auto">
          <a:xfrm>
            <a:off x="3884930" y="8685530"/>
            <a:ext cx="2971800" cy="458470"/>
          </a:xfrm>
        </p:spPr>
        <p:txBody>
          <a:bodyPr/>
          <a:lstStyle/>
          <a:p>
            <a:pPr>
              <a:defRPr/>
            </a:pPr>
            <a:fld id="{5F81645A-14B2-D492-FC39-E2C72A770AB7}" type="slidenum">
              <a:rPr cap="none"/>
              <a:t>2</a:t>
            </a:fld>
            <a:endParaRPr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5704999" name="Slide Image Placeholder 1"/>
          <p:cNvSpPr>
            <a:spLocks noChangeArrowheads="1" noGrp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00555474" name="Notes Placeholder 2"/>
          <p:cNvSpPr>
            <a:spLocks noChangeArrowheads="1"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</p:spPr>
        <p:txBody>
          <a:bodyPr/>
          <a:lstStyle/>
          <a:p>
            <a:pPr marL="171450" indent="-171450">
              <a:buFontTx/>
              <a:buChar char="-"/>
              <a:defRPr/>
            </a:pPr>
            <a:endParaRPr cap="none">
              <a:latin typeface="Helvetica"/>
              <a:ea typeface="Calibri"/>
              <a:cs typeface="Helvetica"/>
            </a:endParaRPr>
          </a:p>
        </p:txBody>
      </p:sp>
      <p:sp>
        <p:nvSpPr>
          <p:cNvPr id="492681133" name="Slide Number Placeholder 3"/>
          <p:cNvSpPr>
            <a:spLocks noChangeArrowheads="1" noGrp="1"/>
          </p:cNvSpPr>
          <p:nvPr>
            <p:ph type="sldNum" sz="quarter" idx="12"/>
          </p:nvPr>
        </p:nvSpPr>
        <p:spPr bwMode="auto">
          <a:xfrm>
            <a:off x="3884930" y="8685530"/>
            <a:ext cx="2971800" cy="458470"/>
          </a:xfrm>
        </p:spPr>
        <p:txBody>
          <a:bodyPr/>
          <a:lstStyle/>
          <a:p>
            <a:pPr>
              <a:defRPr/>
            </a:pPr>
            <a:fld id="{100F606C-22FD-5A96-B3B7-D4C32EF94581}" type="slidenum">
              <a:rPr cap="none"/>
              <a:t>3</a:t>
            </a:fld>
            <a:endParaRPr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240968" name="Slide Image Placeholder 1"/>
          <p:cNvSpPr>
            <a:spLocks noChangeArrowheads="1" noGrp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62869510" name="Notes Placeholder 2"/>
          <p:cNvSpPr>
            <a:spLocks noChangeArrowheads="1"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</p:spPr>
        <p:txBody>
          <a:bodyPr/>
          <a:lstStyle/>
          <a:p>
            <a:pPr marL="171450" indent="-171450">
              <a:buFontTx/>
              <a:buChar char="-"/>
              <a:defRPr/>
            </a:pPr>
            <a:endParaRPr cap="none">
              <a:latin typeface="Helvetica"/>
              <a:ea typeface="Calibri"/>
              <a:cs typeface="Helvetica"/>
            </a:endParaRPr>
          </a:p>
        </p:txBody>
      </p:sp>
      <p:sp>
        <p:nvSpPr>
          <p:cNvPr id="1817301529" name="Slide Number Placeholder 3"/>
          <p:cNvSpPr>
            <a:spLocks noChangeArrowheads="1" noGrp="1"/>
          </p:cNvSpPr>
          <p:nvPr>
            <p:ph type="sldNum" sz="quarter" idx="12"/>
          </p:nvPr>
        </p:nvSpPr>
        <p:spPr bwMode="auto">
          <a:xfrm>
            <a:off x="3884930" y="8685530"/>
            <a:ext cx="2971800" cy="458470"/>
          </a:xfrm>
        </p:spPr>
        <p:txBody>
          <a:bodyPr/>
          <a:lstStyle/>
          <a:p>
            <a:pPr>
              <a:defRPr/>
            </a:pPr>
            <a:fld id="{6A138166-2887-4677-C9AB-DE22CFE53F8B}" type="slidenum">
              <a:rPr cap="none"/>
              <a:t>4</a:t>
            </a:fld>
            <a:endParaRPr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90401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85839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32601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F07868-DE4A-5FAC-95B3-52887AA81F3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6756967" name="Slide Image Placeholder 1"/>
          <p:cNvSpPr>
            <a:spLocks noChangeArrowheads="1" noGrp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0120490" name="Notes Placeholder 2"/>
          <p:cNvSpPr>
            <a:spLocks noChangeArrowheads="1"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</p:spPr>
        <p:txBody>
          <a:bodyPr/>
          <a:lstStyle/>
          <a:p>
            <a:pPr marL="171450" indent="-171450">
              <a:buFontTx/>
              <a:buChar char="-"/>
              <a:defRPr/>
            </a:pPr>
            <a:endParaRPr cap="none">
              <a:latin typeface="Helvetica"/>
              <a:ea typeface="Calibri"/>
              <a:cs typeface="Helvetica"/>
            </a:endParaRPr>
          </a:p>
        </p:txBody>
      </p:sp>
      <p:sp>
        <p:nvSpPr>
          <p:cNvPr id="1998825582" name="Slide Number Placeholder 3"/>
          <p:cNvSpPr>
            <a:spLocks noChangeArrowheads="1" noGrp="1"/>
          </p:cNvSpPr>
          <p:nvPr>
            <p:ph type="sldNum" sz="quarter" idx="12"/>
          </p:nvPr>
        </p:nvSpPr>
        <p:spPr bwMode="auto">
          <a:xfrm>
            <a:off x="3884930" y="8685530"/>
            <a:ext cx="2971800" cy="458470"/>
          </a:xfrm>
        </p:spPr>
        <p:txBody>
          <a:bodyPr/>
          <a:lstStyle/>
          <a:p>
            <a:pPr>
              <a:defRPr/>
            </a:pPr>
            <a:fld id="{0AAF3261-2FE7-FAC4-A917-D9917C595F8C}" type="slidenum">
              <a:rPr cap="none"/>
              <a:t>5</a:t>
            </a:fld>
            <a:endParaRPr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2839203" name="Slide Image Placeholder 1"/>
          <p:cNvSpPr>
            <a:spLocks noChangeArrowheads="1" noGrp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53957043" name="Notes Placeholder 2"/>
          <p:cNvSpPr>
            <a:spLocks noChangeArrowheads="1"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</p:spPr>
        <p:txBody>
          <a:bodyPr/>
          <a:lstStyle/>
          <a:p>
            <a:pPr marL="171450" indent="-171450">
              <a:buFontTx/>
              <a:buChar char="-"/>
              <a:defRPr/>
            </a:pPr>
            <a:endParaRPr cap="none">
              <a:latin typeface="Helvetica"/>
              <a:ea typeface="Calibri"/>
              <a:cs typeface="Helvetica"/>
            </a:endParaRPr>
          </a:p>
        </p:txBody>
      </p:sp>
      <p:sp>
        <p:nvSpPr>
          <p:cNvPr id="1178965835" name="Slide Number Placeholder 3"/>
          <p:cNvSpPr>
            <a:spLocks noChangeArrowheads="1" noGrp="1"/>
          </p:cNvSpPr>
          <p:nvPr>
            <p:ph type="sldNum" sz="quarter" idx="12"/>
          </p:nvPr>
        </p:nvSpPr>
        <p:spPr bwMode="auto">
          <a:xfrm>
            <a:off x="3884930" y="8685530"/>
            <a:ext cx="2971800" cy="458470"/>
          </a:xfrm>
        </p:spPr>
        <p:txBody>
          <a:bodyPr/>
          <a:lstStyle/>
          <a:p>
            <a:pPr>
              <a:defRPr/>
            </a:pPr>
            <a:fld id="{59E17B7F-31B4-B48D-FA59-C7D835170C92}" type="slidenum">
              <a:rPr cap="none"/>
              <a:t>6</a:t>
            </a:fld>
            <a:endParaRPr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259627" name="Slide Image Placeholder 1"/>
          <p:cNvSpPr>
            <a:spLocks noChangeArrowheads="1" noGrp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35759375" name="Notes Placeholder 2"/>
          <p:cNvSpPr>
            <a:spLocks noChangeArrowheads="1"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</p:spPr>
        <p:txBody>
          <a:bodyPr/>
          <a:lstStyle/>
          <a:p>
            <a:pPr marL="171450" indent="-171450">
              <a:buFontTx/>
              <a:buChar char="-"/>
              <a:defRPr/>
            </a:pPr>
            <a:endParaRPr cap="none">
              <a:latin typeface="Helvetica"/>
              <a:ea typeface="Calibri"/>
              <a:cs typeface="Helvetica"/>
            </a:endParaRPr>
          </a:p>
        </p:txBody>
      </p:sp>
      <p:sp>
        <p:nvSpPr>
          <p:cNvPr id="924025998" name="Slide Number Placeholder 3"/>
          <p:cNvSpPr>
            <a:spLocks noChangeArrowheads="1" noGrp="1"/>
          </p:cNvSpPr>
          <p:nvPr>
            <p:ph type="sldNum" sz="quarter" idx="12"/>
          </p:nvPr>
        </p:nvSpPr>
        <p:spPr bwMode="auto">
          <a:xfrm>
            <a:off x="3884930" y="8685530"/>
            <a:ext cx="2971800" cy="458470"/>
          </a:xfrm>
        </p:spPr>
        <p:txBody>
          <a:bodyPr/>
          <a:lstStyle/>
          <a:p>
            <a:pPr>
              <a:defRPr/>
            </a:pPr>
            <a:fld id="{6E3C2FDC-9283-69D9-CD84-648C61CA3B31}" type="slidenum">
              <a:rPr cap="none"/>
              <a:t>7</a:t>
            </a:fld>
            <a:endParaRPr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0203845" name="Slide Image Placeholder 1"/>
          <p:cNvSpPr>
            <a:spLocks noChangeArrowheads="1" noGrp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78040169" name="Notes Placeholder 2"/>
          <p:cNvSpPr>
            <a:spLocks noChangeArrowheads="1"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</p:spPr>
        <p:txBody>
          <a:bodyPr/>
          <a:lstStyle/>
          <a:p>
            <a:pPr marL="171450" indent="-171450">
              <a:buFontTx/>
              <a:buChar char="-"/>
              <a:defRPr/>
            </a:pPr>
            <a:endParaRPr cap="none">
              <a:latin typeface="Helvetica"/>
              <a:ea typeface="Calibri"/>
              <a:cs typeface="Helvetica"/>
            </a:endParaRPr>
          </a:p>
        </p:txBody>
      </p:sp>
      <p:sp>
        <p:nvSpPr>
          <p:cNvPr id="275699937" name="Slide Number Placeholder 3"/>
          <p:cNvSpPr>
            <a:spLocks noChangeArrowheads="1" noGrp="1"/>
          </p:cNvSpPr>
          <p:nvPr>
            <p:ph type="sldNum" sz="quarter" idx="12"/>
          </p:nvPr>
        </p:nvSpPr>
        <p:spPr bwMode="auto">
          <a:xfrm>
            <a:off x="3884930" y="8685530"/>
            <a:ext cx="2971800" cy="458470"/>
          </a:xfrm>
        </p:spPr>
        <p:txBody>
          <a:bodyPr/>
          <a:lstStyle/>
          <a:p>
            <a:pPr>
              <a:defRPr/>
            </a:pPr>
            <a:fld id="{39BB332C-62D4-EEC5-9A03-94907D4D6CC1}" type="slidenum">
              <a:rPr cap="none"/>
              <a:t>8</a:t>
            </a:fld>
            <a:endParaRPr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2610000" name="Slide Image Placeholder 1"/>
          <p:cNvSpPr>
            <a:spLocks noChangeArrowheads="1" noGrp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50709090" name="Notes Placeholder 2"/>
          <p:cNvSpPr>
            <a:spLocks noChangeArrowheads="1"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</p:spPr>
        <p:txBody>
          <a:bodyPr/>
          <a:lstStyle/>
          <a:p>
            <a:pPr marL="171450" indent="-171450">
              <a:buFontTx/>
              <a:buChar char="-"/>
              <a:defRPr/>
            </a:pPr>
            <a:endParaRPr cap="none">
              <a:latin typeface="Helvetica"/>
              <a:ea typeface="Calibri"/>
              <a:cs typeface="Helvetica"/>
            </a:endParaRPr>
          </a:p>
        </p:txBody>
      </p:sp>
      <p:sp>
        <p:nvSpPr>
          <p:cNvPr id="2090915505" name="Slide Number Placeholder 3"/>
          <p:cNvSpPr>
            <a:spLocks noChangeArrowheads="1" noGrp="1"/>
          </p:cNvSpPr>
          <p:nvPr>
            <p:ph type="sldNum" sz="quarter" idx="12"/>
          </p:nvPr>
        </p:nvSpPr>
        <p:spPr bwMode="auto">
          <a:xfrm>
            <a:off x="3884930" y="8685530"/>
            <a:ext cx="2971800" cy="458470"/>
          </a:xfrm>
        </p:spPr>
        <p:txBody>
          <a:bodyPr/>
          <a:lstStyle/>
          <a:p>
            <a:pPr>
              <a:defRPr/>
            </a:pPr>
            <a:fld id="{594E1E41-0FB4-1BE8-FAF6-F9BD50B80CAC}" type="slidenum">
              <a:rPr cap="none"/>
              <a:t>9</a:t>
            </a:fld>
            <a:endParaRPr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24979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9018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38492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059965-71B8-1B07-E890-F654B5558C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5925062" name="Slide Image Placeholder 1"/>
          <p:cNvSpPr>
            <a:spLocks noChangeArrowheads="1" noGrp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77821031" name="Notes Placeholder 2"/>
          <p:cNvSpPr>
            <a:spLocks noChangeArrowheads="1"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</p:spPr>
        <p:txBody>
          <a:bodyPr/>
          <a:lstStyle/>
          <a:p>
            <a:pPr marL="171450" indent="-171450">
              <a:buFontTx/>
              <a:buChar char="-"/>
              <a:defRPr/>
            </a:pPr>
            <a:endParaRPr cap="none">
              <a:latin typeface="Helvetica"/>
              <a:ea typeface="Calibri"/>
              <a:cs typeface="Helvetica"/>
            </a:endParaRPr>
          </a:p>
        </p:txBody>
      </p:sp>
      <p:sp>
        <p:nvSpPr>
          <p:cNvPr id="1113775229" name="Slide Number Placeholder 3"/>
          <p:cNvSpPr>
            <a:spLocks noChangeArrowheads="1" noGrp="1"/>
          </p:cNvSpPr>
          <p:nvPr>
            <p:ph type="sldNum" sz="quarter" idx="12"/>
          </p:nvPr>
        </p:nvSpPr>
        <p:spPr bwMode="auto">
          <a:xfrm>
            <a:off x="3884930" y="8685530"/>
            <a:ext cx="2971800" cy="458470"/>
          </a:xfrm>
        </p:spPr>
        <p:txBody>
          <a:bodyPr/>
          <a:lstStyle/>
          <a:p>
            <a:pPr>
              <a:defRPr/>
            </a:pPr>
            <a:fld id="{341CC637-79D9-4930-97A4-8F6588EA61DA}" type="slidenum">
              <a:rPr cap="none"/>
              <a:t>10</a:t>
            </a:fld>
            <a:endParaRPr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512441" name="Slide Image Placeholder 1"/>
          <p:cNvSpPr>
            <a:spLocks noChangeArrowheads="1" noGrp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27874320" name="Notes Placeholder 2"/>
          <p:cNvSpPr>
            <a:spLocks noChangeArrowheads="1"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</p:spPr>
        <p:txBody>
          <a:bodyPr/>
          <a:lstStyle/>
          <a:p>
            <a:pPr marL="171450" indent="-171450">
              <a:buFontTx/>
              <a:buChar char="-"/>
              <a:defRPr/>
            </a:pPr>
            <a:endParaRPr cap="none">
              <a:latin typeface="Helvetica"/>
              <a:ea typeface="Calibri"/>
              <a:cs typeface="Helvetica"/>
            </a:endParaRPr>
          </a:p>
        </p:txBody>
      </p:sp>
      <p:sp>
        <p:nvSpPr>
          <p:cNvPr id="744100413" name="Slide Number Placeholder 3"/>
          <p:cNvSpPr>
            <a:spLocks noChangeArrowheads="1" noGrp="1"/>
          </p:cNvSpPr>
          <p:nvPr>
            <p:ph type="sldNum" sz="quarter" idx="12"/>
          </p:nvPr>
        </p:nvSpPr>
        <p:spPr bwMode="auto">
          <a:xfrm>
            <a:off x="3884930" y="8685530"/>
            <a:ext cx="2971800" cy="458470"/>
          </a:xfrm>
        </p:spPr>
        <p:txBody>
          <a:bodyPr/>
          <a:lstStyle/>
          <a:p>
            <a:pPr>
              <a:defRPr/>
            </a:pPr>
            <a:fld id="{7CCF2B3E-7091-9ADD-DF77-8688653929D3}" type="slidenum">
              <a:rPr cap="none"/>
              <a:t>11</a:t>
            </a:fld>
            <a:endParaRPr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7437411" name="Slide Image Placeholder 1"/>
          <p:cNvSpPr>
            <a:spLocks noChangeArrowheads="1" noGrp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31248996" name="Notes Placeholder 2"/>
          <p:cNvSpPr>
            <a:spLocks noChangeArrowheads="1"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</p:spPr>
        <p:txBody>
          <a:bodyPr/>
          <a:lstStyle/>
          <a:p>
            <a:pPr marL="171450" indent="-171450">
              <a:buFontTx/>
              <a:buChar char="-"/>
              <a:defRPr/>
            </a:pPr>
            <a:endParaRPr cap="none">
              <a:latin typeface="Helvetica"/>
              <a:ea typeface="Calibri"/>
              <a:cs typeface="Helvetica"/>
            </a:endParaRPr>
          </a:p>
        </p:txBody>
      </p:sp>
      <p:sp>
        <p:nvSpPr>
          <p:cNvPr id="501703669" name="Slide Number Placeholder 3"/>
          <p:cNvSpPr>
            <a:spLocks noChangeArrowheads="1" noGrp="1"/>
          </p:cNvSpPr>
          <p:nvPr>
            <p:ph type="sldNum" sz="quarter" idx="12"/>
          </p:nvPr>
        </p:nvSpPr>
        <p:spPr bwMode="auto">
          <a:xfrm>
            <a:off x="3884930" y="8685530"/>
            <a:ext cx="2971800" cy="458470"/>
          </a:xfrm>
        </p:spPr>
        <p:txBody>
          <a:bodyPr/>
          <a:lstStyle/>
          <a:p>
            <a:pPr>
              <a:defRPr/>
            </a:pPr>
            <a:fld id="{760C81FD-B39B-5977-D5B4-4522CFFA2310}" type="slidenum">
              <a:rPr cap="none"/>
              <a:t>12</a:t>
            </a:fld>
            <a:endParaRPr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6343742" name="Slide Image Placeholder 1"/>
          <p:cNvSpPr>
            <a:spLocks noChangeArrowheads="1" noGrp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0650120" name="Notes Placeholder 2"/>
          <p:cNvSpPr>
            <a:spLocks noChangeArrowheads="1"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</p:spPr>
        <p:txBody>
          <a:bodyPr/>
          <a:lstStyle/>
          <a:p>
            <a:pPr marL="171450" indent="-171450">
              <a:buFontTx/>
              <a:buChar char="-"/>
              <a:defRPr/>
            </a:pPr>
            <a:endParaRPr cap="none">
              <a:latin typeface="Helvetica"/>
              <a:ea typeface="Calibri"/>
              <a:cs typeface="Helvetica"/>
            </a:endParaRPr>
          </a:p>
        </p:txBody>
      </p:sp>
      <p:sp>
        <p:nvSpPr>
          <p:cNvPr id="1812479290" name="Slide Number Placeholder 3"/>
          <p:cNvSpPr>
            <a:spLocks noChangeArrowheads="1" noGrp="1"/>
          </p:cNvSpPr>
          <p:nvPr>
            <p:ph type="sldNum" sz="quarter" idx="12"/>
          </p:nvPr>
        </p:nvSpPr>
        <p:spPr bwMode="auto">
          <a:xfrm>
            <a:off x="3884930" y="8685530"/>
            <a:ext cx="2971800" cy="458470"/>
          </a:xfrm>
        </p:spPr>
        <p:txBody>
          <a:bodyPr/>
          <a:lstStyle/>
          <a:p>
            <a:pPr>
              <a:defRPr/>
            </a:pPr>
            <a:fld id="{022872DC-92EF-7D84-A190-64D13CDE5731}" type="slidenum">
              <a:rPr cap="none"/>
              <a:t>13</a:t>
            </a:fld>
            <a:endParaRPr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3593884" name="Slide Image Placeholder 1"/>
          <p:cNvSpPr>
            <a:spLocks noChangeArrowheads="1" noGrp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19010218" name="Notes Placeholder 2"/>
          <p:cNvSpPr>
            <a:spLocks noChangeArrowheads="1"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</p:spPr>
        <p:txBody>
          <a:bodyPr/>
          <a:lstStyle/>
          <a:p>
            <a:pPr marL="171450" indent="-171450">
              <a:buFontTx/>
              <a:buChar char="-"/>
              <a:defRPr/>
            </a:pPr>
            <a:endParaRPr cap="none">
              <a:latin typeface="Helvetica"/>
              <a:ea typeface="Calibri"/>
              <a:cs typeface="Helvetica"/>
            </a:endParaRPr>
          </a:p>
        </p:txBody>
      </p:sp>
      <p:sp>
        <p:nvSpPr>
          <p:cNvPr id="65385769" name="Slide Number Placeholder 3"/>
          <p:cNvSpPr>
            <a:spLocks noChangeArrowheads="1" noGrp="1"/>
          </p:cNvSpPr>
          <p:nvPr>
            <p:ph type="sldNum" sz="quarter" idx="12"/>
          </p:nvPr>
        </p:nvSpPr>
        <p:spPr bwMode="auto">
          <a:xfrm>
            <a:off x="3884930" y="8685530"/>
            <a:ext cx="2971800" cy="458470"/>
          </a:xfrm>
        </p:spPr>
        <p:txBody>
          <a:bodyPr/>
          <a:lstStyle/>
          <a:p>
            <a:pPr>
              <a:defRPr/>
            </a:pPr>
            <a:fld id="{4C0FFB10-5EA1-5A0D-EFB7-A858B5F919FD}" type="slidenum">
              <a:rPr cap="none"/>
              <a:t>14</a:t>
            </a:fld>
            <a:endParaRPr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2426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17830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85001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917120-768A-8234-2863-10EF9A3944B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00450" name="Slide Image Placeholder 1"/>
          <p:cNvSpPr>
            <a:spLocks noChangeArrowheads="1" noGrp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1591835" name="Notes Placeholder 2"/>
          <p:cNvSpPr>
            <a:spLocks noChangeArrowheads="1"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</p:spPr>
        <p:txBody>
          <a:bodyPr/>
          <a:lstStyle/>
          <a:p>
            <a:pPr marL="171450" indent="-171450">
              <a:buFontTx/>
              <a:buChar char="-"/>
              <a:defRPr/>
            </a:pPr>
            <a:endParaRPr cap="none">
              <a:latin typeface="Helvetica"/>
              <a:ea typeface="Calibri"/>
              <a:cs typeface="Helvetica"/>
            </a:endParaRPr>
          </a:p>
        </p:txBody>
      </p:sp>
      <p:sp>
        <p:nvSpPr>
          <p:cNvPr id="1446771034" name="Slide Number Placeholder 3"/>
          <p:cNvSpPr>
            <a:spLocks noChangeArrowheads="1" noGrp="1"/>
          </p:cNvSpPr>
          <p:nvPr>
            <p:ph type="sldNum" sz="quarter" idx="12"/>
          </p:nvPr>
        </p:nvSpPr>
        <p:spPr bwMode="auto">
          <a:xfrm>
            <a:off x="3884930" y="8685530"/>
            <a:ext cx="2971800" cy="458470"/>
          </a:xfrm>
        </p:spPr>
        <p:txBody>
          <a:bodyPr/>
          <a:lstStyle/>
          <a:p>
            <a:pPr>
              <a:defRPr/>
            </a:pPr>
            <a:fld id="{4119B42A-64AC-4C42-E2A1-9217FAEF14C7}" type="slidenum">
              <a:rPr cap="none"/>
              <a:t>15</a:t>
            </a:fld>
            <a:endParaRPr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0858587" name="Slide Image Placeholder 1"/>
          <p:cNvSpPr>
            <a:spLocks noChangeArrowheads="1" noGrp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65943326" name="Notes Placeholder 2"/>
          <p:cNvSpPr>
            <a:spLocks noChangeArrowheads="1"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</p:spPr>
        <p:txBody>
          <a:bodyPr/>
          <a:lstStyle/>
          <a:p>
            <a:pPr marL="0" indent="0">
              <a:buNone/>
              <a:defRPr/>
            </a:pPr>
            <a:endParaRPr cap="none">
              <a:latin typeface="Helvetica"/>
              <a:ea typeface="Calibri"/>
              <a:cs typeface="Helvetica"/>
            </a:endParaRPr>
          </a:p>
        </p:txBody>
      </p:sp>
      <p:sp>
        <p:nvSpPr>
          <p:cNvPr id="1699237428" name="Slide Number Placeholder 3"/>
          <p:cNvSpPr>
            <a:spLocks noChangeArrowheads="1" noGrp="1"/>
          </p:cNvSpPr>
          <p:nvPr>
            <p:ph type="sldNum" sz="quarter" idx="12"/>
          </p:nvPr>
        </p:nvSpPr>
        <p:spPr bwMode="auto">
          <a:xfrm>
            <a:off x="3884930" y="8685530"/>
            <a:ext cx="2971800" cy="458470"/>
          </a:xfrm>
        </p:spPr>
        <p:txBody>
          <a:bodyPr/>
          <a:lstStyle/>
          <a:p>
            <a:pPr>
              <a:defRPr/>
            </a:pPr>
            <a:fld id="{0E86BE9A-D4E3-D348-AD3E-221DF0705B77}" type="slidenum">
              <a:rPr cap="none"/>
              <a:t>16</a:t>
            </a:fld>
            <a:endParaRPr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9284130" name="Title 1"/>
          <p:cNvSpPr>
            <a:spLocks noChangeArrowheads="1" noGrp="1"/>
          </p:cNvSpPr>
          <p:nvPr>
            <p:ph type="ctrTitle"/>
          </p:nvPr>
        </p:nvSpPr>
        <p:spPr bwMode="auto">
          <a:xfrm>
            <a:off x="1524000" y="1122680"/>
            <a:ext cx="9144000" cy="2387600"/>
          </a:xfrm>
        </p:spPr>
        <p:txBody>
          <a:bodyPr vert="horz" wrap="square" lIns="91440" tIns="45720" rIns="91440" bIns="45720" numCol="1" spcCol="215899" anchor="b">
            <a:prstTxWarp prst="textNoShape"/>
          </a:bodyPr>
          <a:lstStyle>
            <a:lvl1pPr algn="ctr">
              <a:defRPr sz="6000" cap="none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7028914" name="Subtitle 2"/>
          <p:cNvSpPr>
            <a:spLocks noChangeArrowheads="1" noGrp="1"/>
          </p:cNvSpPr>
          <p:nvPr>
            <p:ph type="subTitle" idx="1"/>
          </p:nvPr>
        </p:nvSpPr>
        <p:spPr bwMode="auto">
          <a:xfrm>
            <a:off x="1524000" y="3602355"/>
            <a:ext cx="9144000" cy="1655445"/>
          </a:xfrm>
        </p:spPr>
        <p:txBody>
          <a:bodyPr/>
          <a:lstStyle>
            <a:lvl1pPr marL="0" indent="0" algn="ctr">
              <a:buNone/>
              <a:defRPr sz="2400" cap="none"/>
            </a:lvl1pPr>
            <a:lvl2pPr marL="457200" indent="0" algn="ctr">
              <a:buNone/>
              <a:defRPr sz="2000" cap="none"/>
            </a:lvl2pPr>
            <a:lvl3pPr marL="914400" indent="0" algn="ctr">
              <a:buNone/>
              <a:defRPr sz="1800" cap="none"/>
            </a:lvl3pPr>
            <a:lvl4pPr marL="1371600" indent="0" algn="ctr">
              <a:buNone/>
              <a:defRPr sz="1600" cap="none"/>
            </a:lvl4pPr>
            <a:lvl5pPr marL="1828800" indent="0" algn="ctr">
              <a:buNone/>
              <a:defRPr sz="1600" cap="none"/>
            </a:lvl5pPr>
            <a:lvl6pPr marL="2286000" indent="0" algn="ctr">
              <a:buNone/>
              <a:defRPr sz="1600" cap="none"/>
            </a:lvl6pPr>
            <a:lvl7pPr marL="2743200" indent="0" algn="ctr">
              <a:buNone/>
              <a:defRPr sz="1600" cap="none"/>
            </a:lvl7pPr>
            <a:lvl8pPr marL="3200400" indent="0" algn="ctr">
              <a:buNone/>
              <a:defRPr sz="1600" cap="none"/>
            </a:lvl8pPr>
            <a:lvl9pPr marL="3657600" indent="0" algn="ctr">
              <a:buNone/>
              <a:defRPr sz="1600" cap="none"/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1140228141" name="Date Placeholder 3"/>
          <p:cNvSpPr>
            <a:spLocks noChangeArrowheads="1"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331D079-37DE-6426-9089-C1739EC76694}" type="datetime1">
              <a:rPr cap="none"/>
              <a:t/>
            </a:fld>
            <a:endParaRPr cap="none"/>
          </a:p>
        </p:txBody>
      </p:sp>
      <p:sp>
        <p:nvSpPr>
          <p:cNvPr id="1556953937" name="Footer Placeholder 4"/>
          <p:cNvSpPr>
            <a:spLocks noChangeArrowheads="1"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cap="none"/>
          </a:p>
        </p:txBody>
      </p:sp>
      <p:sp>
        <p:nvSpPr>
          <p:cNvPr id="1926947475" name="Slide Number Placeholder 5"/>
          <p:cNvSpPr>
            <a:spLocks noChangeArrowheads="1"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73FE99E-D09A-6A1F-D487-264AA7C92273}" type="slidenum">
              <a:rPr cap="none"/>
              <a:t>1</a:t>
            </a:fld>
            <a:endParaRPr cap="none"/>
          </a:p>
        </p:txBody>
      </p:sp>
    </p:spTree>
  </p:cSld>
  <p:clrMapOvr>
    <a:masterClrMapping/>
  </p:clrMapOvr>
  <p:hf dt="1" ftr="0" hdr="0" sldNum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8616021" name="Title 1"/>
          <p:cNvSpPr>
            <a:spLocks noChangeArrowheads="1"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641343563" name="Content Placeholder 2"/>
          <p:cNvSpPr>
            <a:spLocks noChangeArrowheads="1"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699396107" name="Date Placeholder 3"/>
          <p:cNvSpPr>
            <a:spLocks noChangeArrowheads="1"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62A9870-3E9B-7F6E-D592-C83BD6DC239D}" type="datetime1">
              <a:rPr cap="none"/>
              <a:t>10/11/2022</a:t>
            </a:fld>
            <a:endParaRPr cap="none"/>
          </a:p>
        </p:txBody>
      </p:sp>
      <p:sp>
        <p:nvSpPr>
          <p:cNvPr id="217558397" name="Footer Placeholder 4"/>
          <p:cNvSpPr>
            <a:spLocks noChangeArrowheads="1"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cap="none"/>
          </a:p>
        </p:txBody>
      </p:sp>
      <p:sp>
        <p:nvSpPr>
          <p:cNvPr id="190206153" name="Slide Number Placeholder 5"/>
          <p:cNvSpPr>
            <a:spLocks noChangeArrowheads="1"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EE03046-08C3-B5C6-8D58-FE937E167BAB}" type="slidenum">
              <a:rPr cap="none"/>
              <a:t>‹#›</a:t>
            </a:fld>
            <a:endParaRPr cap="none"/>
          </a:p>
        </p:txBody>
      </p:sp>
    </p:spTree>
  </p:cSld>
  <p:clrMapOvr>
    <a:masterClrMapping/>
  </p:clrMapOvr>
  <p:hf dt="1" ftr="0" hdr="0" sldNum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7875907" name="Title 1"/>
          <p:cNvSpPr>
            <a:spLocks noChangeArrowheads="1" noGrp="1"/>
          </p:cNvSpPr>
          <p:nvPr>
            <p:ph type="title"/>
          </p:nvPr>
        </p:nvSpPr>
        <p:spPr bwMode="auto">
          <a:xfrm>
            <a:off x="831850" y="1710055"/>
            <a:ext cx="10515600" cy="2852420"/>
          </a:xfrm>
        </p:spPr>
        <p:txBody>
          <a:bodyPr vert="horz" wrap="square" lIns="91440" tIns="45720" rIns="91440" bIns="45720" numCol="1" spcCol="215899" anchor="b">
            <a:prstTxWarp prst="textNoShape"/>
          </a:bodyPr>
          <a:lstStyle>
            <a:lvl1pPr>
              <a:defRPr sz="6000" cap="none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515278614" name="Text Placeholder 2"/>
          <p:cNvSpPr>
            <a:spLocks noChangeArrowheads="1" noGrp="1"/>
          </p:cNvSpPr>
          <p:nvPr>
            <p:ph idx="1"/>
          </p:nvPr>
        </p:nvSpPr>
        <p:spPr bwMode="auto">
          <a:xfrm>
            <a:off x="831850" y="4589780"/>
            <a:ext cx="10515600" cy="1499870"/>
          </a:xfrm>
        </p:spPr>
        <p:txBody>
          <a:bodyPr/>
          <a:lstStyle>
            <a:lvl1pPr marL="0" indent="0">
              <a:buNone/>
              <a:defRPr sz="2400" cap="none">
                <a:solidFill>
                  <a:srgbClr val="8C8C8C"/>
                </a:solidFill>
              </a:defRPr>
            </a:lvl1pPr>
            <a:lvl2pPr marL="457200" indent="0">
              <a:buNone/>
              <a:defRPr sz="2000" cap="none">
                <a:solidFill>
                  <a:srgbClr val="8C8C8C"/>
                </a:solidFill>
              </a:defRPr>
            </a:lvl2pPr>
            <a:lvl3pPr marL="914400" indent="0">
              <a:buNone/>
              <a:defRPr sz="1800" cap="none">
                <a:solidFill>
                  <a:srgbClr val="8C8C8C"/>
                </a:solidFill>
              </a:defRPr>
            </a:lvl3pPr>
            <a:lvl4pPr marL="1371600" indent="0">
              <a:buNone/>
              <a:defRPr sz="1600" cap="none">
                <a:solidFill>
                  <a:srgbClr val="8C8C8C"/>
                </a:solidFill>
              </a:defRPr>
            </a:lvl4pPr>
            <a:lvl5pPr marL="1828800" indent="0">
              <a:buNone/>
              <a:defRPr sz="1600" cap="none">
                <a:solidFill>
                  <a:srgbClr val="8C8C8C"/>
                </a:solidFill>
              </a:defRPr>
            </a:lvl5pPr>
            <a:lvl6pPr marL="2286000" indent="0">
              <a:buNone/>
              <a:defRPr sz="1600" cap="none">
                <a:solidFill>
                  <a:srgbClr val="8C8C8C"/>
                </a:solidFill>
              </a:defRPr>
            </a:lvl6pPr>
            <a:lvl7pPr marL="2743200" indent="0">
              <a:buNone/>
              <a:defRPr sz="1600" cap="none">
                <a:solidFill>
                  <a:srgbClr val="8C8C8C"/>
                </a:solidFill>
              </a:defRPr>
            </a:lvl7pPr>
            <a:lvl8pPr marL="3200400" indent="0">
              <a:buNone/>
              <a:defRPr sz="1600" cap="none">
                <a:solidFill>
                  <a:srgbClr val="8C8C8C"/>
                </a:solidFill>
              </a:defRPr>
            </a:lvl8pPr>
            <a:lvl9pPr marL="3657600" indent="0">
              <a:buNone/>
              <a:defRPr sz="1600" cap="none">
                <a:solidFill>
                  <a:srgbClr val="8C8C8C"/>
                </a:solidFill>
              </a:defRPr>
            </a:lvl9pPr>
          </a:lstStyle>
          <a:p>
            <a:pPr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30841359" name="Date Placeholder 3"/>
          <p:cNvSpPr>
            <a:spLocks noChangeArrowheads="1"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A5B01CD-83E7-0EF7-A9E3-75A24FAD5F20}" type="datetime1">
              <a:rPr cap="none"/>
              <a:t>10/11/2022</a:t>
            </a:fld>
            <a:endParaRPr cap="none"/>
          </a:p>
        </p:txBody>
      </p:sp>
      <p:sp>
        <p:nvSpPr>
          <p:cNvPr id="1301324989" name="Footer Placeholder 4"/>
          <p:cNvSpPr>
            <a:spLocks noChangeArrowheads="1"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cap="none"/>
          </a:p>
        </p:txBody>
      </p:sp>
      <p:sp>
        <p:nvSpPr>
          <p:cNvPr id="2014785448" name="Slide Number Placeholder 5"/>
          <p:cNvSpPr>
            <a:spLocks noChangeArrowheads="1"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2E6CABF-F1CF-B33C-815E-076984107752}" type="slidenum">
              <a:rPr cap="none"/>
              <a:t>‹#›</a:t>
            </a:fld>
            <a:endParaRPr cap="none"/>
          </a:p>
        </p:txBody>
      </p:sp>
    </p:spTree>
  </p:cSld>
  <p:clrMapOvr>
    <a:masterClrMapping/>
  </p:clrMapOvr>
  <p:hf dt="1" ftr="0" hdr="0" sldNum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0802322" name="Title 1"/>
          <p:cNvSpPr>
            <a:spLocks noChangeArrowheads="1"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443705203" name="Content Placeholder 2"/>
          <p:cNvSpPr>
            <a:spLocks noChangeArrowheads="1" noGrp="1"/>
          </p:cNvSpPr>
          <p:nvPr>
            <p:ph idx="1"/>
          </p:nvPr>
        </p:nvSpPr>
        <p:spPr bwMode="auto">
          <a:xfrm>
            <a:off x="838200" y="1825625"/>
            <a:ext cx="5181600" cy="4351655"/>
          </a:xfrm>
        </p:spPr>
        <p:txBody>
          <a:bodyPr/>
          <a:lstStyle/>
          <a:p>
            <a:pPr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794578600" name="Content Placeholder 3"/>
          <p:cNvSpPr>
            <a:spLocks noChangeArrowheads="1" noGrp="1"/>
          </p:cNvSpPr>
          <p:nvPr>
            <p:ph idx="2"/>
          </p:nvPr>
        </p:nvSpPr>
        <p:spPr bwMode="auto">
          <a:xfrm>
            <a:off x="6172200" y="1825625"/>
            <a:ext cx="5181600" cy="4351655"/>
          </a:xfrm>
        </p:spPr>
        <p:txBody>
          <a:bodyPr/>
          <a:lstStyle/>
          <a:p>
            <a:pPr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923348013" name="Date Placeholder 4"/>
          <p:cNvSpPr>
            <a:spLocks noChangeArrowheads="1"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B45D33C-72F6-1025-B8FD-84709DB34ED1}" type="datetime1">
              <a:rPr cap="none"/>
              <a:t>10/11/2022</a:t>
            </a:fld>
            <a:endParaRPr cap="none"/>
          </a:p>
        </p:txBody>
      </p:sp>
      <p:sp>
        <p:nvSpPr>
          <p:cNvPr id="991202957" name="Footer Placeholder 5"/>
          <p:cNvSpPr>
            <a:spLocks noChangeArrowheads="1"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cap="none"/>
          </a:p>
        </p:txBody>
      </p:sp>
      <p:sp>
        <p:nvSpPr>
          <p:cNvPr id="586289039" name="Slide Number Placeholder 6"/>
          <p:cNvSpPr>
            <a:spLocks noChangeArrowheads="1"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915E5C-12E5-C4A8-AB29-E4FD10675DB1}" type="slidenum">
              <a:rPr cap="none"/>
              <a:t>‹#›</a:t>
            </a:fld>
            <a:endParaRPr cap="none"/>
          </a:p>
        </p:txBody>
      </p:sp>
    </p:spTree>
  </p:cSld>
  <p:clrMapOvr>
    <a:masterClrMapping/>
  </p:clrMapOvr>
  <p:hf dt="1" ftr="0" hdr="0" sldNum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840321" name="Title 1"/>
          <p:cNvSpPr>
            <a:spLocks noChangeArrowheads="1" noGrp="1"/>
          </p:cNvSpPr>
          <p:nvPr>
            <p:ph type="title"/>
          </p:nvPr>
        </p:nvSpPr>
        <p:spPr bwMode="auto">
          <a:xfrm>
            <a:off x="840105" y="365125"/>
            <a:ext cx="10515600" cy="1325880"/>
          </a:xfrm>
        </p:spPr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624148658" name="Text Placeholder 2"/>
          <p:cNvSpPr>
            <a:spLocks noChangeArrowheads="1" noGrp="1"/>
          </p:cNvSpPr>
          <p:nvPr>
            <p:ph idx="1"/>
          </p:nvPr>
        </p:nvSpPr>
        <p:spPr bwMode="auto">
          <a:xfrm>
            <a:off x="840105" y="1681480"/>
            <a:ext cx="5157470" cy="823595"/>
          </a:xfrm>
        </p:spPr>
        <p:txBody>
          <a:bodyPr vert="horz" wrap="square" lIns="91440" tIns="45720" rIns="91440" bIns="45720" numCol="1" spcCol="215899" anchor="b">
            <a:prstTxWarp prst="textNoShape"/>
          </a:bodyPr>
          <a:lstStyle>
            <a:lvl1pPr marL="0" indent="0">
              <a:buNone/>
              <a:defRPr sz="2400" b="1" cap="none"/>
            </a:lvl1pPr>
            <a:lvl2pPr marL="457200" indent="0">
              <a:buNone/>
              <a:defRPr sz="2000" b="1" cap="none"/>
            </a:lvl2pPr>
            <a:lvl3pPr marL="914400" indent="0">
              <a:buNone/>
              <a:defRPr sz="1800" b="1" cap="none"/>
            </a:lvl3pPr>
            <a:lvl4pPr marL="1371600" indent="0">
              <a:buNone/>
              <a:defRPr sz="1600" b="1" cap="none"/>
            </a:lvl4pPr>
            <a:lvl5pPr marL="1828800" indent="0">
              <a:buNone/>
              <a:defRPr sz="1600" b="1" cap="none"/>
            </a:lvl5pPr>
            <a:lvl6pPr marL="2286000" indent="0">
              <a:buNone/>
              <a:defRPr sz="1600" b="1" cap="none"/>
            </a:lvl6pPr>
            <a:lvl7pPr marL="2743200" indent="0">
              <a:buNone/>
              <a:defRPr sz="1600" b="1" cap="none"/>
            </a:lvl7pPr>
            <a:lvl8pPr marL="3200400" indent="0">
              <a:buNone/>
              <a:defRPr sz="1600" b="1" cap="none"/>
            </a:lvl8pPr>
            <a:lvl9pPr marL="3657600" indent="0">
              <a:buNone/>
              <a:defRPr sz="1600" b="1" cap="none"/>
            </a:lvl9pPr>
          </a:lstStyle>
          <a:p>
            <a:pPr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557087068" name="Content Placeholder 3"/>
          <p:cNvSpPr>
            <a:spLocks noChangeArrowheads="1" noGrp="1"/>
          </p:cNvSpPr>
          <p:nvPr>
            <p:ph idx="2"/>
          </p:nvPr>
        </p:nvSpPr>
        <p:spPr bwMode="auto">
          <a:xfrm>
            <a:off x="840105" y="2505074"/>
            <a:ext cx="5157470" cy="3684905"/>
          </a:xfrm>
        </p:spPr>
        <p:txBody>
          <a:bodyPr/>
          <a:lstStyle/>
          <a:p>
            <a:pPr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54983264" name="Text Placeholder 4"/>
          <p:cNvSpPr>
            <a:spLocks noChangeArrowheads="1" noGrp="1"/>
          </p:cNvSpPr>
          <p:nvPr>
            <p:ph idx="3"/>
          </p:nvPr>
        </p:nvSpPr>
        <p:spPr bwMode="auto">
          <a:xfrm>
            <a:off x="6172200" y="1681480"/>
            <a:ext cx="5183505" cy="823595"/>
          </a:xfrm>
        </p:spPr>
        <p:txBody>
          <a:bodyPr vert="horz" wrap="square" lIns="91440" tIns="45720" rIns="91440" bIns="45720" numCol="1" spcCol="215899" anchor="b">
            <a:prstTxWarp prst="textNoShape"/>
          </a:bodyPr>
          <a:lstStyle>
            <a:lvl1pPr marL="0" indent="0">
              <a:buNone/>
              <a:defRPr sz="2400" b="1" cap="none"/>
            </a:lvl1pPr>
            <a:lvl2pPr marL="457200" indent="0">
              <a:buNone/>
              <a:defRPr sz="2000" b="1" cap="none"/>
            </a:lvl2pPr>
            <a:lvl3pPr marL="914400" indent="0">
              <a:buNone/>
              <a:defRPr sz="1800" b="1" cap="none"/>
            </a:lvl3pPr>
            <a:lvl4pPr marL="1371600" indent="0">
              <a:buNone/>
              <a:defRPr sz="1600" b="1" cap="none"/>
            </a:lvl4pPr>
            <a:lvl5pPr marL="1828800" indent="0">
              <a:buNone/>
              <a:defRPr sz="1600" b="1" cap="none"/>
            </a:lvl5pPr>
            <a:lvl6pPr marL="2286000" indent="0">
              <a:buNone/>
              <a:defRPr sz="1600" b="1" cap="none"/>
            </a:lvl6pPr>
            <a:lvl7pPr marL="2743200" indent="0">
              <a:buNone/>
              <a:defRPr sz="1600" b="1" cap="none"/>
            </a:lvl7pPr>
            <a:lvl8pPr marL="3200400" indent="0">
              <a:buNone/>
              <a:defRPr sz="1600" b="1" cap="none"/>
            </a:lvl8pPr>
            <a:lvl9pPr marL="3657600" indent="0">
              <a:buNone/>
              <a:defRPr sz="1600" b="1" cap="none"/>
            </a:lvl9pPr>
          </a:lstStyle>
          <a:p>
            <a:pPr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945910204" name="Content Placeholder 5"/>
          <p:cNvSpPr>
            <a:spLocks noChangeArrowheads="1" noGrp="1"/>
          </p:cNvSpPr>
          <p:nvPr>
            <p:ph idx="4"/>
          </p:nvPr>
        </p:nvSpPr>
        <p:spPr bwMode="auto">
          <a:xfrm>
            <a:off x="6172200" y="2505074"/>
            <a:ext cx="5183505" cy="3684905"/>
          </a:xfrm>
        </p:spPr>
        <p:txBody>
          <a:bodyPr/>
          <a:lstStyle/>
          <a:p>
            <a:pPr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41931161" name="Date Placeholder 6"/>
          <p:cNvSpPr>
            <a:spLocks noChangeArrowheads="1"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83FC9F6-B895-6A3F-DB87-4E6A87C92D1B}" type="datetime1">
              <a:rPr cap="none"/>
              <a:t>10/11/2022</a:t>
            </a:fld>
            <a:endParaRPr cap="none"/>
          </a:p>
        </p:txBody>
      </p:sp>
      <p:sp>
        <p:nvSpPr>
          <p:cNvPr id="1024095341" name="Footer Placeholder 7"/>
          <p:cNvSpPr>
            <a:spLocks noChangeArrowheads="1"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cap="none"/>
          </a:p>
        </p:txBody>
      </p:sp>
      <p:sp>
        <p:nvSpPr>
          <p:cNvPr id="1680006454" name="Slide Number Placeholder 8"/>
          <p:cNvSpPr>
            <a:spLocks noChangeArrowheads="1"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329702D-63AE-7C86-E091-95D33EDF16C0}" type="slidenum">
              <a:rPr cap="none"/>
              <a:t>‹#›</a:t>
            </a:fld>
            <a:endParaRPr cap="none"/>
          </a:p>
        </p:txBody>
      </p:sp>
    </p:spTree>
  </p:cSld>
  <p:clrMapOvr>
    <a:masterClrMapping/>
  </p:clrMapOvr>
  <p:hf dt="1" ftr="0" hdr="0" sldNum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1486132" name="Title 1"/>
          <p:cNvSpPr>
            <a:spLocks noChangeArrowheads="1"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006045197" name="Date Placeholder 2"/>
          <p:cNvSpPr>
            <a:spLocks noChangeArrowheads="1"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8E5EE6C-22D5-B018-9B5D-D44DA0136D81}" type="datetime1">
              <a:rPr cap="none"/>
              <a:t>10/11/2022</a:t>
            </a:fld>
            <a:endParaRPr cap="none"/>
          </a:p>
        </p:txBody>
      </p:sp>
      <p:sp>
        <p:nvSpPr>
          <p:cNvPr id="336796279" name="Footer Placeholder 3"/>
          <p:cNvSpPr>
            <a:spLocks noChangeArrowheads="1"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cap="none"/>
          </a:p>
        </p:txBody>
      </p:sp>
      <p:sp>
        <p:nvSpPr>
          <p:cNvPr id="110241614" name="Slide Number Placeholder 4"/>
          <p:cNvSpPr>
            <a:spLocks noChangeArrowheads="1"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B312CD-8386-E6E4-C80B-75B15C453E20}" type="slidenum">
              <a:rPr cap="none"/>
              <a:t>‹#›</a:t>
            </a:fld>
            <a:endParaRPr cap="none"/>
          </a:p>
        </p:txBody>
      </p:sp>
    </p:spTree>
  </p:cSld>
  <p:clrMapOvr>
    <a:masterClrMapping/>
  </p:clrMapOvr>
  <p:hf dt="1" ftr="0" hdr="0" sldNum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5079051" name="Date Placeholder 1"/>
          <p:cNvSpPr>
            <a:spLocks noChangeArrowheads="1"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84F5E05-4BE5-1AA8-ABF7-BDFD10B95DE8}" type="datetime1">
              <a:rPr cap="none"/>
              <a:t>10/11/2022</a:t>
            </a:fld>
            <a:endParaRPr cap="none"/>
          </a:p>
        </p:txBody>
      </p:sp>
      <p:sp>
        <p:nvSpPr>
          <p:cNvPr id="1339693785" name="Footer Placeholder 2"/>
          <p:cNvSpPr>
            <a:spLocks noChangeArrowheads="1"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cap="none"/>
          </a:p>
        </p:txBody>
      </p:sp>
      <p:sp>
        <p:nvSpPr>
          <p:cNvPr id="438102029" name="Slide Number Placeholder 3"/>
          <p:cNvSpPr>
            <a:spLocks noChangeArrowheads="1"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4B7E1BC-F2A9-E217-E70F-0442AF411151}" type="slidenum">
              <a:rPr cap="none"/>
              <a:t>‹#›</a:t>
            </a:fld>
            <a:endParaRPr cap="none"/>
          </a:p>
        </p:txBody>
      </p:sp>
    </p:spTree>
  </p:cSld>
  <p:clrMapOvr>
    <a:masterClrMapping/>
  </p:clrMapOvr>
  <p:hf dt="1" ftr="0" hdr="0" sldNum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6924271" name="Title 1"/>
          <p:cNvSpPr>
            <a:spLocks noChangeArrowheads="1" noGrp="1"/>
          </p:cNvSpPr>
          <p:nvPr>
            <p:ph type="title"/>
          </p:nvPr>
        </p:nvSpPr>
        <p:spPr bwMode="auto">
          <a:xfrm>
            <a:off x="840105" y="457200"/>
            <a:ext cx="3931920" cy="1600200"/>
          </a:xfrm>
        </p:spPr>
        <p:txBody>
          <a:bodyPr vert="horz" wrap="square" lIns="91440" tIns="45720" rIns="91440" bIns="45720" numCol="1" spcCol="215899" anchor="b">
            <a:prstTxWarp prst="textNoShape"/>
          </a:bodyPr>
          <a:lstStyle>
            <a:lvl1pPr>
              <a:defRPr sz="3200" cap="none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871877928" name="Content Placeholder 2"/>
          <p:cNvSpPr>
            <a:spLocks noChangeArrowheads="1" noGrp="1"/>
          </p:cNvSpPr>
          <p:nvPr>
            <p:ph idx="1"/>
          </p:nvPr>
        </p:nvSpPr>
        <p:spPr bwMode="auto">
          <a:xfrm>
            <a:off x="5183505" y="987425"/>
            <a:ext cx="6172200" cy="4873625"/>
          </a:xfrm>
        </p:spPr>
        <p:txBody>
          <a:bodyPr/>
          <a:lstStyle>
            <a:lvl1pPr>
              <a:defRPr sz="3200" cap="none"/>
            </a:lvl1pPr>
            <a:lvl2pPr>
              <a:defRPr sz="2800" cap="none"/>
            </a:lvl2pPr>
            <a:lvl3pPr>
              <a:defRPr sz="2400" cap="none"/>
            </a:lvl3pPr>
            <a:lvl4pPr>
              <a:defRPr sz="2000" cap="none"/>
            </a:lvl4pPr>
            <a:lvl5pPr>
              <a:defRPr sz="2000" cap="none"/>
            </a:lvl5pPr>
            <a:lvl6pPr>
              <a:defRPr sz="2000" cap="none"/>
            </a:lvl6pPr>
            <a:lvl7pPr>
              <a:defRPr sz="2000" cap="none"/>
            </a:lvl7pPr>
            <a:lvl8pPr>
              <a:defRPr sz="2000" cap="none"/>
            </a:lvl8pPr>
            <a:lvl9pPr>
              <a:defRPr sz="2000" cap="none"/>
            </a:lvl9pPr>
          </a:lstStyle>
          <a:p>
            <a:pPr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011709429" name="Text Placeholder 3"/>
          <p:cNvSpPr>
            <a:spLocks noChangeArrowheads="1" noGrp="1"/>
          </p:cNvSpPr>
          <p:nvPr>
            <p:ph idx="2"/>
          </p:nvPr>
        </p:nvSpPr>
        <p:spPr bwMode="auto">
          <a:xfrm>
            <a:off x="840105" y="2057400"/>
            <a:ext cx="3931920" cy="3811905"/>
          </a:xfrm>
        </p:spPr>
        <p:txBody>
          <a:bodyPr/>
          <a:lstStyle>
            <a:lvl1pPr marL="0" indent="0">
              <a:buNone/>
              <a:defRPr sz="1600" cap="none"/>
            </a:lvl1pPr>
            <a:lvl2pPr marL="457200" indent="0">
              <a:buNone/>
              <a:defRPr sz="1400" cap="none"/>
            </a:lvl2pPr>
            <a:lvl3pPr marL="914400" indent="0">
              <a:buNone/>
              <a:defRPr sz="1200" cap="none"/>
            </a:lvl3pPr>
            <a:lvl4pPr marL="1371600" indent="0">
              <a:buNone/>
              <a:defRPr sz="1000" cap="none"/>
            </a:lvl4pPr>
            <a:lvl5pPr marL="1828800" indent="0">
              <a:buNone/>
              <a:defRPr sz="1000" cap="none"/>
            </a:lvl5pPr>
            <a:lvl6pPr marL="2286000" indent="0">
              <a:buNone/>
              <a:defRPr sz="1000" cap="none"/>
            </a:lvl6pPr>
            <a:lvl7pPr marL="2743200" indent="0">
              <a:buNone/>
              <a:defRPr sz="1000" cap="none"/>
            </a:lvl7pPr>
            <a:lvl8pPr marL="3200400" indent="0">
              <a:buNone/>
              <a:defRPr sz="1000" cap="none"/>
            </a:lvl8pPr>
            <a:lvl9pPr marL="3657600" indent="0">
              <a:buNone/>
              <a:defRPr sz="1000" cap="none"/>
            </a:lvl9pPr>
          </a:lstStyle>
          <a:p>
            <a:pPr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139533829" name="Date Placeholder 4"/>
          <p:cNvSpPr>
            <a:spLocks noChangeArrowheads="1"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E6145C7-8983-34B3-CDD9-7FE60B973B2A}" type="datetime1">
              <a:rPr cap="none"/>
              <a:t>10/11/2022</a:t>
            </a:fld>
            <a:endParaRPr cap="none"/>
          </a:p>
        </p:txBody>
      </p:sp>
      <p:sp>
        <p:nvSpPr>
          <p:cNvPr id="316773148" name="Footer Placeholder 5"/>
          <p:cNvSpPr>
            <a:spLocks noChangeArrowheads="1"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cap="none"/>
          </a:p>
        </p:txBody>
      </p:sp>
      <p:sp>
        <p:nvSpPr>
          <p:cNvPr id="665372235" name="Slide Number Placeholder 6"/>
          <p:cNvSpPr>
            <a:spLocks noChangeArrowheads="1"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0F25E02-4CAD-A7A8-E34A-BAFD100415EF}" type="slidenum">
              <a:rPr cap="none"/>
              <a:t>‹#›</a:t>
            </a:fld>
            <a:endParaRPr cap="none"/>
          </a:p>
        </p:txBody>
      </p:sp>
    </p:spTree>
  </p:cSld>
  <p:clrMapOvr>
    <a:masterClrMapping/>
  </p:clrMapOvr>
  <p:hf dt="1" ftr="0" hdr="0" sldNum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7065253" name="Title 1"/>
          <p:cNvSpPr>
            <a:spLocks noChangeArrowheads="1" noGrp="1"/>
          </p:cNvSpPr>
          <p:nvPr>
            <p:ph type="title"/>
          </p:nvPr>
        </p:nvSpPr>
        <p:spPr bwMode="auto">
          <a:xfrm>
            <a:off x="840105" y="457200"/>
            <a:ext cx="3931920" cy="1600200"/>
          </a:xfrm>
        </p:spPr>
        <p:txBody>
          <a:bodyPr vert="horz" wrap="square" lIns="91440" tIns="45720" rIns="91440" bIns="45720" numCol="1" spcCol="215899" anchor="b">
            <a:prstTxWarp prst="textNoShape"/>
          </a:bodyPr>
          <a:lstStyle>
            <a:lvl1pPr>
              <a:defRPr sz="3200" cap="none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701620021" name="Picture Placeholder 2"/>
          <p:cNvSpPr>
            <a:spLocks noChangeArrowheads="1" noGrp="1"/>
          </p:cNvSpPr>
          <p:nvPr>
            <p:ph type="pic" idx="1"/>
          </p:nvPr>
        </p:nvSpPr>
        <p:spPr bwMode="auto">
          <a:xfrm>
            <a:off x="5183505" y="987425"/>
            <a:ext cx="6172200" cy="4873625"/>
          </a:xfrm>
        </p:spPr>
        <p:txBody>
          <a:bodyPr/>
          <a:lstStyle>
            <a:lvl1pPr marL="0" indent="0">
              <a:buNone/>
              <a:defRPr sz="3200" cap="none"/>
            </a:lvl1pPr>
            <a:lvl2pPr marL="457200" indent="0">
              <a:buNone/>
              <a:defRPr sz="2800" cap="none"/>
            </a:lvl2pPr>
            <a:lvl3pPr marL="914400" indent="0">
              <a:buNone/>
              <a:defRPr sz="2400" cap="none"/>
            </a:lvl3pPr>
            <a:lvl4pPr marL="1371600" indent="0">
              <a:buNone/>
              <a:defRPr sz="2000" cap="none"/>
            </a:lvl4pPr>
            <a:lvl5pPr marL="1828800" indent="0">
              <a:buNone/>
              <a:defRPr sz="2000" cap="none"/>
            </a:lvl5pPr>
            <a:lvl6pPr marL="2286000" indent="0">
              <a:buNone/>
              <a:defRPr sz="2000" cap="none"/>
            </a:lvl6pPr>
            <a:lvl7pPr marL="2743200" indent="0">
              <a:buNone/>
              <a:defRPr sz="2000" cap="none"/>
            </a:lvl7pPr>
            <a:lvl8pPr marL="3200400" indent="0">
              <a:buNone/>
              <a:defRPr sz="2000" cap="none"/>
            </a:lvl8pPr>
            <a:lvl9pPr marL="3657600" indent="0">
              <a:buNone/>
              <a:defRPr sz="2000" cap="none"/>
            </a:lvl9pPr>
          </a:lstStyle>
          <a:p>
            <a:pPr>
              <a:defRPr/>
            </a:pPr>
            <a:r>
              <a:rPr/>
              <a:t>Click icon to add picture</a:t>
            </a:r>
            <a:endParaRPr/>
          </a:p>
        </p:txBody>
      </p:sp>
      <p:sp>
        <p:nvSpPr>
          <p:cNvPr id="1945638705" name="Text Placeholder 3"/>
          <p:cNvSpPr>
            <a:spLocks noChangeArrowheads="1" noGrp="1"/>
          </p:cNvSpPr>
          <p:nvPr>
            <p:ph idx="2"/>
          </p:nvPr>
        </p:nvSpPr>
        <p:spPr bwMode="auto">
          <a:xfrm>
            <a:off x="840105" y="2057400"/>
            <a:ext cx="3931920" cy="3811905"/>
          </a:xfrm>
        </p:spPr>
        <p:txBody>
          <a:bodyPr/>
          <a:lstStyle>
            <a:lvl1pPr marL="0" indent="0">
              <a:buNone/>
              <a:defRPr sz="1600" cap="none"/>
            </a:lvl1pPr>
            <a:lvl2pPr marL="457200" indent="0">
              <a:buNone/>
              <a:defRPr sz="1400" cap="none"/>
            </a:lvl2pPr>
            <a:lvl3pPr marL="914400" indent="0">
              <a:buNone/>
              <a:defRPr sz="1200" cap="none"/>
            </a:lvl3pPr>
            <a:lvl4pPr marL="1371600" indent="0">
              <a:buNone/>
              <a:defRPr sz="1000" cap="none"/>
            </a:lvl4pPr>
            <a:lvl5pPr marL="1828800" indent="0">
              <a:buNone/>
              <a:defRPr sz="1000" cap="none"/>
            </a:lvl5pPr>
            <a:lvl6pPr marL="2286000" indent="0">
              <a:buNone/>
              <a:defRPr sz="1000" cap="none"/>
            </a:lvl6pPr>
            <a:lvl7pPr marL="2743200" indent="0">
              <a:buNone/>
              <a:defRPr sz="1000" cap="none"/>
            </a:lvl7pPr>
            <a:lvl8pPr marL="3200400" indent="0">
              <a:buNone/>
              <a:defRPr sz="1000" cap="none"/>
            </a:lvl8pPr>
            <a:lvl9pPr marL="3657600" indent="0">
              <a:buNone/>
              <a:defRPr sz="1000" cap="none"/>
            </a:lvl9pPr>
          </a:lstStyle>
          <a:p>
            <a:pPr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307471019" name="Date Placeholder 4"/>
          <p:cNvSpPr>
            <a:spLocks noChangeArrowheads="1"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575531F-51E8-20A5-A6CD-A7F01D8350F2}" type="datetime1">
              <a:rPr cap="none"/>
              <a:t>10/11/2022</a:t>
            </a:fld>
            <a:endParaRPr cap="none"/>
          </a:p>
        </p:txBody>
      </p:sp>
      <p:sp>
        <p:nvSpPr>
          <p:cNvPr id="1604647282" name="Footer Placeholder 5"/>
          <p:cNvSpPr>
            <a:spLocks noChangeArrowheads="1"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cap="none"/>
          </a:p>
        </p:txBody>
      </p:sp>
      <p:sp>
        <p:nvSpPr>
          <p:cNvPr id="1786035568" name="Slide Number Placeholder 6"/>
          <p:cNvSpPr>
            <a:spLocks noChangeArrowheads="1"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3BEB304-4AEE-EB45-A006-BC10FD4856E9}" type="slidenum">
              <a:rPr cap="none"/>
              <a:t>‹#›</a:t>
            </a:fld>
            <a:endParaRPr cap="none"/>
          </a:p>
        </p:txBody>
      </p:sp>
    </p:spTree>
  </p:cSld>
  <p:clrMapOvr>
    <a:masterClrMapping/>
  </p:clrMapOvr>
  <p:hf dt="1" ftr="0" hdr="0" sldNum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377807" name="Title 1"/>
          <p:cNvSpPr>
            <a:spLocks noChangeArrowheads="1"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38148637" name="Vertical Text Placeholder 2"/>
          <p:cNvSpPr>
            <a:spLocks noChangeArrowheads="1" noGrp="1"/>
          </p:cNvSpPr>
          <p:nvPr>
            <p:ph idx="1"/>
          </p:nvPr>
        </p:nvSpPr>
        <p:spPr bwMode="auto"/>
        <p:txBody>
          <a:bodyPr vert="vert" wrap="square" lIns="91440" tIns="45720" rIns="91440" bIns="45720" numCol="1" spcCol="215899" anchor="t">
            <a:prstTxWarp prst="textNoShape"/>
          </a:bodyPr>
          <a:lstStyle/>
          <a:p>
            <a:pPr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84559852" name="Date Placeholder 3"/>
          <p:cNvSpPr>
            <a:spLocks noChangeArrowheads="1"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C2B2E7A-34B1-7ED8-FF93-C28D60DD0997}" type="datetime1">
              <a:rPr cap="none"/>
              <a:t>10/11/2022</a:t>
            </a:fld>
            <a:endParaRPr cap="none"/>
          </a:p>
        </p:txBody>
      </p:sp>
      <p:sp>
        <p:nvSpPr>
          <p:cNvPr id="9686851" name="Footer Placeholder 4"/>
          <p:cNvSpPr>
            <a:spLocks noChangeArrowheads="1"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cap="none"/>
          </a:p>
        </p:txBody>
      </p:sp>
      <p:sp>
        <p:nvSpPr>
          <p:cNvPr id="906843098" name="Slide Number Placeholder 5"/>
          <p:cNvSpPr>
            <a:spLocks noChangeArrowheads="1"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EA6F7EE-A0E3-F301-AD1E-5654B9505B03}" type="slidenum">
              <a:rPr cap="none"/>
              <a:t>‹#›</a:t>
            </a:fld>
            <a:endParaRPr cap="none"/>
          </a:p>
        </p:txBody>
      </p:sp>
    </p:spTree>
  </p:cSld>
  <p:clrMapOvr>
    <a:masterClrMapping/>
  </p:clrMapOvr>
  <p:hf dt="1" ftr="0" hdr="0" sldNum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091298" name="Vertical Title 1"/>
          <p:cNvSpPr>
            <a:spLocks noChangeArrowheads="1" noGrp="1"/>
          </p:cNvSpPr>
          <p:nvPr>
            <p:ph type="title"/>
          </p:nvPr>
        </p:nvSpPr>
        <p:spPr bwMode="auto">
          <a:xfrm>
            <a:off x="8724900" y="365125"/>
            <a:ext cx="2628900" cy="5812155"/>
          </a:xfrm>
        </p:spPr>
        <p:txBody>
          <a:bodyPr vert="vert" wrap="square" lIns="91440" tIns="45720" rIns="91440" bIns="45720" numCol="1" spcCol="215899" anchor="ctr">
            <a:prstTxWarp prst="textNoShape"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534391501" name="Vertical Text Placeholder 2"/>
          <p:cNvSpPr>
            <a:spLocks noChangeArrowheads="1" noGrp="1"/>
          </p:cNvSpPr>
          <p:nvPr>
            <p:ph idx="1"/>
          </p:nvPr>
        </p:nvSpPr>
        <p:spPr bwMode="auto">
          <a:xfrm>
            <a:off x="838200" y="365125"/>
            <a:ext cx="7734300" cy="5812155"/>
          </a:xfrm>
        </p:spPr>
        <p:txBody>
          <a:bodyPr vert="vert" wrap="square" lIns="91440" tIns="45720" rIns="91440" bIns="45720" numCol="1" spcCol="215899" anchor="t">
            <a:prstTxWarp prst="textNoShape"/>
          </a:bodyPr>
          <a:lstStyle/>
          <a:p>
            <a:pPr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144173295" name="Date Placeholder 3"/>
          <p:cNvSpPr>
            <a:spLocks noChangeArrowheads="1"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0D50B12-5CFD-80FD-B36D-AAA8452345FF}" type="datetime1">
              <a:rPr cap="none"/>
              <a:t>10/11/2022</a:t>
            </a:fld>
            <a:endParaRPr cap="none"/>
          </a:p>
        </p:txBody>
      </p:sp>
      <p:sp>
        <p:nvSpPr>
          <p:cNvPr id="610953084" name="Footer Placeholder 4"/>
          <p:cNvSpPr>
            <a:spLocks noChangeArrowheads="1"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cap="none"/>
          </a:p>
        </p:txBody>
      </p:sp>
      <p:sp>
        <p:nvSpPr>
          <p:cNvPr id="1232842008" name="Slide Number Placeholder 5"/>
          <p:cNvSpPr>
            <a:spLocks noChangeArrowheads="1"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A666F3D-73E7-3399-A9DE-85CC21905FD0}" type="slidenum">
              <a:rPr cap="none"/>
              <a:t>‹#›</a:t>
            </a:fld>
            <a:endParaRPr cap="none"/>
          </a:p>
        </p:txBody>
      </p:sp>
    </p:spTree>
  </p:cSld>
  <p:clrMapOvr>
    <a:masterClrMapping/>
  </p:clrMapOvr>
  <p:hf dt="1" ftr="0" hdr="0" sldNum="1"/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4806738" name="Title Placeholder 1"/>
          <p:cNvSpPr>
            <a:spLocks noChangeArrowheads="1" noGrp="1"/>
          </p:cNvSpPr>
          <p:nvPr>
            <p:ph type="title"/>
          </p:nvPr>
        </p:nvSpPr>
        <p:spPr bwMode="auto">
          <a:xfrm>
            <a:off x="838200" y="365125"/>
            <a:ext cx="10515600" cy="1325880"/>
          </a:xfrm>
          <a:prstGeom prst="rect">
            <a:avLst/>
          </a:prstGeom>
        </p:spPr>
        <p:txBody>
          <a:bodyPr vert="horz" wrap="square" lIns="91440" tIns="45720" rIns="91440" bIns="45720" numCol="1" spcCol="215899" anchor="ctr">
            <a:prstTxWarp prst="textNoShape"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04445097" name="Text Placeholder 2"/>
          <p:cNvSpPr>
            <a:spLocks noChangeArrowheads="1" noGrp="1"/>
          </p:cNvSpPr>
          <p:nvPr>
            <p:ph type="body" idx="1"/>
          </p:nvPr>
        </p:nvSpPr>
        <p:spPr bwMode="auto">
          <a:xfrm>
            <a:off x="838200" y="1825625"/>
            <a:ext cx="10515600" cy="4351655"/>
          </a:xfrm>
          <a:prstGeom prst="rect">
            <a:avLst/>
          </a:prstGeom>
        </p:spPr>
        <p:txBody>
          <a:bodyPr vert="horz" wrap="square" lIns="91440" tIns="45720" rIns="91440" bIns="45720" numCol="1" spcCol="215899" anchor="t">
            <a:prstTxWarp prst="textNoShape"/>
          </a:bodyPr>
          <a:lstStyle/>
          <a:p>
            <a:pPr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470010126" name="Date Placeholder 3"/>
          <p:cNvSpPr>
            <a:spLocks noChangeArrowheads="1"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spcCol="215899" anchor="ctr">
            <a:prstTxWarp prst="textNoShape"/>
          </a:bodyPr>
          <a:lstStyle>
            <a:lvl1pPr algn="l">
              <a:defRPr sz="1200" cap="none">
                <a:solidFill>
                  <a:srgbClr val="8C8C8C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defRPr/>
            </a:pPr>
            <a:fld id="{43ED21E5-ABAE-B8D7-E055-5D826F1B1608}" type="datetime1">
              <a:rPr cap="none"/>
              <a:t/>
            </a:fld>
            <a:endParaRPr cap="none"/>
          </a:p>
        </p:txBody>
      </p:sp>
      <p:sp>
        <p:nvSpPr>
          <p:cNvPr id="1890188178" name="Footer Placeholder 4"/>
          <p:cNvSpPr>
            <a:spLocks noChangeArrowheads="1"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wrap="square" lIns="91440" tIns="45720" rIns="91440" bIns="45720" numCol="1" spcCol="215899" anchor="ctr">
            <a:prstTxWarp prst="textNoShape"/>
          </a:bodyPr>
          <a:lstStyle>
            <a:lvl1pPr algn="ctr">
              <a:defRPr sz="1200" cap="none">
                <a:solidFill>
                  <a:srgbClr val="8C8C8C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defRPr/>
            </a:pPr>
            <a:endParaRPr cap="none"/>
          </a:p>
        </p:txBody>
      </p:sp>
      <p:sp>
        <p:nvSpPr>
          <p:cNvPr id="862422785" name="Slide Number Placeholder 5"/>
          <p:cNvSpPr>
            <a:spLocks noChangeArrowheads="1"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spcCol="215899" anchor="ctr">
            <a:prstTxWarp prst="textNoShape"/>
          </a:bodyPr>
          <a:lstStyle>
            <a:lvl1pPr algn="r">
              <a:defRPr sz="1200" cap="none">
                <a:solidFill>
                  <a:srgbClr val="8C8C8C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defRPr/>
            </a:pPr>
            <a:fld id="{5F3A855C-12B2-6F73-FC82-E426CBCC0AB1}" type="slidenum">
              <a:rPr cap="none"/>
              <a:t>1</a:t>
            </a:fld>
            <a:endParaRPr cap="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1"/>
  <p:txStyles>
    <p:titleStyle>
      <a:lvl1pPr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None/>
        <a:defRPr sz="4400" b="0" i="0" u="none" strike="noStrike" cap="none" spc="0">
          <a:solidFill>
            <a:schemeClr val="tx1"/>
          </a:solidFill>
          <a:latin typeface="Calibri Light"/>
          <a:ea typeface="Calibri Light"/>
          <a:cs typeface="Calibri Light"/>
        </a:defRPr>
      </a:lvl1pPr>
      <a:lvl2pPr marL="4572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Calibri"/>
          <a:cs typeface="Calibri"/>
        </a:defRPr>
      </a:lvl2pPr>
      <a:lvl3pPr marL="9144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Calibri"/>
          <a:cs typeface="Calibri"/>
        </a:defRPr>
      </a:lvl3pPr>
      <a:lvl4pPr marL="13716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Calibri"/>
          <a:cs typeface="Calibri"/>
        </a:defRPr>
      </a:lvl4pPr>
      <a:lvl5pPr marL="18288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Calibri"/>
          <a:cs typeface="Calibri"/>
        </a:defRPr>
      </a:lvl5pPr>
      <a:lvl6pPr marL="22860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Calibri"/>
          <a:cs typeface="Calibri"/>
        </a:defRPr>
      </a:lvl6pPr>
      <a:lvl7pPr marL="27432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Calibri"/>
          <a:cs typeface="Calibri"/>
        </a:defRPr>
      </a:lvl7pPr>
      <a:lvl8pPr marL="32004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Calibri"/>
          <a:cs typeface="Calibri"/>
        </a:defRPr>
      </a:lvl8pPr>
      <a:lvl9pPr marL="36576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Calibri"/>
          <a:cs typeface="Calibri"/>
        </a:defRPr>
      </a:lvl9pPr>
    </p:titleStyle>
    <p:bodyStyle>
      <a:lvl1pPr marL="228600" marR="0" indent="-228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/>
        <a:buChar char="•"/>
        <a:defRPr sz="2800" b="0" i="0" u="none" strike="noStrike" cap="none" spc="0">
          <a:solidFill>
            <a:schemeClr val="tx1"/>
          </a:solidFill>
          <a:latin typeface="Calibri"/>
          <a:ea typeface="Calibri"/>
          <a:cs typeface="Calibri"/>
        </a:defRPr>
      </a:lvl1pPr>
      <a:lvl2pPr marL="685800" marR="0" indent="-228600" algn="l" defTabSz="914400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/>
        <a:buChar char="•"/>
        <a:defRPr sz="2400" b="0" i="0" u="none" strike="noStrike" cap="none" spc="0">
          <a:solidFill>
            <a:schemeClr val="tx1"/>
          </a:solidFill>
          <a:latin typeface="Calibri"/>
          <a:ea typeface="Calibri"/>
          <a:cs typeface="Calibri"/>
        </a:defRPr>
      </a:lvl2pPr>
      <a:lvl3pPr marL="1143000" marR="0" indent="-228600" algn="l" defTabSz="914400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/>
        <a:buChar char="•"/>
        <a:defRPr sz="2000" b="0" i="0" u="none" strike="noStrike" cap="none" spc="0">
          <a:solidFill>
            <a:schemeClr val="tx1"/>
          </a:solidFill>
          <a:latin typeface="Calibri"/>
          <a:ea typeface="Calibri"/>
          <a:cs typeface="Calibri"/>
        </a:defRPr>
      </a:lvl3pPr>
      <a:lvl4pPr marL="1600200" marR="0" indent="-228600" algn="l" defTabSz="914400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/>
        <a:buChar char="•"/>
        <a:defRPr sz="1800" b="0" i="0" u="none" strike="noStrike" cap="none" spc="0">
          <a:solidFill>
            <a:schemeClr val="tx1"/>
          </a:solidFill>
          <a:latin typeface="Calibri"/>
          <a:ea typeface="Calibri"/>
          <a:cs typeface="Calibri"/>
        </a:defRPr>
      </a:lvl4pPr>
      <a:lvl5pPr marL="2057400" marR="0" indent="-228600" algn="l" defTabSz="914400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/>
        <a:buChar char="•"/>
        <a:defRPr sz="1800" b="0" i="0" u="none" strike="noStrike" cap="none" spc="0">
          <a:solidFill>
            <a:schemeClr val="tx1"/>
          </a:solidFill>
          <a:latin typeface="Calibri"/>
          <a:ea typeface="Calibri"/>
          <a:cs typeface="Calibri"/>
        </a:defRPr>
      </a:lvl5pPr>
      <a:lvl6pPr marL="2514600" marR="0" indent="-228600" algn="l" defTabSz="914400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/>
        <a:buChar char="•"/>
        <a:defRPr sz="1800" b="0" i="0" u="none" strike="noStrike" cap="none" spc="0">
          <a:solidFill>
            <a:schemeClr val="tx1"/>
          </a:solidFill>
          <a:latin typeface="Calibri"/>
          <a:ea typeface="Calibri"/>
          <a:cs typeface="Calibri"/>
        </a:defRPr>
      </a:lvl6pPr>
      <a:lvl7pPr marL="2971800" marR="0" indent="-228600" algn="l" defTabSz="914400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/>
        <a:buChar char="•"/>
        <a:defRPr sz="1800" b="0" i="0" u="none" strike="noStrike" cap="none" spc="0">
          <a:solidFill>
            <a:schemeClr val="tx1"/>
          </a:solidFill>
          <a:latin typeface="Calibri"/>
          <a:ea typeface="Calibri"/>
          <a:cs typeface="Calibri"/>
        </a:defRPr>
      </a:lvl7pPr>
      <a:lvl8pPr marL="3429000" marR="0" indent="-228600" algn="l" defTabSz="914400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/>
        <a:buChar char="•"/>
        <a:defRPr sz="1800" b="0" i="0" u="none" strike="noStrike" cap="none" spc="0">
          <a:solidFill>
            <a:schemeClr val="tx1"/>
          </a:solidFill>
          <a:latin typeface="Calibri"/>
          <a:ea typeface="Calibri"/>
          <a:cs typeface="Calibri"/>
        </a:defRPr>
      </a:lvl8pPr>
      <a:lvl9pPr marL="3886200" marR="0" indent="-228600" algn="l" defTabSz="914400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/>
        <a:buChar char="•"/>
        <a:defRPr sz="1800" b="0" i="0" u="none" strike="noStrike" cap="none" spc="0">
          <a:solidFill>
            <a:schemeClr val="tx1"/>
          </a:solidFill>
          <a:latin typeface="Calibri"/>
          <a:ea typeface="Calibri"/>
          <a:cs typeface="Calibri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Calibri"/>
          <a:cs typeface="Calibri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Calibri"/>
          <a:cs typeface="Calibri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Calibri"/>
          <a:cs typeface="Calibri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Calibri"/>
          <a:cs typeface="Calibri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Calibri"/>
          <a:cs typeface="Calibri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Calibri"/>
          <a:cs typeface="Calibri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Calibri"/>
          <a:cs typeface="Calibri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Calibri"/>
          <a:cs typeface="Calibri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Calibri"/>
          <a:cs typeface="Calibri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image" Target="../media/image5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jp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jp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jp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jp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jpg"/><Relationship Id="rId4" Type="http://schemas.openxmlformats.org/officeDocument/2006/relationships/image" Target="../media/image19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jpg"/><Relationship Id="rId4" Type="http://schemas.openxmlformats.org/officeDocument/2006/relationships/image" Target="../media/image21.jp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2.jp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964200" name="Title 3"/>
          <p:cNvSpPr>
            <a:spLocks noChangeArrowheads="1" noGrp="1"/>
          </p:cNvSpPr>
          <p:nvPr>
            <p:ph type="ctrTitle"/>
          </p:nvPr>
        </p:nvSpPr>
        <p:spPr bwMode="auto">
          <a:xfrm>
            <a:off x="0" y="2364740"/>
            <a:ext cx="12192000" cy="10337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t">
            <a:prstTxWarp prst="textNoShape"/>
          </a:bodyPr>
          <a:lstStyle/>
          <a:p>
            <a:pPr algn="ctr">
              <a:defRPr/>
            </a:pPr>
            <a:r>
              <a:rPr sz="3600" cap="none">
                <a:latin typeface="Helvetica"/>
                <a:ea typeface="Verdana"/>
                <a:cs typeface="Helvetica"/>
              </a:rPr>
              <a:t>EX3030/EM4012 Heat, Mass and Momentum Transfer</a:t>
            </a:r>
            <a:br>
              <a:rPr/>
            </a:br>
            <a:r>
              <a:rPr sz="3200" cap="none">
                <a:solidFill>
                  <a:srgbClr val="7F7F7F"/>
                </a:solidFill>
                <a:latin typeface="Helvetica"/>
                <a:ea typeface="Batang"/>
                <a:cs typeface="Helvetica"/>
              </a:rPr>
              <a:t>Heat Exchangers 2</a:t>
            </a:r>
            <a:endParaRPr sz="3600" cap="none">
              <a:latin typeface="Helvetica"/>
              <a:ea typeface="Verdana"/>
              <a:cs typeface="Helvetica"/>
            </a:endParaRPr>
          </a:p>
        </p:txBody>
      </p:sp>
      <p:sp>
        <p:nvSpPr>
          <p:cNvPr id="1294651613" name="Slide Number Placeholder 17"/>
          <p:cNvSpPr>
            <a:spLocks noChangeArrowheads="1" noGrp="1"/>
          </p:cNvSpPr>
          <p:nvPr>
            <p:ph type="sldNum" sz="quarter" idx="12"/>
          </p:nvPr>
        </p:nvSpPr>
        <p:spPr bwMode="auto">
          <a:xfrm>
            <a:off x="8999855" y="6356350"/>
            <a:ext cx="2743200" cy="365125"/>
          </a:xfrm>
          <a:prstGeom prst="rect">
            <a:avLst/>
          </a:prstGeom>
          <a:ln>
            <a:noFill/>
          </a:ln>
        </p:spPr>
        <p:txBody>
          <a:bodyPr/>
          <a:lstStyle/>
          <a:p>
            <a:pPr marL="0" marR="0" indent="0" algn="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fld id="{4BC380C9-87A6-9676-E87B-7123CE351E24}" type="slidenum">
              <a:rPr sz="1600" cap="none">
                <a:solidFill>
                  <a:srgbClr val="7F7F7F"/>
                </a:solidFill>
                <a:latin typeface="Helvetica"/>
                <a:ea typeface="Calibri"/>
                <a:cs typeface="Helvetica"/>
              </a:rPr>
              <a:t>1</a:t>
            </a:fld>
            <a:endParaRPr sz="1600" cap="none">
              <a:solidFill>
                <a:srgbClr val="7F7F7F"/>
              </a:solidFill>
              <a:latin typeface="Helvetica"/>
              <a:ea typeface="Calibri"/>
              <a:cs typeface="Helvetica"/>
            </a:endParaRPr>
          </a:p>
        </p:txBody>
      </p:sp>
      <p:sp>
        <p:nvSpPr>
          <p:cNvPr id="1534029968" name="TextBox 36"/>
          <p:cNvSpPr/>
          <p:nvPr/>
        </p:nvSpPr>
        <p:spPr bwMode="auto">
          <a:xfrm>
            <a:off x="3084829" y="4618990"/>
            <a:ext cx="6096000" cy="701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t"/>
          <a:lstStyle/>
          <a:p>
            <a:pPr algn="ctr">
              <a:defRPr sz="2000" cap="none">
                <a:solidFill>
                  <a:srgbClr val="7F7F7F"/>
                </a:solidFill>
                <a:latin typeface="Helvetica"/>
                <a:ea typeface="Batang"/>
                <a:cs typeface="Helvetica"/>
              </a:defRPr>
            </a:pPr>
            <a:r>
              <a:rPr/>
              <a:t>Originally by Dr Mark Stewart</a:t>
            </a:r>
            <a:endParaRPr/>
          </a:p>
          <a:p>
            <a:pPr algn="ctr">
              <a:defRPr sz="2000" cap="none">
                <a:solidFill>
                  <a:srgbClr val="7F7F7F"/>
                </a:solidFill>
                <a:latin typeface="Helvetica"/>
                <a:ea typeface="Batang"/>
                <a:cs typeface="Helvetica"/>
              </a:defRPr>
            </a:pPr>
            <a:r>
              <a:rPr/>
              <a:t>Presented by Dr M. Bannerman</a:t>
            </a:r>
            <a:endParaRPr/>
          </a:p>
        </p:txBody>
      </p:sp>
      <p:pic>
        <p:nvPicPr>
          <p:cNvPr id="1028241285" name="Picture 21" descr="A picture containing text, clipart&#10;&#10;Description automatically generated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690110" y="387350"/>
            <a:ext cx="2811780" cy="77152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 advTm="23444">
        <p:fade thruBlk="0"/>
      </p:transition>
    </mc:Choice>
    <mc:Fallback>
      <p:transition spd="slow" advClick="1" advTm="23444">
        <p:fade thruBlk="0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7895860" name="Title 3"/>
          <p:cNvSpPr>
            <a:spLocks noChangeArrowheads="1" noGrp="1"/>
          </p:cNvSpPr>
          <p:nvPr>
            <p:ph type="ctrTitle"/>
          </p:nvPr>
        </p:nvSpPr>
        <p:spPr bwMode="auto">
          <a:xfrm>
            <a:off x="0" y="360045"/>
            <a:ext cx="12192000" cy="7080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t">
            <a:prstTxWarp prst="textNoShape"/>
          </a:bodyPr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sz="4000" cap="none">
                <a:latin typeface="Helvetica"/>
                <a:ea typeface="Verdana"/>
                <a:cs typeface="Helvetica"/>
              </a:rPr>
              <a:t>Week 8 Content</a:t>
            </a:r>
            <a:endParaRPr sz="4000" cap="none">
              <a:latin typeface="Helvetica"/>
              <a:ea typeface="Verdana"/>
              <a:cs typeface="Helvetica"/>
            </a:endParaRPr>
          </a:p>
        </p:txBody>
      </p:sp>
      <p:sp>
        <p:nvSpPr>
          <p:cNvPr id="1068020526" name="Slide Number Placeholder 17"/>
          <p:cNvSpPr>
            <a:spLocks noChangeArrowheads="1" noGrp="1"/>
          </p:cNvSpPr>
          <p:nvPr>
            <p:ph type="sldNum" sz="quarter" idx="12"/>
          </p:nvPr>
        </p:nvSpPr>
        <p:spPr bwMode="auto">
          <a:xfrm>
            <a:off x="8999855" y="6356350"/>
            <a:ext cx="2743200" cy="365125"/>
          </a:xfrm>
        </p:spPr>
        <p:txBody>
          <a:bodyPr/>
          <a:lstStyle/>
          <a:p>
            <a:pPr>
              <a:defRPr/>
            </a:pPr>
            <a:fld id="{5C77CEE2-ACB1-2238-FFCF-5A6D8081090F}" type="slidenum">
              <a:rPr sz="1600" cap="none">
                <a:solidFill>
                  <a:srgbClr val="7F7F7F"/>
                </a:solidFill>
                <a:latin typeface="Helvetica"/>
                <a:ea typeface="Calibri"/>
                <a:cs typeface="Helvetica"/>
              </a:rPr>
              <a:t>2</a:t>
            </a:fld>
            <a:endParaRPr sz="1600" cap="none">
              <a:solidFill>
                <a:srgbClr val="7F7F7F"/>
              </a:solidFill>
              <a:latin typeface="Helvetica"/>
              <a:ea typeface="Calibri"/>
              <a:cs typeface="Helvetica"/>
            </a:endParaRPr>
          </a:p>
        </p:txBody>
      </p:sp>
      <p:pic>
        <p:nvPicPr>
          <p:cNvPr id="587849988" name="Picture 8" descr="A picture containing text, clipart&#10;&#10;Description automatically generated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48945" y="360045"/>
            <a:ext cx="1967865" cy="53975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079497384" name="TextBox 1"/>
          <p:cNvSpPr/>
          <p:nvPr/>
        </p:nvSpPr>
        <p:spPr bwMode="auto">
          <a:xfrm>
            <a:off x="1056005" y="2259330"/>
            <a:ext cx="10079990" cy="23393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t"/>
          <a:lstStyle/>
          <a:p>
            <a:pPr marL="285750" indent="-285750"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  <a:defRPr/>
            </a:pPr>
            <a:r>
              <a:rPr cap="none">
                <a:solidFill>
                  <a:srgbClr val="D0CECE"/>
                </a:solidFill>
                <a:latin typeface="Helvetica"/>
                <a:ea typeface="Calibri"/>
                <a:cs typeface="Calibri"/>
              </a:rPr>
              <a:t>Types and classifications of heat exchangers</a:t>
            </a:r>
            <a:endParaRPr cap="none">
              <a:solidFill>
                <a:srgbClr val="D0CECE"/>
              </a:solidFill>
              <a:latin typeface="Helvetica"/>
              <a:ea typeface="Calibri"/>
              <a:cs typeface="Calibri"/>
            </a:endParaRPr>
          </a:p>
          <a:p>
            <a:pPr marL="285750" indent="-285750"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  <a:defRPr/>
            </a:pPr>
            <a:r>
              <a:rPr cap="none">
                <a:solidFill>
                  <a:srgbClr val="D0CECE"/>
                </a:solidFill>
                <a:latin typeface="Helvetica"/>
                <a:ea typeface="Calibri"/>
                <a:cs typeface="Calibri"/>
              </a:rPr>
              <a:t>Overall heat transfer coefficient (OHTC)</a:t>
            </a:r>
            <a:endParaRPr cap="none">
              <a:solidFill>
                <a:srgbClr val="D0CECE"/>
              </a:solidFill>
              <a:latin typeface="Helvetica"/>
              <a:ea typeface="Calibri"/>
              <a:cs typeface="Calibri"/>
            </a:endParaRPr>
          </a:p>
          <a:p>
            <a:pPr marL="285750" indent="-285750"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  <a:defRPr/>
            </a:pPr>
            <a:r>
              <a:rPr cap="none">
                <a:latin typeface="Helvetica"/>
                <a:ea typeface="Calibri"/>
                <a:cs typeface="Calibri"/>
              </a:rPr>
              <a:t>Analysis of heat </a:t>
            </a:r>
            <a:r>
              <a:rPr lang="en-GB" cap="none">
                <a:latin typeface="Helvetica"/>
                <a:ea typeface="Calibri"/>
                <a:cs typeface="Calibri"/>
              </a:rPr>
              <a:t>exchangers</a:t>
            </a:r>
            <a:endParaRPr cap="none">
              <a:latin typeface="Helvetica"/>
              <a:ea typeface="Calibri"/>
              <a:cs typeface="Calibri"/>
            </a:endParaRPr>
          </a:p>
          <a:p>
            <a:pPr marL="400050" indent="-400050"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AutoNum type="romanLcParenBoth"/>
              <a:defRPr/>
            </a:pPr>
            <a:r>
              <a:rPr cap="none">
                <a:latin typeface="Helvetica"/>
                <a:ea typeface="Calibri"/>
                <a:cs typeface="Calibri"/>
              </a:rPr>
              <a:t>Log Mean Temperature Difference (LMTD) method </a:t>
            </a:r>
            <a:endParaRPr cap="none">
              <a:latin typeface="Helvetica"/>
              <a:ea typeface="Calibri"/>
              <a:cs typeface="Calibri"/>
            </a:endParaRPr>
          </a:p>
          <a:p>
            <a:pPr marL="400050" indent="-400050"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AutoNum type="romanLcParenBoth"/>
              <a:defRPr/>
            </a:pPr>
            <a:r>
              <a:rPr cap="none">
                <a:latin typeface="Helvetica"/>
                <a:ea typeface="Calibri"/>
                <a:cs typeface="Calibri"/>
              </a:rPr>
              <a:t>Effectiveness-NTU method</a:t>
            </a:r>
            <a:endParaRPr cap="none">
              <a:latin typeface="Helvetica"/>
              <a:ea typeface="Calibri"/>
              <a:cs typeface="Calibri"/>
            </a:endParaRPr>
          </a:p>
        </p:txBody>
      </p:sp>
      <p:sp>
        <p:nvSpPr>
          <p:cNvPr id="1019101586" name="TextBox 2"/>
          <p:cNvSpPr/>
          <p:nvPr/>
        </p:nvSpPr>
        <p:spPr bwMode="auto">
          <a:xfrm>
            <a:off x="1056005" y="1463675"/>
            <a:ext cx="10079990" cy="4000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t"/>
          <a:lstStyle/>
          <a:p>
            <a:pPr algn="ctr">
              <a:spcAft>
                <a:spcPts val="600"/>
              </a:spcAft>
              <a:defRPr/>
            </a:pPr>
            <a:r>
              <a:rPr sz="2000" b="1" cap="none">
                <a:solidFill>
                  <a:srgbClr val="FF9900"/>
                </a:solidFill>
                <a:latin typeface="Helvetica"/>
                <a:ea typeface="Calibri"/>
                <a:cs typeface="Calibri"/>
              </a:rPr>
              <a:t>Content</a:t>
            </a:r>
            <a:endParaRPr sz="2000" b="1" cap="none">
              <a:solidFill>
                <a:srgbClr val="FF9900"/>
              </a:solidFill>
              <a:latin typeface="Helvetica"/>
              <a:ea typeface="Calibri"/>
              <a:cs typeface="Calibri"/>
            </a:endParaRPr>
          </a:p>
        </p:txBody>
      </p:sp>
      <p:sp>
        <p:nvSpPr>
          <p:cNvPr id="1459737327" name="Slide Number Placeholder 17"/>
          <p:cNvSpPr/>
          <p:nvPr/>
        </p:nvSpPr>
        <p:spPr bwMode="auto">
          <a:xfrm>
            <a:off x="448945" y="6356350"/>
            <a:ext cx="4434840" cy="365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ctr"/>
          <a:lstStyle>
            <a:lvl1pPr marL="0" algn="r" defTabSz="457200">
              <a:defRPr sz="1200" cap="none">
                <a:solidFill>
                  <a:srgbClr val="8C8C8C"/>
                </a:solidFill>
                <a:latin typeface="Calibri"/>
                <a:ea typeface="Calibri"/>
                <a:cs typeface="Calibri"/>
              </a:defRPr>
            </a:lvl1pPr>
            <a:lvl2pPr marL="4572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9144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3716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8288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2860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7432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2004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6576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/>
            </a:pPr>
            <a:r>
              <a:rPr sz="1600" cap="none">
                <a:solidFill>
                  <a:srgbClr val="7F7F7F"/>
                </a:solidFill>
                <a:latin typeface="Helvetica"/>
                <a:ea typeface="Calibri"/>
                <a:cs typeface="Helvetica"/>
              </a:rPr>
              <a:t>EX3030/EM40JN</a:t>
            </a:r>
            <a:endParaRPr sz="1600" cap="none">
              <a:solidFill>
                <a:srgbClr val="7F7F7F"/>
              </a:solidFill>
              <a:latin typeface="Helvetica"/>
              <a:ea typeface="Calibri"/>
              <a:cs typeface="Helvetic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161298" name="Title 3"/>
          <p:cNvSpPr>
            <a:spLocks noChangeArrowheads="1" noGrp="1"/>
          </p:cNvSpPr>
          <p:nvPr>
            <p:ph type="ctrTitle"/>
          </p:nvPr>
        </p:nvSpPr>
        <p:spPr bwMode="auto">
          <a:xfrm>
            <a:off x="0" y="360045"/>
            <a:ext cx="12192000" cy="7080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t">
            <a:prstTxWarp prst="textNoShape"/>
          </a:bodyPr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sz="4000" cap="none">
                <a:latin typeface="Helvetica"/>
                <a:ea typeface="Verdana"/>
                <a:cs typeface="Helvetica"/>
              </a:rPr>
              <a:t>Heat Exchanger Analysis</a:t>
            </a:r>
            <a:endParaRPr sz="4000" cap="none">
              <a:latin typeface="Helvetica"/>
              <a:ea typeface="Verdana"/>
              <a:cs typeface="Helvetica"/>
            </a:endParaRPr>
          </a:p>
        </p:txBody>
      </p:sp>
      <p:sp>
        <p:nvSpPr>
          <p:cNvPr id="430654467" name="Slide Number Placeholder 17"/>
          <p:cNvSpPr>
            <a:spLocks noChangeArrowheads="1" noGrp="1"/>
          </p:cNvSpPr>
          <p:nvPr>
            <p:ph type="sldNum" sz="quarter" idx="12"/>
          </p:nvPr>
        </p:nvSpPr>
        <p:spPr bwMode="auto">
          <a:xfrm>
            <a:off x="8999855" y="6356350"/>
            <a:ext cx="2743200" cy="365125"/>
          </a:xfrm>
        </p:spPr>
        <p:txBody>
          <a:bodyPr/>
          <a:lstStyle/>
          <a:p>
            <a:pPr>
              <a:defRPr/>
            </a:pPr>
            <a:fld id="{2CB46A6E-20C1-E19C-8F0C-D6C924427983}" type="slidenum">
              <a:rPr sz="1600" cap="none">
                <a:solidFill>
                  <a:srgbClr val="7F7F7F"/>
                </a:solidFill>
                <a:latin typeface="Helvetica"/>
                <a:ea typeface="Calibri"/>
                <a:cs typeface="Helvetica"/>
              </a:rPr>
              <a:t>3</a:t>
            </a:fld>
            <a:endParaRPr sz="1600" cap="none">
              <a:solidFill>
                <a:srgbClr val="7F7F7F"/>
              </a:solidFill>
              <a:latin typeface="Helvetica"/>
              <a:ea typeface="Calibri"/>
              <a:cs typeface="Helvetica"/>
            </a:endParaRPr>
          </a:p>
        </p:txBody>
      </p:sp>
      <p:pic>
        <p:nvPicPr>
          <p:cNvPr id="2106870798" name="Picture 8" descr="A picture containing text, clipart&#10;&#10;Description automatically generated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48945" y="360045"/>
            <a:ext cx="1967865" cy="53975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785734593" name="TextBox 1"/>
          <p:cNvSpPr/>
          <p:nvPr/>
        </p:nvSpPr>
        <p:spPr bwMode="auto">
          <a:xfrm>
            <a:off x="1056005" y="2259330"/>
            <a:ext cx="10079990" cy="3943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t"/>
          <a:lstStyle/>
          <a:p>
            <a:pPr marL="285750" indent="-285750"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  <a:defRPr/>
            </a:pPr>
            <a:endParaRPr cap="none">
              <a:solidFill>
                <a:srgbClr val="D0CECE"/>
              </a:solidFill>
              <a:latin typeface="Helvetica"/>
              <a:ea typeface="Calibri"/>
              <a:cs typeface="Calibri"/>
            </a:endParaRPr>
          </a:p>
        </p:txBody>
      </p:sp>
      <p:sp>
        <p:nvSpPr>
          <p:cNvPr id="1427909712" name="TextBox 2"/>
          <p:cNvSpPr/>
          <p:nvPr/>
        </p:nvSpPr>
        <p:spPr bwMode="auto">
          <a:xfrm>
            <a:off x="1056005" y="1463675"/>
            <a:ext cx="10079990" cy="4000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t"/>
          <a:lstStyle/>
          <a:p>
            <a:pPr algn="ctr">
              <a:spcAft>
                <a:spcPts val="600"/>
              </a:spcAft>
              <a:defRPr/>
            </a:pPr>
            <a:r>
              <a:rPr sz="2000" b="1" cap="none">
                <a:solidFill>
                  <a:srgbClr val="FF9900"/>
                </a:solidFill>
                <a:latin typeface="Helvetica"/>
                <a:ea typeface="Calibri"/>
                <a:cs typeface="Calibri"/>
              </a:rPr>
              <a:t>Introduction</a:t>
            </a:r>
            <a:endParaRPr sz="2000" b="1" cap="none">
              <a:solidFill>
                <a:srgbClr val="FF9900"/>
              </a:solidFill>
              <a:latin typeface="Helvetica"/>
              <a:ea typeface="Calibri"/>
              <a:cs typeface="Calibri"/>
            </a:endParaRPr>
          </a:p>
        </p:txBody>
      </p:sp>
      <p:sp>
        <p:nvSpPr>
          <p:cNvPr id="200493319" name="Slide Number Placeholder 17"/>
          <p:cNvSpPr/>
          <p:nvPr/>
        </p:nvSpPr>
        <p:spPr bwMode="auto">
          <a:xfrm>
            <a:off x="448945" y="6356350"/>
            <a:ext cx="4434840" cy="365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ctr"/>
          <a:lstStyle>
            <a:lvl1pPr marL="0" algn="r" defTabSz="457200">
              <a:defRPr sz="1200" cap="none">
                <a:solidFill>
                  <a:srgbClr val="8C8C8C"/>
                </a:solidFill>
                <a:latin typeface="Calibri"/>
                <a:ea typeface="Calibri"/>
                <a:cs typeface="Calibri"/>
              </a:defRPr>
            </a:lvl1pPr>
            <a:lvl2pPr marL="4572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9144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3716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8288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2860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7432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2004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6576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/>
            </a:pPr>
            <a:r>
              <a:rPr sz="1600" cap="none">
                <a:solidFill>
                  <a:srgbClr val="7F7F7F"/>
                </a:solidFill>
                <a:latin typeface="Helvetica"/>
                <a:ea typeface="Calibri"/>
                <a:cs typeface="Helvetica"/>
              </a:rPr>
              <a:t>EX3030/EM40JN</a:t>
            </a:r>
            <a:endParaRPr sz="1600" cap="none">
              <a:solidFill>
                <a:srgbClr val="7F7F7F"/>
              </a:solidFill>
              <a:latin typeface="Helvetica"/>
              <a:ea typeface="Calibri"/>
              <a:cs typeface="Helvetica"/>
            </a:endParaRPr>
          </a:p>
        </p:txBody>
      </p:sp>
      <p:sp>
        <p:nvSpPr>
          <p:cNvPr id="2009180451" name="TextBox 4"/>
          <p:cNvSpPr/>
          <p:nvPr/>
        </p:nvSpPr>
        <p:spPr bwMode="auto">
          <a:xfrm>
            <a:off x="1056005" y="2221865"/>
            <a:ext cx="10079990" cy="333629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L="342900" indent="-342900"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  <a:defRPr/>
            </a:pPr>
            <a:r>
              <a:rPr lang="en-GB" sz="2000">
                <a:latin typeface="Helvetica"/>
                <a:ea typeface="Times New Roman"/>
                <a:cs typeface="Helvetica"/>
              </a:rPr>
              <a:t>Previously we looked at how to relate the heat flux and overall heat transfer coefficient through:</a:t>
            </a:r>
            <a:endParaRPr/>
          </a:p>
          <a:p>
            <a:pPr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2000" b="0" i="1">
                          <a:latin typeface="Cambria Math"/>
                          <a:ea typeface="Times New Roman"/>
                          <a:cs typeface="Helvetica"/>
                        </a:rPr>
                        <m:t>𝑄</m:t>
                      </m:r>
                      <m:r>
                        <m:rPr/>
                        <a:rPr lang="en-GB" sz="2000" b="0" i="1">
                          <a:latin typeface="Cambria Math"/>
                          <a:ea typeface="Times New Roman"/>
                          <a:cs typeface="Helvetica"/>
                        </a:rPr>
                        <m:t>=</m:t>
                      </m:r>
                      <m:r>
                        <m:rPr/>
                        <a:rPr lang="en-GB" sz="2000" b="0" i="1">
                          <a:latin typeface="Cambria Math"/>
                          <a:ea typeface="Times New Roman"/>
                          <a:cs typeface="Helvetica"/>
                        </a:rPr>
                        <m:t>𝑈𝐴</m:t>
                      </m:r>
                      <m:r>
                        <m:rPr>
                          <m:sty m:val="p"/>
                        </m:rPr>
                        <a:rPr lang="en-GB" sz="2000" b="0" i="0">
                          <a:latin typeface="Cambria Math"/>
                          <a:ea typeface="Times New Roman"/>
                          <a:cs typeface="Helvetica"/>
                        </a:rPr>
                        <m:t>Δ</m:t>
                      </m:r>
                      <m:r>
                        <m:rPr/>
                        <a:rPr lang="en-GB" sz="2000" b="0" i="1">
                          <a:latin typeface="Cambria Math"/>
                          <a:ea typeface="Times New Roman"/>
                          <a:cs typeface="Helvetica"/>
                        </a:rPr>
                        <m:t>𝑇</m:t>
                      </m:r>
                    </m:oMath>
                  </m:oMathPara>
                </a14:m>
              </mc:Choice>
              <mc:Fallback/>
            </mc:AlternateContent>
            <a:endParaRPr lang="en-GB" sz="2000" b="0">
              <a:latin typeface="Helvetica"/>
              <a:ea typeface="Times New Roman"/>
              <a:cs typeface="Helvetica"/>
            </a:endParaRPr>
          </a:p>
          <a:p>
            <a:pPr marL="342900" indent="-342900"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  <a:defRPr/>
            </a:pPr>
            <a:r>
              <a:rPr lang="en-GB" sz="2000">
                <a:latin typeface="Helvetica"/>
                <a:ea typeface="Times New Roman"/>
                <a:cs typeface="Helvetica"/>
              </a:rPr>
              <a:t>However, we are yet to study the driving mechanism of the heat transfer process,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GB" sz="2000" b="0" i="0">
                          <a:latin typeface="Cambria Math"/>
                          <a:ea typeface="Times New Roman"/>
                          <a:cs typeface="Helvetica"/>
                        </a:rPr>
                        <m:t>Δ</m:t>
                      </m:r>
                      <m:r>
                        <m:rPr/>
                        <a:rPr lang="en-GB" sz="2000" b="0" i="1">
                          <a:latin typeface="Cambria Math"/>
                          <a:ea typeface="Times New Roman"/>
                          <a:cs typeface="Helvetica"/>
                        </a:rPr>
                        <m:t>𝑇</m:t>
                      </m:r>
                    </m:oMath>
                  </m:oMathPara>
                </a14:m>
              </mc:Choice>
              <mc:Fallback/>
            </mc:AlternateContent>
            <a:endParaRPr lang="en-GB" sz="2000">
              <a:latin typeface="Helvetica"/>
              <a:ea typeface="Times New Roman"/>
              <a:cs typeface="Helvetica"/>
            </a:endParaRPr>
          </a:p>
          <a:p>
            <a:pPr marL="342900" indent="-342900"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  <a:defRPr/>
            </a:pPr>
            <a:r>
              <a:rPr lang="en-GB" sz="2000">
                <a:latin typeface="Helvetica"/>
                <a:ea typeface="Times New Roman"/>
                <a:cs typeface="Helvetica"/>
              </a:rPr>
              <a:t>Two methods are commonly used to estimate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GB" sz="2000" b="0" i="0">
                          <a:latin typeface="Cambria Math"/>
                          <a:ea typeface="Times New Roman"/>
                          <a:cs typeface="Helvetica"/>
                        </a:rPr>
                        <m:t>Δ</m:t>
                      </m:r>
                      <m:r>
                        <m:rPr/>
                        <a:rPr lang="en-GB" sz="2000" b="0" i="1">
                          <a:latin typeface="Cambria Math"/>
                          <a:ea typeface="Times New Roman"/>
                          <a:cs typeface="Helvetica"/>
                        </a:rPr>
                        <m:t>𝑇</m:t>
                      </m:r>
                    </m:oMath>
                  </m:oMathPara>
                </a14:m>
              </mc:Choice>
              <mc:Fallback/>
            </mc:AlternateContent>
            <a:r>
              <a:rPr lang="en-GB" sz="2000">
                <a:latin typeface="Helvetica"/>
                <a:ea typeface="Times New Roman"/>
                <a:cs typeface="Helvetica"/>
              </a:rPr>
              <a:t>:</a:t>
            </a:r>
            <a:endParaRPr/>
          </a:p>
          <a:p>
            <a:pPr marL="400050" indent="-400050"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AutoNum type="romanLcParenBoth"/>
              <a:defRPr/>
            </a:pPr>
            <a:r>
              <a:rPr lang="en-GB" sz="2000" b="1">
                <a:latin typeface="Helvetica"/>
                <a:ea typeface="Times New Roman"/>
                <a:cs typeface="Helvetica"/>
              </a:rPr>
              <a:t>Log-mean temperature difference (LMTD) method</a:t>
            </a:r>
            <a:endParaRPr/>
          </a:p>
          <a:p>
            <a:pPr marL="400050" indent="-400050"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AutoNum type="romanLcParenBoth"/>
              <a:defRPr/>
            </a:pPr>
            <a:r>
              <a:rPr lang="en-GB" sz="2000" b="1">
                <a:latin typeface="Helvetica"/>
                <a:ea typeface="Times New Roman"/>
                <a:cs typeface="Helvetica"/>
              </a:rPr>
              <a:t>Effectiveness-NTU method</a:t>
            </a:r>
            <a:endParaRPr lang="en-GB" sz="2000" b="1">
              <a:latin typeface="Helvetica"/>
              <a:ea typeface="Times New Roman"/>
              <a:cs typeface="Helvetic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7185723" name="Title 3"/>
          <p:cNvSpPr>
            <a:spLocks noChangeArrowheads="1" noGrp="1"/>
          </p:cNvSpPr>
          <p:nvPr>
            <p:ph type="ctrTitle"/>
          </p:nvPr>
        </p:nvSpPr>
        <p:spPr bwMode="auto">
          <a:xfrm>
            <a:off x="0" y="360045"/>
            <a:ext cx="12192000" cy="7080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t">
            <a:prstTxWarp prst="textNoShape"/>
          </a:bodyPr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sz="4000" cap="none">
                <a:latin typeface="Helvetica"/>
                <a:ea typeface="Verdana"/>
                <a:cs typeface="Helvetica"/>
              </a:rPr>
              <a:t>LMTD Method</a:t>
            </a:r>
            <a:endParaRPr sz="4000" cap="none">
              <a:latin typeface="Helvetica"/>
              <a:ea typeface="Verdana"/>
              <a:cs typeface="Helvetica"/>
            </a:endParaRPr>
          </a:p>
        </p:txBody>
      </p:sp>
      <p:sp>
        <p:nvSpPr>
          <p:cNvPr id="157913336" name="Slide Number Placeholder 17"/>
          <p:cNvSpPr>
            <a:spLocks noChangeArrowheads="1" noGrp="1"/>
          </p:cNvSpPr>
          <p:nvPr>
            <p:ph type="sldNum" sz="quarter" idx="12"/>
          </p:nvPr>
        </p:nvSpPr>
        <p:spPr bwMode="auto">
          <a:xfrm>
            <a:off x="8999855" y="6356350"/>
            <a:ext cx="2743200" cy="365125"/>
          </a:xfrm>
        </p:spPr>
        <p:txBody>
          <a:bodyPr/>
          <a:lstStyle/>
          <a:p>
            <a:pPr>
              <a:defRPr/>
            </a:pPr>
            <a:fld id="{2FC4C5B2-FCC2-9133-8C7C-0A668B327A5F}" type="slidenum">
              <a:rPr sz="1600" cap="none">
                <a:solidFill>
                  <a:srgbClr val="7F7F7F"/>
                </a:solidFill>
                <a:latin typeface="Helvetica"/>
                <a:ea typeface="Calibri"/>
                <a:cs typeface="Helvetica"/>
              </a:rPr>
              <a:t>4</a:t>
            </a:fld>
            <a:endParaRPr sz="1600" cap="none">
              <a:solidFill>
                <a:srgbClr val="7F7F7F"/>
              </a:solidFill>
              <a:latin typeface="Helvetica"/>
              <a:ea typeface="Calibri"/>
              <a:cs typeface="Helvetica"/>
            </a:endParaRPr>
          </a:p>
        </p:txBody>
      </p:sp>
      <p:pic>
        <p:nvPicPr>
          <p:cNvPr id="631528035" name="Picture 8" descr="A picture containing text, clipart&#10;&#10;Description automatically generated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48945" y="360045"/>
            <a:ext cx="1967865" cy="53975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53109784" name="TextBox 2"/>
          <p:cNvSpPr/>
          <p:nvPr/>
        </p:nvSpPr>
        <p:spPr bwMode="auto">
          <a:xfrm>
            <a:off x="1056005" y="1282700"/>
            <a:ext cx="10079990" cy="4000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t"/>
          <a:lstStyle/>
          <a:p>
            <a:pPr algn="ctr">
              <a:spcAft>
                <a:spcPts val="600"/>
              </a:spcAft>
              <a:defRPr/>
            </a:pPr>
            <a:r>
              <a:rPr sz="2000" b="1" cap="none">
                <a:solidFill>
                  <a:srgbClr val="FF9900"/>
                </a:solidFill>
                <a:latin typeface="Helvetica"/>
                <a:ea typeface="Calibri"/>
                <a:cs typeface="Calibri"/>
              </a:rPr>
              <a:t>Temperature variation along the heat exchanger</a:t>
            </a:r>
            <a:endParaRPr sz="2000" b="1" cap="none">
              <a:solidFill>
                <a:srgbClr val="FF9900"/>
              </a:solidFill>
              <a:latin typeface="Helvetica"/>
              <a:ea typeface="Calibri"/>
              <a:cs typeface="Calibri"/>
            </a:endParaRPr>
          </a:p>
        </p:txBody>
      </p:sp>
      <p:sp>
        <p:nvSpPr>
          <p:cNvPr id="816442837" name="Slide Number Placeholder 17"/>
          <p:cNvSpPr/>
          <p:nvPr/>
        </p:nvSpPr>
        <p:spPr bwMode="auto">
          <a:xfrm>
            <a:off x="448945" y="6356350"/>
            <a:ext cx="4434840" cy="365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ctr"/>
          <a:lstStyle>
            <a:lvl1pPr marL="0" algn="r" defTabSz="457200">
              <a:defRPr sz="1200" cap="none">
                <a:solidFill>
                  <a:srgbClr val="8C8C8C"/>
                </a:solidFill>
                <a:latin typeface="Calibri"/>
                <a:ea typeface="Calibri"/>
                <a:cs typeface="Calibri"/>
              </a:defRPr>
            </a:lvl1pPr>
            <a:lvl2pPr marL="4572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9144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3716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8288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2860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7432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2004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6576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/>
            </a:pPr>
            <a:r>
              <a:rPr sz="1600" cap="none">
                <a:solidFill>
                  <a:srgbClr val="7F7F7F"/>
                </a:solidFill>
                <a:latin typeface="Helvetica"/>
                <a:ea typeface="Calibri"/>
                <a:cs typeface="Helvetica"/>
              </a:rPr>
              <a:t>EX3030/EM40JN</a:t>
            </a:r>
            <a:endParaRPr sz="1600" cap="none">
              <a:solidFill>
                <a:srgbClr val="7F7F7F"/>
              </a:solidFill>
              <a:latin typeface="Helvetica"/>
              <a:ea typeface="Calibri"/>
              <a:cs typeface="Helvetica"/>
            </a:endParaRPr>
          </a:p>
        </p:txBody>
      </p:sp>
      <p:grpSp>
        <p:nvGrpSpPr>
          <p:cNvPr id="15027475" name="Group 6"/>
          <p:cNvGrpSpPr/>
          <p:nvPr/>
        </p:nvGrpSpPr>
        <p:grpSpPr bwMode="auto">
          <a:xfrm>
            <a:off x="3230245" y="1946910"/>
            <a:ext cx="5731510" cy="4395470"/>
            <a:chOff x="3230245" y="1946910"/>
            <a:chExt cx="5731510" cy="4395470"/>
          </a:xfrm>
        </p:grpSpPr>
        <p:pic>
          <p:nvPicPr>
            <p:cNvPr id="10" name="Picture 7" descr="A picture containing graphical user interface, diagram&#10;&#10;Description automatically generated"/>
            <p:cNvPicPr/>
            <p:nvPr/>
          </p:nvPicPr>
          <p:blipFill>
            <a:blip r:embed="rId4"/>
            <a:stretch/>
          </p:blipFill>
          <p:spPr bwMode="auto">
            <a:xfrm>
              <a:off x="3230245" y="2316480"/>
              <a:ext cx="5731510" cy="40258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</p:pic>
        <p:sp>
          <p:nvSpPr>
            <p:cNvPr id="9" name="TextBox 9"/>
            <p:cNvSpPr/>
            <p:nvPr/>
          </p:nvSpPr>
          <p:spPr bwMode="auto">
            <a:xfrm>
              <a:off x="3230245" y="1946910"/>
              <a:ext cx="2865755" cy="36957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91440" tIns="45720" rIns="91440" bIns="45720" numCol="1" spcCol="215899" anchor="t"/>
            <a:lstStyle/>
            <a:p>
              <a:pPr algn="ctr">
                <a:defRPr/>
              </a:pPr>
              <a:r>
                <a:rPr cap="none">
                  <a:latin typeface="Helvetica"/>
                  <a:ea typeface="Calibri"/>
                  <a:cs typeface="Calibri"/>
                </a:rPr>
                <a:t>Parallel-flow</a:t>
              </a:r>
              <a:endParaRPr cap="none"/>
            </a:p>
          </p:txBody>
        </p:sp>
        <p:sp>
          <p:nvSpPr>
            <p:cNvPr id="8" name="TextBox 10"/>
            <p:cNvSpPr/>
            <p:nvPr/>
          </p:nvSpPr>
          <p:spPr bwMode="auto">
            <a:xfrm>
              <a:off x="6096000" y="1946910"/>
              <a:ext cx="2865755" cy="36957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91440" tIns="45720" rIns="91440" bIns="45720" numCol="1" spcCol="215899" anchor="t"/>
            <a:lstStyle/>
            <a:p>
              <a:pPr algn="ctr">
                <a:defRPr/>
              </a:pPr>
              <a:r>
                <a:rPr cap="none">
                  <a:latin typeface="Helvetica"/>
                  <a:ea typeface="Calibri"/>
                  <a:cs typeface="Calibri"/>
                </a:rPr>
                <a:t>Counter-flow</a:t>
              </a:r>
              <a:endParaRPr cap="none"/>
            </a:p>
          </p:txBody>
        </p:sp>
      </p:grpSp>
      <p:sp>
        <p:nvSpPr>
          <p:cNvPr id="1096843241" name="TextBox 11"/>
          <p:cNvSpPr/>
          <p:nvPr/>
        </p:nvSpPr>
        <p:spPr bwMode="auto">
          <a:xfrm>
            <a:off x="864235" y="3056890"/>
            <a:ext cx="2366010" cy="10033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1800" b="0" i="1">
                          <a:latin typeface="Cambria Math"/>
                          <a:ea typeface="Times New Roman"/>
                          <a:cs typeface="Helvetica"/>
                        </a:rPr>
                        <m:t>𝛿</m:t>
                      </m:r>
                      <m:acc>
                        <m:accPr>
                          <m:chr m:val="̇"/>
                          <m:ctrlPr>
                            <a:rPr lang="en-GB" sz="1800" b="0" i="1">
                              <a:latin typeface="Cambria Math"/>
                              <a:ea typeface="Cambria Math"/>
                              <a:cs typeface="Helvetica"/>
                            </a:rPr>
                          </m:ctrlPr>
                        </m:accPr>
                        <m:e>
                          <m:r>
                            <m:rPr/>
                            <a:rPr lang="en-GB" i="1">
                              <a:latin typeface="Cambria Math"/>
                              <a:ea typeface="Times New Roman"/>
                              <a:cs typeface="Helvetica"/>
                            </a:rPr>
                            <m:t>𝑄</m:t>
                          </m:r>
                        </m:e>
                      </m:acc>
                      <m:r>
                        <m:rPr/>
                        <a:rPr lang="en-GB" sz="1800" b="0" i="1">
                          <a:latin typeface="Cambria Math"/>
                          <a:ea typeface="Times New Roman"/>
                          <a:cs typeface="Helvetica"/>
                        </a:rPr>
                        <m:t>=</m:t>
                      </m:r>
                      <m:r>
                        <m:rPr/>
                        <a:rPr lang="en-GB" sz="1800" b="0" i="1">
                          <a:latin typeface="Cambria Math"/>
                          <a:ea typeface="Times New Roman"/>
                          <a:cs typeface="Helvetica"/>
                        </a:rPr>
                        <m:t>−</m:t>
                      </m:r>
                      <m:sSub>
                        <m:sSubPr>
                          <m:ctrlPr>
                            <a:rPr lang="en-GB" sz="1800" b="0" i="1">
                              <a:latin typeface="Cambria Math"/>
                              <a:ea typeface="Times New Roman"/>
                              <a:cs typeface="Helvetica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GB" sz="1800" b="0" i="1">
                                  <a:latin typeface="Cambria Math"/>
                                  <a:ea typeface="Cambria Math"/>
                                  <a:cs typeface="Helvetica"/>
                                </a:rPr>
                              </m:ctrlPr>
                            </m:accPr>
                            <m:e>
                              <m:r>
                                <m:rPr/>
                                <a:rPr lang="en-GB" i="1">
                                  <a:latin typeface="Cambria Math"/>
                                  <a:ea typeface="Times New Roman"/>
                                  <a:cs typeface="Helvetica"/>
                                </a:rPr>
                                <m:t>𝑚</m:t>
                              </m:r>
                            </m:e>
                          </m:acc>
                        </m:e>
                        <m:sub>
                          <m:r>
                            <m:rPr/>
                            <a:rPr lang="en-GB" sz="1800" b="0" i="1">
                              <a:latin typeface="Cambria Math"/>
                              <a:ea typeface="Times New Roman"/>
                              <a:cs typeface="Helvetica"/>
                            </a:rPr>
                            <m:t>h</m:t>
                          </m:r>
                        </m:sub>
                      </m:sSub>
                      <m:sSub>
                        <m:sSubPr>
                          <m:ctrlPr>
                            <a:rPr lang="en-GB" sz="1800" b="0" i="1">
                              <a:latin typeface="Cambria Math"/>
                              <a:ea typeface="Times New Roman"/>
                              <a:cs typeface="Helvetica"/>
                            </a:rPr>
                          </m:ctrlPr>
                        </m:sSubPr>
                        <m:e>
                          <m:r>
                            <m:rPr/>
                            <a:rPr lang="en-GB" sz="1800" b="0" i="1">
                              <a:latin typeface="Cambria Math"/>
                              <a:ea typeface="Times New Roman"/>
                              <a:cs typeface="Helvetica"/>
                            </a:rPr>
                            <m:t>𝐶</m:t>
                          </m:r>
                        </m:e>
                        <m:sub>
                          <m:r>
                            <m:rPr/>
                            <a:rPr lang="en-GB" sz="1800" b="0" i="1">
                              <a:latin typeface="Cambria Math"/>
                              <a:ea typeface="Times New Roman"/>
                              <a:cs typeface="Helvetica"/>
                            </a:rPr>
                            <m:t>𝑝</m:t>
                          </m:r>
                          <m:r>
                            <m:rPr/>
                            <a:rPr lang="en-GB" sz="1800" b="0" i="1">
                              <a:latin typeface="Cambria Math"/>
                              <a:ea typeface="Times New Roman"/>
                              <a:cs typeface="Helvetica"/>
                            </a:rPr>
                            <m:t>,</m:t>
                          </m:r>
                          <m:r>
                            <m:rPr/>
                            <a:rPr lang="en-GB" sz="1800" b="0" i="1">
                              <a:latin typeface="Cambria Math"/>
                              <a:ea typeface="Times New Roman"/>
                              <a:cs typeface="Helvetica"/>
                            </a:rPr>
                            <m:t>h</m:t>
                          </m:r>
                        </m:sub>
                      </m:sSub>
                      <m:r>
                        <m:rPr/>
                        <a:rPr lang="en-GB" sz="1800" b="0" i="1">
                          <a:latin typeface="Cambria Math"/>
                          <a:ea typeface="Times New Roman"/>
                          <a:cs typeface="Helvetica"/>
                        </a:rPr>
                        <m:t>𝑑</m:t>
                      </m:r>
                      <m:sSub>
                        <m:sSubPr>
                          <m:ctrlPr>
                            <a:rPr lang="en-GB" sz="1800" b="0" i="1">
                              <a:latin typeface="Cambria Math"/>
                              <a:ea typeface="Times New Roman"/>
                              <a:cs typeface="Helvetica"/>
                            </a:rPr>
                          </m:ctrlPr>
                        </m:sSubPr>
                        <m:e>
                          <m:r>
                            <m:rPr/>
                            <a:rPr lang="en-GB" sz="1800" b="0" i="1">
                              <a:latin typeface="Cambria Math"/>
                              <a:ea typeface="Times New Roman"/>
                              <a:cs typeface="Helvetica"/>
                            </a:rPr>
                            <m:t>𝑇</m:t>
                          </m:r>
                        </m:e>
                        <m:sub>
                          <m:r>
                            <m:rPr/>
                            <a:rPr lang="en-GB" sz="1800" b="0" i="1">
                              <a:latin typeface="Cambria Math"/>
                              <a:ea typeface="Times New Roman"/>
                              <a:cs typeface="Helvetica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 lang="en-GB" sz="1800" b="0">
              <a:latin typeface="Helvetica"/>
              <a:ea typeface="Times New Roman"/>
              <a:cs typeface="Helvetica"/>
            </a:endParaRPr>
          </a:p>
          <a:p>
            <a:pPr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1800" b="0" i="1">
                          <a:latin typeface="Cambria Math"/>
                          <a:ea typeface="Times New Roman"/>
                          <a:cs typeface="Helvetica"/>
                        </a:rPr>
                        <m:t>𝛿</m:t>
                      </m:r>
                      <m:acc>
                        <m:accPr>
                          <m:chr m:val="̇"/>
                          <m:ctrlPr>
                            <a:rPr lang="en-GB" i="1">
                              <a:latin typeface="Cambria Math"/>
                              <a:ea typeface="Cambria Math"/>
                              <a:cs typeface="Helvetica"/>
                            </a:rPr>
                          </m:ctrlPr>
                        </m:accPr>
                        <m:e>
                          <m:r>
                            <m:rPr/>
                            <a:rPr lang="en-GB" i="1">
                              <a:latin typeface="Cambria Math"/>
                              <a:ea typeface="Times New Roman"/>
                              <a:cs typeface="Helvetica"/>
                            </a:rPr>
                            <m:t>𝑄</m:t>
                          </m:r>
                        </m:e>
                      </m:acc>
                      <m:r>
                        <m:rPr/>
                        <a:rPr lang="en-GB" sz="1800" b="0" i="1">
                          <a:latin typeface="Cambria Math"/>
                          <a:ea typeface="Times New Roman"/>
                          <a:cs typeface="Helvetica"/>
                        </a:rPr>
                        <m:t>=</m:t>
                      </m:r>
                      <m:sSub>
                        <m:sSubPr>
                          <m:ctrlPr>
                            <a:rPr lang="en-GB" sz="1800" b="0" i="1">
                              <a:latin typeface="Cambria Math"/>
                              <a:ea typeface="Times New Roman"/>
                              <a:cs typeface="Helvetica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GB" sz="1800" b="0" i="1">
                                  <a:latin typeface="Cambria Math"/>
                                  <a:ea typeface="Cambria Math"/>
                                  <a:cs typeface="Helvetica"/>
                                </a:rPr>
                              </m:ctrlPr>
                            </m:accPr>
                            <m:e>
                              <m:r>
                                <m:rPr/>
                                <a:rPr lang="en-GB" i="1">
                                  <a:latin typeface="Cambria Math"/>
                                  <a:ea typeface="Times New Roman"/>
                                  <a:cs typeface="Helvetica"/>
                                </a:rPr>
                                <m:t>𝑚</m:t>
                              </m:r>
                            </m:e>
                          </m:acc>
                        </m:e>
                        <m:sub>
                          <m:r>
                            <m:rPr/>
                            <a:rPr lang="en-GB" sz="1800" b="0" i="1">
                              <a:latin typeface="Cambria Math"/>
                              <a:ea typeface="Times New Roman"/>
                              <a:cs typeface="Helvetica"/>
                            </a:rPr>
                            <m:t>𝑐</m:t>
                          </m:r>
                        </m:sub>
                      </m:sSub>
                      <m:sSub>
                        <m:sSubPr>
                          <m:ctrlPr>
                            <a:rPr lang="en-GB" sz="1800" b="0" i="1">
                              <a:latin typeface="Cambria Math"/>
                              <a:ea typeface="Times New Roman"/>
                              <a:cs typeface="Helvetica"/>
                            </a:rPr>
                          </m:ctrlPr>
                        </m:sSubPr>
                        <m:e>
                          <m:r>
                            <m:rPr/>
                            <a:rPr lang="en-GB" sz="1800" b="0" i="1">
                              <a:latin typeface="Cambria Math"/>
                              <a:ea typeface="Times New Roman"/>
                              <a:cs typeface="Helvetica"/>
                            </a:rPr>
                            <m:t>𝐶</m:t>
                          </m:r>
                        </m:e>
                        <m:sub>
                          <m:r>
                            <m:rPr/>
                            <a:rPr lang="en-GB" sz="1800" b="0" i="1">
                              <a:latin typeface="Cambria Math"/>
                              <a:ea typeface="Times New Roman"/>
                              <a:cs typeface="Helvetica"/>
                            </a:rPr>
                            <m:t>𝑝</m:t>
                          </m:r>
                          <m:r>
                            <m:rPr/>
                            <a:rPr lang="en-GB" sz="1800" b="0" i="1">
                              <a:latin typeface="Cambria Math"/>
                              <a:ea typeface="Times New Roman"/>
                              <a:cs typeface="Helvetica"/>
                            </a:rPr>
                            <m:t>,</m:t>
                          </m:r>
                          <m:r>
                            <m:rPr/>
                            <a:rPr lang="en-GB" sz="1800" b="0" i="1">
                              <a:latin typeface="Cambria Math"/>
                              <a:ea typeface="Times New Roman"/>
                              <a:cs typeface="Helvetica"/>
                            </a:rPr>
                            <m:t>𝑐</m:t>
                          </m:r>
                        </m:sub>
                      </m:sSub>
                      <m:r>
                        <m:rPr/>
                        <a:rPr lang="en-GB" sz="1800" b="0" i="1">
                          <a:latin typeface="Cambria Math"/>
                          <a:ea typeface="Times New Roman"/>
                          <a:cs typeface="Helvetica"/>
                        </a:rPr>
                        <m:t>𝑑</m:t>
                      </m:r>
                      <m:sSub>
                        <m:sSubPr>
                          <m:ctrlPr>
                            <a:rPr lang="en-GB" sz="1800" b="0" i="1">
                              <a:latin typeface="Cambria Math"/>
                              <a:ea typeface="Times New Roman"/>
                              <a:cs typeface="Helvetica"/>
                            </a:rPr>
                          </m:ctrlPr>
                        </m:sSubPr>
                        <m:e>
                          <m:r>
                            <m:rPr/>
                            <a:rPr lang="en-GB" sz="1800" b="0" i="1">
                              <a:latin typeface="Cambria Math"/>
                              <a:ea typeface="Times New Roman"/>
                              <a:cs typeface="Helvetica"/>
                            </a:rPr>
                            <m:t>𝑇</m:t>
                          </m:r>
                        </m:e>
                        <m:sub>
                          <m:r>
                            <m:rPr/>
                            <a:rPr lang="en-GB" sz="1800" b="0" i="1">
                              <a:latin typeface="Cambria Math"/>
                              <a:ea typeface="Times New Roman"/>
                              <a:cs typeface="Helvetica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 lang="en-GB" sz="1800" b="0" i="1">
              <a:latin typeface="Cambria Math"/>
              <a:ea typeface="Times New Roman"/>
              <a:cs typeface="Helvetica"/>
            </a:endParaRPr>
          </a:p>
        </p:txBody>
      </p:sp>
      <p:cxnSp>
        <p:nvCxnSpPr>
          <p:cNvPr id="1460136131" name="Straight Arrow Connector 12"/>
          <p:cNvCxnSpPr/>
          <p:nvPr/>
        </p:nvCxnSpPr>
        <p:spPr bwMode="auto">
          <a:xfrm flipV="1">
            <a:off x="3086100" y="2685415"/>
            <a:ext cx="929005" cy="58420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headEnd type="none"/>
            <a:tailEnd type="triangle" w="med" len="med"/>
          </a:ln>
          <a:effectLst/>
        </p:spPr>
      </p:cxnSp>
      <p:cxnSp>
        <p:nvCxnSpPr>
          <p:cNvPr id="1626832287" name="Straight Arrow Connector 15"/>
          <p:cNvCxnSpPr/>
          <p:nvPr/>
        </p:nvCxnSpPr>
        <p:spPr bwMode="auto">
          <a:xfrm>
            <a:off x="2943225" y="3727450"/>
            <a:ext cx="1071880" cy="30607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headEnd type="none"/>
            <a:tailEnd type="triangle" w="med" len="med"/>
          </a:ln>
          <a:effectLst/>
        </p:spPr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5182842" name="Date Placeholder 3"/>
          <p:cNvSpPr>
            <a:spLocks noChangeArrowheads="1"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4516F27-616A-0842-3F26-4318C6477134}" type="datetime1">
              <a:rPr cap="none"/>
              <a:t/>
            </a:fld>
            <a:endParaRPr cap="none"/>
          </a:p>
        </p:txBody>
      </p:sp>
      <p:sp>
        <p:nvSpPr>
          <p:cNvPr id="1976844239" name="Slide Number Placeholder 5"/>
          <p:cNvSpPr>
            <a:spLocks noChangeArrowheads="1"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C6FA45B-A395-C360-5B8F-8C1A35FD5F56}" type="slidenum">
              <a:rPr cap="none"/>
              <a:t/>
            </a:fld>
            <a:endParaRPr cap="none"/>
          </a:p>
        </p:txBody>
      </p:sp>
      <p:pic>
        <p:nvPicPr>
          <p:cNvPr id="54697308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3469" y="396494"/>
            <a:ext cx="4793321" cy="6274096"/>
          </a:xfrm>
          <a:prstGeom prst="rect">
            <a:avLst/>
          </a:prstGeom>
        </p:spPr>
      </p:pic>
      <p:pic>
        <p:nvPicPr>
          <p:cNvPr id="205521886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286303" y="264816"/>
            <a:ext cx="4755941" cy="6225168"/>
          </a:xfrm>
          <a:prstGeom prst="rect">
            <a:avLst/>
          </a:prstGeom>
        </p:spPr>
      </p:pic>
      <p:sp>
        <p:nvSpPr>
          <p:cNvPr id="726245361" name=""/>
          <p:cNvSpPr txBox="1"/>
          <p:nvPr/>
        </p:nvSpPr>
        <p:spPr bwMode="auto">
          <a:xfrm flipH="0" flipV="0">
            <a:off x="8626795" y="1291047"/>
            <a:ext cx="2721968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Derivation from JP Holman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4906440" name="Title 3"/>
          <p:cNvSpPr>
            <a:spLocks noChangeArrowheads="1" noGrp="1"/>
          </p:cNvSpPr>
          <p:nvPr>
            <p:ph type="ctrTitle"/>
          </p:nvPr>
        </p:nvSpPr>
        <p:spPr bwMode="auto">
          <a:xfrm>
            <a:off x="0" y="360045"/>
            <a:ext cx="12192000" cy="7080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t">
            <a:prstTxWarp prst="textNoShape"/>
          </a:bodyPr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sz="4000" cap="none">
                <a:latin typeface="Helvetica"/>
                <a:ea typeface="Verdana"/>
                <a:cs typeface="Helvetica"/>
              </a:rPr>
              <a:t>LMTD Method</a:t>
            </a:r>
            <a:endParaRPr sz="4000" cap="none">
              <a:latin typeface="Helvetica"/>
              <a:ea typeface="Verdana"/>
              <a:cs typeface="Helvetica"/>
            </a:endParaRPr>
          </a:p>
        </p:txBody>
      </p:sp>
      <p:sp>
        <p:nvSpPr>
          <p:cNvPr id="736725264" name="Slide Number Placeholder 17"/>
          <p:cNvSpPr>
            <a:spLocks noChangeArrowheads="1" noGrp="1"/>
          </p:cNvSpPr>
          <p:nvPr>
            <p:ph type="sldNum" sz="quarter" idx="12"/>
          </p:nvPr>
        </p:nvSpPr>
        <p:spPr bwMode="auto">
          <a:xfrm>
            <a:off x="8999855" y="6356350"/>
            <a:ext cx="2743200" cy="365125"/>
          </a:xfrm>
        </p:spPr>
        <p:txBody>
          <a:bodyPr/>
          <a:lstStyle/>
          <a:p>
            <a:pPr>
              <a:defRPr/>
            </a:pPr>
            <a:fld id="{24B5EC0C-42C9-E01A-870D-B44FA24371E1}" type="slidenum">
              <a:rPr sz="1600" cap="none">
                <a:solidFill>
                  <a:srgbClr val="7F7F7F"/>
                </a:solidFill>
                <a:latin typeface="Helvetica"/>
                <a:ea typeface="Calibri"/>
                <a:cs typeface="Helvetica"/>
              </a:rPr>
              <a:t>5</a:t>
            </a:fld>
            <a:endParaRPr sz="1600" cap="none">
              <a:solidFill>
                <a:srgbClr val="7F7F7F"/>
              </a:solidFill>
              <a:latin typeface="Helvetica"/>
              <a:ea typeface="Calibri"/>
              <a:cs typeface="Helvetica"/>
            </a:endParaRPr>
          </a:p>
        </p:txBody>
      </p:sp>
      <p:pic>
        <p:nvPicPr>
          <p:cNvPr id="1072848754" name="Picture 8" descr="A picture containing text, clipart&#10;&#10;Description automatically generated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48945" y="360045"/>
            <a:ext cx="1967865" cy="53975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31460961" name="TextBox 2"/>
          <p:cNvSpPr/>
          <p:nvPr/>
        </p:nvSpPr>
        <p:spPr bwMode="auto">
          <a:xfrm>
            <a:off x="1056005" y="1282700"/>
            <a:ext cx="10079990" cy="4000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t"/>
          <a:lstStyle/>
          <a:p>
            <a:pPr algn="ctr">
              <a:spcAft>
                <a:spcPts val="600"/>
              </a:spcAft>
              <a:defRPr/>
            </a:pPr>
            <a:r>
              <a:rPr sz="2000" b="1" cap="none">
                <a:solidFill>
                  <a:srgbClr val="FF9900"/>
                </a:solidFill>
                <a:latin typeface="Helvetica"/>
                <a:ea typeface="Calibri"/>
                <a:cs typeface="Calibri"/>
              </a:rPr>
              <a:t>Governing equations:</a:t>
            </a:r>
            <a:endParaRPr sz="2000" b="1" cap="none">
              <a:solidFill>
                <a:srgbClr val="FF9900"/>
              </a:solidFill>
              <a:latin typeface="Helvetica"/>
              <a:ea typeface="Calibri"/>
              <a:cs typeface="Calibri"/>
            </a:endParaRPr>
          </a:p>
        </p:txBody>
      </p:sp>
      <p:sp>
        <p:nvSpPr>
          <p:cNvPr id="1511912323" name="Slide Number Placeholder 17"/>
          <p:cNvSpPr/>
          <p:nvPr/>
        </p:nvSpPr>
        <p:spPr bwMode="auto">
          <a:xfrm>
            <a:off x="448945" y="6356350"/>
            <a:ext cx="4434840" cy="365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ctr"/>
          <a:lstStyle>
            <a:lvl1pPr marL="0" algn="r" defTabSz="457200">
              <a:defRPr sz="1200" cap="none">
                <a:solidFill>
                  <a:srgbClr val="8C8C8C"/>
                </a:solidFill>
                <a:latin typeface="Calibri"/>
                <a:ea typeface="Calibri"/>
                <a:cs typeface="Calibri"/>
              </a:defRPr>
            </a:lvl1pPr>
            <a:lvl2pPr marL="4572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9144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3716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8288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2860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7432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2004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6576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/>
            </a:pPr>
            <a:r>
              <a:rPr sz="1600" cap="none">
                <a:solidFill>
                  <a:srgbClr val="7F7F7F"/>
                </a:solidFill>
                <a:latin typeface="Helvetica"/>
                <a:ea typeface="Calibri"/>
                <a:cs typeface="Helvetica"/>
              </a:rPr>
              <a:t>EX3030/EM40JN</a:t>
            </a:r>
            <a:endParaRPr sz="1600" cap="none">
              <a:solidFill>
                <a:srgbClr val="7F7F7F"/>
              </a:solidFill>
              <a:latin typeface="Helvetica"/>
              <a:ea typeface="Calibri"/>
              <a:cs typeface="Helvetica"/>
            </a:endParaRPr>
          </a:p>
        </p:txBody>
      </p:sp>
      <p:sp>
        <p:nvSpPr>
          <p:cNvPr id="126982884" name="TextBox 4"/>
          <p:cNvSpPr/>
          <p:nvPr/>
        </p:nvSpPr>
        <p:spPr bwMode="auto">
          <a:xfrm>
            <a:off x="1056005" y="1874520"/>
            <a:ext cx="10079990" cy="42830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en-US">
                <a:latin typeface="Helvetica"/>
              </a:rPr>
              <a:t>The heat flux can be described using an ‘average’ temperature:</a:t>
            </a:r>
            <a:endParaRPr/>
          </a:p>
          <a:p>
            <a:pPr algn="ctr">
              <a:lnSpc>
                <a:spcPct val="120000"/>
              </a:lnSpc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1800" b="0" i="1">
                          <a:latin typeface="Cambria Math"/>
                          <a:ea typeface="Times New Roman"/>
                          <a:cs typeface="Helvetica"/>
                        </a:rPr>
                        <m:t>𝑄</m:t>
                      </m:r>
                      <m:r>
                        <m:rPr/>
                        <a:rPr lang="en-GB" sz="1800" b="0" i="1">
                          <a:latin typeface="Cambria Math"/>
                          <a:ea typeface="Times New Roman"/>
                          <a:cs typeface="Helvetica"/>
                        </a:rPr>
                        <m:t>=</m:t>
                      </m:r>
                      <m:r>
                        <m:rPr/>
                        <a:rPr lang="en-GB" sz="1800" b="0" i="1">
                          <a:latin typeface="Cambria Math"/>
                          <a:ea typeface="Times New Roman"/>
                          <a:cs typeface="Helvetica"/>
                        </a:rPr>
                        <m:t>𝑈𝐴</m:t>
                      </m:r>
                      <m:r>
                        <m:rPr>
                          <m:sty m:val="p"/>
                        </m:rPr>
                        <a:rPr lang="en-GB" sz="1800" b="0" i="0">
                          <a:latin typeface="Cambria Math"/>
                          <a:ea typeface="Times New Roman"/>
                          <a:cs typeface="Helvetica"/>
                        </a:rPr>
                        <m:t>Δ</m:t>
                      </m:r>
                      <m:sSub>
                        <m:sSubPr>
                          <m:ctrlPr>
                            <a:rPr lang="en-GB" sz="1800" b="0" i="1">
                              <a:latin typeface="Cambria Math"/>
                              <a:ea typeface="Times New Roman"/>
                              <a:cs typeface="Helvetica"/>
                            </a:rPr>
                          </m:ctrlPr>
                        </m:sSubPr>
                        <m:e>
                          <m:r>
                            <m:rPr/>
                            <a:rPr lang="en-GB" sz="1800" b="0" i="1">
                              <a:latin typeface="Cambria Math"/>
                              <a:ea typeface="Times New Roman"/>
                              <a:cs typeface="Helvetica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800" b="0" i="0">
                              <a:latin typeface="Cambria Math"/>
                              <a:ea typeface="Times New Roman"/>
                              <a:cs typeface="Helvetica"/>
                            </a:rPr>
                            <m:t>m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 lang="en-GB" sz="1800" b="0">
              <a:latin typeface="Helvetica"/>
              <a:ea typeface="Times New Roman"/>
              <a:cs typeface="Helvetica"/>
            </a:endParaRPr>
          </a:p>
          <a:p>
            <a:pPr algn="ctr">
              <a:lnSpc>
                <a:spcPct val="120000"/>
              </a:lnSpc>
              <a:defRPr/>
            </a:pPr>
            <a:r>
              <a:rPr lang="en-GB" sz="1800">
                <a:latin typeface="Helvetica"/>
                <a:ea typeface="Times New Roman"/>
                <a:cs typeface="Helvetica"/>
              </a:rPr>
              <a:t>where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GB" sz="1800" b="0" i="0">
                          <a:latin typeface="Cambria Math"/>
                          <a:ea typeface="Times New Roman"/>
                          <a:cs typeface="Helvetica"/>
                        </a:rPr>
                        <m:t>Δ</m:t>
                      </m:r>
                      <m:sSub>
                        <m:sSubPr>
                          <m:ctrlPr>
                            <a:rPr lang="en-GB" sz="1800" b="0" i="1">
                              <a:latin typeface="Cambria Math"/>
                              <a:ea typeface="Times New Roman"/>
                              <a:cs typeface="Helvetica"/>
                            </a:rPr>
                          </m:ctrlPr>
                        </m:sSubPr>
                        <m:e>
                          <m:r>
                            <m:rPr/>
                            <a:rPr lang="en-GB" sz="1800" b="0" i="1">
                              <a:latin typeface="Cambria Math"/>
                              <a:ea typeface="Times New Roman"/>
                              <a:cs typeface="Helvetica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800" b="0" i="0">
                              <a:latin typeface="Cambria Math"/>
                              <a:ea typeface="Times New Roman"/>
                              <a:cs typeface="Helvetica"/>
                            </a:rPr>
                            <m:t>m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en-GB" sz="1800">
                <a:latin typeface="Helvetica"/>
                <a:ea typeface="Times New Roman"/>
                <a:cs typeface="Helvetica"/>
              </a:rPr>
              <a:t> is the log mean temperature difference:</a:t>
            </a:r>
            <a:endParaRPr/>
          </a:p>
          <a:p>
            <a:pPr algn="ctr">
              <a:lnSpc>
                <a:spcPct val="120000"/>
              </a:lnSpc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borderBox>
                        <m:borderBoxPr>
                          <m:ctrlPr>
                            <a:rPr lang="en-GB" sz="1800" b="1" i="1">
                              <a:latin typeface="Cambria Math"/>
                              <a:ea typeface="Cambria Math"/>
                              <a:cs typeface="Helvetica"/>
                            </a:rPr>
                          </m:ctrlPr>
                        </m:borderBoxPr>
                        <m:e>
                          <m:r>
                            <m:rPr/>
                            <a:rPr lang="en-GB" b="1">
                              <a:latin typeface="Cambria Math"/>
                              <a:ea typeface="Times New Roman"/>
                              <a:cs typeface="Helvetica"/>
                            </a:rPr>
                            <m:t>𝚫</m:t>
                          </m:r>
                          <m:sSub>
                            <m:sSubPr>
                              <m:ctrlPr>
                                <a:rPr lang="en-GB" b="1" i="1">
                                  <a:latin typeface="Cambria Math"/>
                                  <a:ea typeface="Times New Roman"/>
                                  <a:cs typeface="Helvetica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GB" b="1" i="1">
                                  <a:latin typeface="Cambria Math"/>
                                  <a:ea typeface="Times New Roman"/>
                                  <a:cs typeface="Helvetica"/>
                                </a:rPr>
                                <m:t>𝑻</m:t>
                              </m:r>
                            </m:e>
                            <m:sub>
                              <m:r>
                                <m:rPr/>
                                <a:rPr lang="en-GB" b="1" i="1">
                                  <a:latin typeface="Cambria Math"/>
                                  <a:ea typeface="Times New Roman"/>
                                  <a:cs typeface="Helvetica"/>
                                </a:rPr>
                                <m:t>𝒎</m:t>
                              </m:r>
                            </m:sub>
                          </m:sSub>
                          <m:r>
                            <m:rPr/>
                            <a:rPr lang="en-GB" b="1" i="1">
                              <a:latin typeface="Cambria Math"/>
                              <a:ea typeface="Times New Roman"/>
                              <a:cs typeface="Helvetica"/>
                            </a:rPr>
                            <m:t>=</m:t>
                          </m:r>
                          <m:f>
                            <m:fPr>
                              <m:ctrlPr>
                                <a:rPr lang="en-GB" b="1" i="1">
                                  <a:latin typeface="Cambria Math"/>
                                  <a:ea typeface="Cambria Math"/>
                                  <a:cs typeface="Helvetica"/>
                                </a:rPr>
                              </m:ctrlPr>
                            </m:fPr>
                            <m:num>
                              <m:r>
                                <m:rPr/>
                                <a:rPr lang="en-GB" b="1">
                                  <a:latin typeface="Cambria Math"/>
                                  <a:cs typeface="Helvetica"/>
                                </a:rPr>
                                <m:t>𝚫</m:t>
                              </m:r>
                              <m:sSub>
                                <m:sSubPr>
                                  <m:ctrlPr>
                                    <a:rPr lang="en-GB" b="1" i="1">
                                      <a:latin typeface="Cambria Math"/>
                                      <a:ea typeface="Cambria Math"/>
                                      <a:cs typeface="Helvetica"/>
                                    </a:rPr>
                                  </m:ctrlPr>
                                </m:sSubPr>
                                <m:e>
                                  <m:r>
                                    <m:rPr/>
                                    <a:rPr lang="en-GB" b="1" i="1">
                                      <a:latin typeface="Cambria Math"/>
                                      <a:cs typeface="Helvetica"/>
                                    </a:rPr>
                                    <m:t>𝑻</m:t>
                                  </m:r>
                                </m:e>
                                <m:sub>
                                  <m:r>
                                    <m:rPr/>
                                    <a:rPr lang="en-GB" b="1" i="1">
                                      <a:latin typeface="Cambria Math"/>
                                      <a:cs typeface="Helvetica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m:rPr/>
                                <a:rPr lang="en-GB" b="1" i="1">
                                  <a:latin typeface="Cambria Math"/>
                                  <a:cs typeface="Helvetica"/>
                                </a:rPr>
                                <m:t>−</m:t>
                              </m:r>
                              <m:r>
                                <m:rPr/>
                                <a:rPr lang="en-GB" b="1">
                                  <a:latin typeface="Cambria Math"/>
                                  <a:cs typeface="Helvetica"/>
                                </a:rPr>
                                <m:t>𝚫</m:t>
                              </m:r>
                              <m:sSub>
                                <m:sSubPr>
                                  <m:ctrlPr>
                                    <a:rPr lang="en-GB" b="1" i="1">
                                      <a:latin typeface="Cambria Math"/>
                                      <a:ea typeface="Cambria Math"/>
                                      <a:cs typeface="Helvetica"/>
                                    </a:rPr>
                                  </m:ctrlPr>
                                </m:sSubPr>
                                <m:e>
                                  <m:r>
                                    <m:rPr/>
                                    <a:rPr lang="en-GB" b="1" i="1">
                                      <a:latin typeface="Cambria Math"/>
                                      <a:cs typeface="Helvetica"/>
                                    </a:rPr>
                                    <m:t>𝑻</m:t>
                                  </m:r>
                                </m:e>
                                <m:sub>
                                  <m:r>
                                    <m:rPr/>
                                    <a:rPr lang="en-GB" b="1" i="1">
                                      <a:latin typeface="Cambria Math"/>
                                      <a:cs typeface="Helvetica"/>
                                    </a:rPr>
                                    <m:t>𝟐</m:t>
                                  </m:r>
                                </m:sub>
                              </m:sSub>
                            </m:num>
                            <m:den>
                              <m:func>
                                <m:funcPr>
                                  <m:ctrlPr>
                                    <a:rPr lang="en-GB" b="1" i="1">
                                      <a:latin typeface="Cambria Math"/>
                                      <a:ea typeface="Cambria Math"/>
                                      <a:cs typeface="Helvetica"/>
                                    </a:rPr>
                                  </m:ctrlPr>
                                </m:funcPr>
                                <m:fName>
                                  <m:r>
                                    <m:rPr/>
                                    <a:rPr lang="en-GB" b="1">
                                      <a:latin typeface="Cambria Math"/>
                                      <a:cs typeface="Helvetica"/>
                                    </a:rPr>
                                    <m:t>𝐥𝐧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GB" b="1" i="1">
                                          <a:latin typeface="Cambria Math"/>
                                          <a:ea typeface="Cambria Math"/>
                                          <a:cs typeface="Helvetica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/>
                                        <a:rPr lang="en-GB" b="1">
                                          <a:latin typeface="Cambria Math"/>
                                          <a:cs typeface="Helvetica"/>
                                        </a:rPr>
                                        <m:t>𝚫</m:t>
                                      </m:r>
                                      <m:sSub>
                                        <m:sSubPr>
                                          <m:ctrlPr>
                                            <a:rPr lang="en-GB" b="1" i="1">
                                              <a:latin typeface="Cambria Math"/>
                                              <a:ea typeface="Cambria Math"/>
                                              <a:cs typeface="Helvetica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/>
                                            <a:rPr lang="en-GB" b="1" i="1">
                                              <a:latin typeface="Cambria Math"/>
                                              <a:cs typeface="Helvetica"/>
                                            </a:rPr>
                                            <m:t>𝑻</m:t>
                                          </m:r>
                                        </m:e>
                                        <m:sub>
                                          <m:r>
                                            <m:rPr/>
                                            <a:rPr lang="en-GB" b="1" i="1">
                                              <a:latin typeface="Cambria Math"/>
                                              <a:cs typeface="Helvetica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  <m:r>
                                        <m:rPr/>
                                        <a:rPr lang="en-GB" b="1" i="1">
                                          <a:latin typeface="Cambria Math"/>
                                          <a:cs typeface="Helvetica"/>
                                        </a:rPr>
                                        <m:t>/</m:t>
                                      </m:r>
                                      <m:r>
                                        <m:rPr/>
                                        <a:rPr lang="en-GB" b="1">
                                          <a:latin typeface="Cambria Math"/>
                                          <a:cs typeface="Helvetica"/>
                                        </a:rPr>
                                        <m:t>𝚫</m:t>
                                      </m:r>
                                      <m:sSub>
                                        <m:sSubPr>
                                          <m:ctrlPr>
                                            <a:rPr lang="en-GB" b="1" i="1">
                                              <a:latin typeface="Cambria Math"/>
                                              <a:ea typeface="Cambria Math"/>
                                              <a:cs typeface="Helvetica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/>
                                            <a:rPr lang="en-GB" b="1" i="1">
                                              <a:latin typeface="Cambria Math"/>
                                              <a:cs typeface="Helvetica"/>
                                            </a:rPr>
                                            <m:t>𝑻</m:t>
                                          </m:r>
                                        </m:e>
                                        <m:sub>
                                          <m:r>
                                            <m:rPr/>
                                            <a:rPr lang="en-GB" b="1" i="1">
                                              <a:latin typeface="Cambria Math"/>
                                              <a:cs typeface="Helvetica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den>
                          </m:f>
                          <m:r>
                            <m:rPr>
                              <m:nor m:val="on"/>
                            </m:rPr>
                            <a:rPr lang="en-GB" b="1">
                              <a:latin typeface="Helvetica"/>
                              <a:ea typeface="Times New Roman"/>
                              <a:cs typeface="Helvetica"/>
                            </a:rPr>
                            <m:t> </m:t>
                          </m:r>
                        </m:e>
                      </m:borderBox>
                    </m:oMath>
                  </m:oMathPara>
                </a14:m>
              </mc:Choice>
              <mc:Fallback/>
            </mc:AlternateContent>
            <a:endParaRPr lang="en-GB">
              <a:latin typeface="Helvetica"/>
              <a:ea typeface="Times New Roman"/>
              <a:cs typeface="Helvetica"/>
            </a:endParaRPr>
          </a:p>
          <a:p>
            <a:pPr algn="ctr">
              <a:lnSpc>
                <a:spcPct val="120000"/>
              </a:lnSpc>
              <a:defRPr/>
            </a:pPr>
            <a:endParaRPr lang="en-GB">
              <a:latin typeface="Helvetica"/>
              <a:ea typeface="Times New Roman"/>
              <a:cs typeface="Helvetica"/>
            </a:endParaRPr>
          </a:p>
          <a:p>
            <a:pPr algn="ctr">
              <a:lnSpc>
                <a:spcPct val="120000"/>
              </a:lnSpc>
              <a:defRPr/>
            </a:pPr>
            <a:endParaRPr lang="en-GB">
              <a:latin typeface="Helvetica"/>
              <a:ea typeface="Times New Roman"/>
              <a:cs typeface="Helvetica"/>
            </a:endParaRPr>
          </a:p>
          <a:p>
            <a:pPr algn="ctr">
              <a:lnSpc>
                <a:spcPct val="120000"/>
              </a:lnSpc>
              <a:defRPr/>
            </a:pPr>
            <a:r>
              <a:rPr lang="en-GB" sz="1800" b="1">
                <a:latin typeface="Helvetica"/>
                <a:ea typeface="Times New Roman"/>
                <a:cs typeface="Helvetica"/>
              </a:rPr>
              <a:t>Note</a:t>
            </a:r>
            <a:r>
              <a:rPr lang="en-GB" sz="1800">
                <a:latin typeface="Helvetica"/>
                <a:ea typeface="Times New Roman"/>
                <a:cs typeface="Helvetica"/>
              </a:rPr>
              <a:t>:</a:t>
            </a:r>
            <a:endParaRPr/>
          </a:p>
          <a:p>
            <a:pPr algn="ctr">
              <a:lnSpc>
                <a:spcPct val="120000"/>
              </a:lnSpc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>
                          <m:sty m:val="p"/>
                        </m:rPr>
                        <a:rPr lang="en-GB" sz="1800" b="0" i="0">
                          <a:latin typeface="Cambria Math"/>
                          <a:ea typeface="Times New Roman"/>
                          <a:cs typeface="Helvetica"/>
                        </a:rPr>
                        <m:t>Δ</m:t>
                      </m:r>
                      <m:sSub>
                        <m:sSubPr>
                          <m:ctrlPr>
                            <a:rPr lang="en-GB" sz="1800" b="0" i="1">
                              <a:latin typeface="Cambria Math"/>
                              <a:ea typeface="Times New Roman"/>
                              <a:cs typeface="Helvetica"/>
                            </a:rPr>
                          </m:ctrlPr>
                        </m:sSubPr>
                        <m:e>
                          <m:r>
                            <m:rPr/>
                            <a:rPr lang="en-GB" sz="1800" b="0" i="1">
                              <a:latin typeface="Cambria Math"/>
                              <a:ea typeface="Times New Roman"/>
                              <a:cs typeface="Helvetica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800" b="0" i="0">
                              <a:latin typeface="Cambria Math"/>
                              <a:ea typeface="Times New Roman"/>
                              <a:cs typeface="Helvetica"/>
                            </a:rPr>
                            <m:t>avg</m:t>
                          </m:r>
                        </m:sub>
                      </m:sSub>
                      <m:r>
                        <m:rPr/>
                        <a:rPr lang="en-GB" sz="1800" b="0" i="1">
                          <a:latin typeface="Cambria Math"/>
                          <a:ea typeface="Times New Roman"/>
                          <a:cs typeface="Helvetica"/>
                        </a:rPr>
                        <m:t>=</m:t>
                      </m:r>
                      <m:f>
                        <m:fPr>
                          <m:ctrlPr>
                            <a:rPr lang="en-GB" sz="1800" b="0" i="1">
                              <a:latin typeface="Cambria Math"/>
                              <a:ea typeface="Times New Roman"/>
                              <a:cs typeface="Helvetica"/>
                            </a:rPr>
                          </m:ctrlPr>
                        </m:fPr>
                        <m:num>
                          <m:r>
                            <m:rPr/>
                            <a:rPr lang="en-GB" sz="1800" b="0" i="1">
                              <a:latin typeface="Cambria Math"/>
                              <a:ea typeface="Times New Roman"/>
                              <a:cs typeface="Helvetica"/>
                            </a:rPr>
                            <m:t>1</m:t>
                          </m:r>
                        </m:num>
                        <m:den>
                          <m:r>
                            <m:rPr/>
                            <a:rPr lang="en-GB" sz="1800" b="0" i="1">
                              <a:latin typeface="Cambria Math"/>
                              <a:ea typeface="Times New Roman"/>
                              <a:cs typeface="Helvetica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GB" sz="1800" b="0" i="1">
                              <a:latin typeface="Cambria Math"/>
                              <a:ea typeface="Times New Roman"/>
                              <a:cs typeface="Helvetica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GB" sz="1800" b="0" i="0">
                              <a:latin typeface="Cambria Math"/>
                              <a:ea typeface="Times New Roman"/>
                              <a:cs typeface="Helvetica"/>
                            </a:rPr>
                            <m:t>Δ</m:t>
                          </m:r>
                          <m:sSub>
                            <m:sSubPr>
                              <m:ctrlPr>
                                <a:rPr lang="en-GB" sz="1800" b="0" i="1">
                                  <a:latin typeface="Cambria Math"/>
                                  <a:ea typeface="Times New Roman"/>
                                  <a:cs typeface="Helvetica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GB" sz="1800" b="0" i="1">
                                  <a:latin typeface="Cambria Math"/>
                                  <a:ea typeface="Times New Roman"/>
                                  <a:cs typeface="Helvetica"/>
                                </a:rPr>
                                <m:t>𝑇</m:t>
                              </m:r>
                            </m:e>
                            <m:sub>
                              <m:r>
                                <m:rPr/>
                                <a:rPr lang="en-GB" sz="1800" b="0" i="1">
                                  <a:latin typeface="Cambria Math"/>
                                  <a:ea typeface="Times New Roman"/>
                                  <a:cs typeface="Helvetica"/>
                                </a:rPr>
                                <m:t>1</m:t>
                              </m:r>
                            </m:sub>
                          </m:sSub>
                          <m:r>
                            <m:rPr/>
                            <a:rPr lang="en-GB" sz="1800" b="0" i="1">
                              <a:latin typeface="Cambria Math"/>
                              <a:ea typeface="Times New Roman"/>
                              <a:cs typeface="Helvetica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GB" sz="1800" b="0" i="0">
                              <a:latin typeface="Cambria Math"/>
                              <a:ea typeface="Times New Roman"/>
                              <a:cs typeface="Helvetica"/>
                            </a:rPr>
                            <m:t>Δ</m:t>
                          </m:r>
                          <m:sSub>
                            <m:sSubPr>
                              <m:ctrlPr>
                                <a:rPr lang="en-GB" sz="1800" b="0" i="1">
                                  <a:latin typeface="Cambria Math"/>
                                  <a:ea typeface="Times New Roman"/>
                                  <a:cs typeface="Helvetica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GB" sz="1800" b="0" i="1">
                                  <a:latin typeface="Cambria Math"/>
                                  <a:ea typeface="Times New Roman"/>
                                  <a:cs typeface="Helvetica"/>
                                </a:rPr>
                                <m:t>𝑇</m:t>
                              </m:r>
                            </m:e>
                            <m:sub>
                              <m:r>
                                <m:rPr/>
                                <a:rPr lang="en-GB" sz="1800" b="0" i="1">
                                  <a:latin typeface="Cambria Math"/>
                                  <a:ea typeface="Times New Roman"/>
                                  <a:cs typeface="Helvetica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m:rPr/>
                        <a:rPr lang="en-GB" sz="1800" b="0" i="1">
                          <a:latin typeface="Cambria Math"/>
                          <a:ea typeface="Times New Roman"/>
                          <a:cs typeface="Helvetica"/>
                        </a:rPr>
                        <m:t>&gt;</m:t>
                      </m:r>
                      <m:r>
                        <m:rPr>
                          <m:sty m:val="p"/>
                        </m:rPr>
                        <a:rPr lang="en-GB">
                          <a:latin typeface="Cambria Math"/>
                          <a:ea typeface="Times New Roman"/>
                          <a:cs typeface="Helvetica"/>
                        </a:rPr>
                        <m:t>Δ</m:t>
                      </m:r>
                      <m:sSub>
                        <m:sSubPr>
                          <m:ctrlPr>
                            <a:rPr lang="en-GB" b="0" i="1">
                              <a:latin typeface="Cambria Math"/>
                              <a:ea typeface="Times New Roman"/>
                              <a:cs typeface="Helvetica"/>
                            </a:rPr>
                          </m:ctrlPr>
                        </m:sSubPr>
                        <m:e>
                          <m:r>
                            <m:rPr/>
                            <a:rPr lang="en-GB" b="0" i="1">
                              <a:latin typeface="Cambria Math"/>
                              <a:ea typeface="Times New Roman"/>
                              <a:cs typeface="Helvetica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b="0" i="0">
                              <a:latin typeface="Cambria Math"/>
                              <a:ea typeface="Times New Roman"/>
                              <a:cs typeface="Helvetica"/>
                            </a:rPr>
                            <m:t>m</m:t>
                          </m:r>
                          <m:r>
                            <m:rPr/>
                            <a:rPr lang="en-GB" b="0" i="1">
                              <a:latin typeface="Cambria Math"/>
                              <a:ea typeface="Times New Roman"/>
                              <a:cs typeface="Helvetica"/>
                            </a:rPr>
                            <m:t>,</m:t>
                          </m:r>
                          <m:r>
                            <m:rPr/>
                            <a:rPr lang="en-GB" b="0" i="1">
                              <a:latin typeface="Cambria Math"/>
                              <a:ea typeface="Times New Roman"/>
                              <a:cs typeface="Helvetica"/>
                            </a:rPr>
                            <m:t>𝑃𝐹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 lang="en-GB" sz="1800" i="1">
              <a:latin typeface="Helvetica"/>
              <a:ea typeface="Times New Roman"/>
              <a:cs typeface="Helvetica"/>
            </a:endParaRPr>
          </a:p>
          <a:p>
            <a:pPr algn="ctr">
              <a:lnSpc>
                <a:spcPct val="130000"/>
              </a:lnSpc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>
                          <m:sty m:val="p"/>
                        </m:rPr>
                        <a:rPr lang="en-GB" sz="1800" b="0" i="0">
                          <a:latin typeface="Cambria Math"/>
                          <a:ea typeface="Times New Roman"/>
                          <a:cs typeface="Helvetica"/>
                        </a:rPr>
                        <m:t>Δ</m:t>
                      </m:r>
                      <m:sSub>
                        <m:sSubPr>
                          <m:ctrlPr>
                            <a:rPr lang="en-GB" sz="1800" b="0" i="1">
                              <a:latin typeface="Cambria Math"/>
                              <a:ea typeface="Times New Roman"/>
                              <a:cs typeface="Helvetica"/>
                            </a:rPr>
                          </m:ctrlPr>
                        </m:sSubPr>
                        <m:e>
                          <m:r>
                            <m:rPr/>
                            <a:rPr lang="en-GB" sz="1800" b="0" i="1">
                              <a:latin typeface="Cambria Math"/>
                              <a:ea typeface="Times New Roman"/>
                              <a:cs typeface="Helvetica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800" b="0" i="0">
                              <a:latin typeface="Cambria Math"/>
                              <a:ea typeface="Times New Roman"/>
                              <a:cs typeface="Helvetica"/>
                            </a:rPr>
                            <m:t>m</m:t>
                          </m:r>
                          <m:r>
                            <m:rPr/>
                            <a:rPr lang="en-GB" sz="1800" b="0" i="0">
                              <a:latin typeface="Cambria Math"/>
                              <a:ea typeface="Times New Roman"/>
                              <a:cs typeface="Helvetica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GB" sz="1800" b="0" i="0">
                              <a:latin typeface="Cambria Math"/>
                              <a:ea typeface="Times New Roman"/>
                              <a:cs typeface="Helvetica"/>
                            </a:rPr>
                            <m:t>CF</m:t>
                          </m:r>
                        </m:sub>
                      </m:sSub>
                      <m:r>
                        <m:rPr/>
                        <a:rPr lang="en-GB" sz="1800" b="0" i="1">
                          <a:latin typeface="Cambria Math"/>
                          <a:ea typeface="Times New Roman"/>
                          <a:cs typeface="Helvetica"/>
                        </a:rPr>
                        <m:t>&gt;</m:t>
                      </m:r>
                      <m:r>
                        <m:rPr>
                          <m:sty m:val="p"/>
                        </m:rPr>
                        <a:rPr lang="en-GB" sz="1800" b="0" i="0">
                          <a:latin typeface="Cambria Math"/>
                          <a:ea typeface="Times New Roman"/>
                          <a:cs typeface="Helvetica"/>
                        </a:rPr>
                        <m:t>Δ</m:t>
                      </m:r>
                      <m:sSub>
                        <m:sSubPr>
                          <m:ctrlPr>
                            <a:rPr lang="en-GB" sz="1800" b="0" i="1">
                              <a:latin typeface="Cambria Math"/>
                              <a:ea typeface="Times New Roman"/>
                              <a:cs typeface="Helvetica"/>
                            </a:rPr>
                          </m:ctrlPr>
                        </m:sSubPr>
                        <m:e>
                          <m:r>
                            <m:rPr/>
                            <a:rPr lang="en-GB" sz="1800" b="0" i="1">
                              <a:latin typeface="Cambria Math"/>
                              <a:ea typeface="Times New Roman"/>
                              <a:cs typeface="Helvetica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800" b="0" i="0">
                              <a:latin typeface="Cambria Math"/>
                              <a:ea typeface="Times New Roman"/>
                              <a:cs typeface="Helvetica"/>
                            </a:rPr>
                            <m:t>m</m:t>
                          </m:r>
                          <m:r>
                            <m:rPr/>
                            <a:rPr lang="en-GB" sz="1800" b="0" i="0">
                              <a:latin typeface="Cambria Math"/>
                              <a:ea typeface="Times New Roman"/>
                              <a:cs typeface="Helvetica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GB" sz="1800" b="0" i="0">
                              <a:latin typeface="Cambria Math"/>
                              <a:ea typeface="Times New Roman"/>
                              <a:cs typeface="Helvetica"/>
                            </a:rPr>
                            <m:t>PF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 lang="en-GB" sz="1800" i="1">
              <a:latin typeface="Helvetica"/>
              <a:ea typeface="Times New Roman"/>
              <a:cs typeface="Helvetica"/>
            </a:endParaRPr>
          </a:p>
          <a:p>
            <a:pPr algn="ctr">
              <a:lnSpc>
                <a:spcPct val="130000"/>
              </a:lnSpc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GB" sz="1800" b="0" i="0">
                          <a:latin typeface="Cambria Math"/>
                          <a:ea typeface="Times New Roman"/>
                          <a:cs typeface="Helvetica"/>
                        </a:rPr>
                        <m:t>Δ</m:t>
                      </m:r>
                      <m:sSub>
                        <m:sSubPr>
                          <m:ctrlPr>
                            <a:rPr lang="en-GB" sz="1800" b="0" i="1">
                              <a:latin typeface="Cambria Math"/>
                              <a:ea typeface="Times New Roman"/>
                              <a:cs typeface="Helvetica"/>
                            </a:rPr>
                          </m:ctrlPr>
                        </m:sSubPr>
                        <m:e>
                          <m:r>
                            <m:rPr/>
                            <a:rPr lang="en-GB" sz="1800" b="0" i="1">
                              <a:latin typeface="Cambria Math"/>
                              <a:ea typeface="Times New Roman"/>
                              <a:cs typeface="Helvetica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800" b="0" i="0">
                              <a:latin typeface="Cambria Math"/>
                              <a:ea typeface="Times New Roman"/>
                              <a:cs typeface="Helvetica"/>
                            </a:rPr>
                            <m:t>m</m:t>
                          </m:r>
                          <m:r>
                            <m:rPr/>
                            <a:rPr lang="en-GB" sz="1800" b="0" i="0">
                              <a:latin typeface="Cambria Math"/>
                              <a:ea typeface="Times New Roman"/>
                              <a:cs typeface="Helvetica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GB" sz="1800" b="0" i="0">
                              <a:latin typeface="Cambria Math"/>
                              <a:ea typeface="Times New Roman"/>
                              <a:cs typeface="Helvetica"/>
                            </a:rPr>
                            <m:t>CF</m:t>
                          </m:r>
                        </m:sub>
                      </m:sSub>
                      <m:r>
                        <m:rPr/>
                        <a:rPr lang="en-GB" sz="1800" b="0" i="1">
                          <a:latin typeface="Cambria Math"/>
                          <a:ea typeface="Times New Roman"/>
                          <a:cs typeface="Helvetica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sz="1800" b="0" i="0">
                          <a:latin typeface="Cambria Math"/>
                          <a:ea typeface="Times New Roman"/>
                          <a:cs typeface="Helvetica"/>
                        </a:rPr>
                        <m:t>Δ</m:t>
                      </m:r>
                      <m:sSub>
                        <m:sSubPr>
                          <m:ctrlPr>
                            <a:rPr lang="en-GB" sz="1800" b="0" i="1">
                              <a:latin typeface="Cambria Math"/>
                              <a:ea typeface="Times New Roman"/>
                              <a:cs typeface="Helvetica"/>
                            </a:rPr>
                          </m:ctrlPr>
                        </m:sSubPr>
                        <m:e>
                          <m:r>
                            <m:rPr/>
                            <a:rPr lang="en-GB" sz="1800" b="0" i="1">
                              <a:latin typeface="Cambria Math"/>
                              <a:ea typeface="Times New Roman"/>
                              <a:cs typeface="Helvetica"/>
                            </a:rPr>
                            <m:t>𝑇</m:t>
                          </m:r>
                        </m:e>
                        <m:sub>
                          <m:r>
                            <m:rPr/>
                            <a:rPr lang="en-GB" sz="1800" b="0" i="1">
                              <a:latin typeface="Cambria Math"/>
                              <a:ea typeface="Times New Roman"/>
                              <a:cs typeface="Helvetica"/>
                            </a:rPr>
                            <m:t>1</m:t>
                          </m:r>
                        </m:sub>
                      </m:sSub>
                      <m:r>
                        <m:rPr/>
                        <a:rPr lang="en-GB" sz="1800" b="0" i="1">
                          <a:latin typeface="Cambria Math"/>
                          <a:ea typeface="Times New Roman"/>
                          <a:cs typeface="Helvetica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sz="1800" b="0" i="0">
                          <a:latin typeface="Cambria Math"/>
                          <a:ea typeface="Times New Roman"/>
                          <a:cs typeface="Helvetica"/>
                        </a:rPr>
                        <m:t>Δ</m:t>
                      </m:r>
                      <m:sSub>
                        <m:sSubPr>
                          <m:ctrlPr>
                            <a:rPr lang="en-GB" sz="1800" b="0" i="1">
                              <a:latin typeface="Cambria Math"/>
                              <a:ea typeface="Times New Roman"/>
                              <a:cs typeface="Helvetica"/>
                            </a:rPr>
                          </m:ctrlPr>
                        </m:sSubPr>
                        <m:e>
                          <m:r>
                            <m:rPr/>
                            <a:rPr lang="en-GB" sz="1800" b="0" i="1">
                              <a:latin typeface="Cambria Math"/>
                              <a:ea typeface="Times New Roman"/>
                              <a:cs typeface="Helvetica"/>
                            </a:rPr>
                            <m:t>𝑇</m:t>
                          </m:r>
                        </m:e>
                        <m:sub>
                          <m:r>
                            <m:rPr/>
                            <a:rPr lang="en-GB" sz="1800" b="0" i="1">
                              <a:latin typeface="Cambria Math"/>
                              <a:ea typeface="Times New Roman"/>
                              <a:cs typeface="Helvetica"/>
                            </a:rPr>
                            <m:t>2</m:t>
                          </m:r>
                        </m:sub>
                      </m:sSub>
                      <m:r>
                        <m:rPr/>
                        <a:rPr lang="en-GB" sz="1800" b="0" i="1">
                          <a:latin typeface="Cambria Math"/>
                          <a:ea typeface="Times New Roman"/>
                          <a:cs typeface="Helvetica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sz="1800" b="0" i="0">
                          <a:latin typeface="Cambria Math"/>
                          <a:ea typeface="Times New Roman"/>
                          <a:cs typeface="Helvetica"/>
                        </a:rPr>
                        <m:t>Δ</m:t>
                      </m:r>
                      <m:sSub>
                        <m:sSubPr>
                          <m:ctrlPr>
                            <a:rPr lang="en-GB" sz="1800" b="0" i="1">
                              <a:latin typeface="Cambria Math"/>
                              <a:ea typeface="Times New Roman"/>
                              <a:cs typeface="Helvetica"/>
                            </a:rPr>
                          </m:ctrlPr>
                        </m:sSubPr>
                        <m:e>
                          <m:r>
                            <m:rPr/>
                            <a:rPr lang="en-GB" sz="1800" b="0" i="1">
                              <a:latin typeface="Cambria Math"/>
                              <a:ea typeface="Times New Roman"/>
                              <a:cs typeface="Helvetica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800" b="0" i="0">
                              <a:latin typeface="Cambria Math"/>
                              <a:ea typeface="Times New Roman"/>
                              <a:cs typeface="Helvetica"/>
                            </a:rPr>
                            <m:t>avg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en-GB" sz="1800">
                <a:latin typeface="Helvetica"/>
                <a:ea typeface="Times New Roman"/>
                <a:cs typeface="Helvetica"/>
              </a:rPr>
              <a:t> if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GB" sz="1800" b="0" i="0">
                          <a:latin typeface="Cambria Math"/>
                          <a:ea typeface="Times New Roman"/>
                          <a:cs typeface="Helvetica"/>
                        </a:rPr>
                        <m:t>Δ</m:t>
                      </m:r>
                      <m:r>
                        <m:rPr/>
                        <a:rPr lang="en-GB" sz="1800" b="0" i="1">
                          <a:latin typeface="Cambria Math"/>
                          <a:ea typeface="Times New Roman"/>
                          <a:cs typeface="Helvetica"/>
                        </a:rPr>
                        <m:t>𝑇</m:t>
                      </m:r>
                    </m:oMath>
                  </m:oMathPara>
                </a14:m>
              </mc:Choice>
              <mc:Fallback/>
            </mc:AlternateContent>
            <a:r>
              <a:rPr lang="en-GB" sz="1800">
                <a:latin typeface="Helvetica"/>
                <a:ea typeface="Times New Roman"/>
                <a:cs typeface="Helvetica"/>
              </a:rPr>
              <a:t> is constant (i.e.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GB" sz="1800" b="0" i="1">
                              <a:latin typeface="Cambria Math"/>
                              <a:ea typeface="Times New Roman"/>
                              <a:cs typeface="Helvetica"/>
                            </a:rPr>
                          </m:ctrlPr>
                        </m:sSubPr>
                        <m:e>
                          <m:r>
                            <m:rPr/>
                            <a:rPr lang="en-GB" sz="1800" b="0" i="1">
                              <a:latin typeface="Cambria Math"/>
                              <a:ea typeface="Times New Roman"/>
                              <a:cs typeface="Helvetica"/>
                            </a:rPr>
                            <m:t>𝐶</m:t>
                          </m:r>
                        </m:e>
                        <m:sub>
                          <m:r>
                            <m:rPr/>
                            <a:rPr lang="en-GB" sz="1800" b="0" i="1">
                              <a:latin typeface="Cambria Math"/>
                              <a:ea typeface="Times New Roman"/>
                              <a:cs typeface="Helvetica"/>
                            </a:rPr>
                            <m:t>h</m:t>
                          </m:r>
                        </m:sub>
                      </m:sSub>
                      <m:r>
                        <m:rPr/>
                        <a:rPr lang="en-GB" sz="1800" b="0" i="1">
                          <a:latin typeface="Cambria Math"/>
                          <a:ea typeface="Times New Roman"/>
                          <a:cs typeface="Helvetica"/>
                        </a:rPr>
                        <m:t>=</m:t>
                      </m:r>
                      <m:sSub>
                        <m:sSubPr>
                          <m:ctrlPr>
                            <a:rPr lang="en-GB" sz="1800" b="0" i="1">
                              <a:latin typeface="Cambria Math"/>
                              <a:ea typeface="Times New Roman"/>
                              <a:cs typeface="Helvetica"/>
                            </a:rPr>
                          </m:ctrlPr>
                        </m:sSubPr>
                        <m:e>
                          <m:r>
                            <m:rPr/>
                            <a:rPr lang="en-GB" sz="1800" b="0" i="1">
                              <a:latin typeface="Cambria Math"/>
                              <a:ea typeface="Times New Roman"/>
                              <a:cs typeface="Helvetica"/>
                            </a:rPr>
                            <m:t>𝐶</m:t>
                          </m:r>
                        </m:e>
                        <m:sub>
                          <m:r>
                            <m:rPr/>
                            <a:rPr lang="en-GB" sz="1800" b="0" i="1">
                              <a:latin typeface="Cambria Math"/>
                              <a:ea typeface="Times New Roman"/>
                              <a:cs typeface="Helvetica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en-GB" sz="1800">
                <a:latin typeface="Helvetica"/>
                <a:ea typeface="Times New Roman"/>
                <a:cs typeface="Helvetica"/>
              </a:rPr>
              <a:t> or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GB" b="0" i="1">
                              <a:latin typeface="Cambria Math"/>
                              <a:ea typeface="Cambria Math"/>
                              <a:cs typeface="Helvetica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GB" i="1">
                                  <a:latin typeface="Cambria Math"/>
                                  <a:ea typeface="Cambria Math"/>
                                  <a:cs typeface="Helvetica"/>
                                </a:rPr>
                              </m:ctrlPr>
                            </m:accPr>
                            <m:e>
                              <m:r>
                                <m:rPr/>
                                <a:rPr lang="en-GB" i="1">
                                  <a:latin typeface="Cambria Math"/>
                                  <a:cs typeface="Helvetica"/>
                                </a:rPr>
                                <m:t>𝑚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GB" b="0" i="0">
                              <a:latin typeface="Cambria Math"/>
                              <a:cs typeface="Helvetica"/>
                            </a:rPr>
                            <m:t>h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/>
                              <a:ea typeface="Cambria Math"/>
                              <a:cs typeface="Helvetica"/>
                            </a:rPr>
                          </m:ctrlPr>
                        </m:sSubPr>
                        <m:e>
                          <m:r>
                            <m:rPr/>
                            <a:rPr lang="en-GB" i="1">
                              <a:latin typeface="Cambria Math"/>
                              <a:cs typeface="Helvetica"/>
                            </a:rPr>
                            <m:t>𝐶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>
                              <a:latin typeface="Cambria Math"/>
                              <a:cs typeface="Helvetica"/>
                            </a:rPr>
                            <m:t>p</m:t>
                          </m:r>
                          <m:r>
                            <m:rPr/>
                            <a:rPr lang="en-GB" b="0" i="0">
                              <a:latin typeface="Cambria Math"/>
                              <a:cs typeface="Helvetica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GB" b="0" i="0">
                              <a:latin typeface="Cambria Math"/>
                              <a:cs typeface="Helvetica"/>
                            </a:rPr>
                            <m:t>h</m:t>
                          </m:r>
                        </m:sub>
                      </m:sSub>
                      <m:r>
                        <m:rPr/>
                        <a:rPr lang="en-GB" b="0" i="1">
                          <a:latin typeface="Cambria Math"/>
                          <a:cs typeface="Helvetica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latin typeface="Cambria Math"/>
                              <a:ea typeface="Cambria Math"/>
                              <a:cs typeface="Helvetica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GB" i="1">
                                  <a:latin typeface="Cambria Math"/>
                                  <a:ea typeface="Cambria Math"/>
                                  <a:cs typeface="Helvetica"/>
                                </a:rPr>
                              </m:ctrlPr>
                            </m:accPr>
                            <m:e>
                              <m:r>
                                <m:rPr/>
                                <a:rPr lang="en-GB" i="1">
                                  <a:latin typeface="Cambria Math"/>
                                  <a:cs typeface="Helvetica"/>
                                </a:rPr>
                                <m:t>𝑚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GB" b="0" i="0">
                              <a:latin typeface="Cambria Math"/>
                              <a:cs typeface="Helvetica"/>
                            </a:rPr>
                            <m:t>c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/>
                              <a:ea typeface="Cambria Math"/>
                              <a:cs typeface="Helvetica"/>
                            </a:rPr>
                          </m:ctrlPr>
                        </m:sSubPr>
                        <m:e>
                          <m:r>
                            <m:rPr/>
                            <a:rPr lang="en-GB" i="1">
                              <a:latin typeface="Cambria Math"/>
                              <a:cs typeface="Helvetica"/>
                            </a:rPr>
                            <m:t>𝐶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>
                              <a:latin typeface="Cambria Math"/>
                              <a:cs typeface="Helvetica"/>
                            </a:rPr>
                            <m:t>p</m:t>
                          </m:r>
                          <m:r>
                            <m:rPr/>
                            <a:rPr lang="en-GB">
                              <a:latin typeface="Cambria Math"/>
                              <a:cs typeface="Helvetica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GB" b="0" i="0">
                              <a:latin typeface="Cambria Math"/>
                              <a:cs typeface="Helvetica"/>
                            </a:rPr>
                            <m:t>c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en-GB" sz="1800">
                <a:latin typeface="Helvetica"/>
                <a:ea typeface="Times New Roman"/>
                <a:cs typeface="Helvetica"/>
              </a:rPr>
              <a:t>)</a:t>
            </a:r>
            <a:endParaRPr/>
          </a:p>
        </p:txBody>
      </p:sp>
      <p:sp>
        <p:nvSpPr>
          <p:cNvPr id="1899007618" name="TextBox 7"/>
          <p:cNvSpPr/>
          <p:nvPr/>
        </p:nvSpPr>
        <p:spPr bwMode="auto">
          <a:xfrm>
            <a:off x="2222500" y="3778885"/>
            <a:ext cx="2531110" cy="71056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d>
                        <m:dPr>
                          <m:begChr m:val="{"/>
                          <m:endChr m:val=""/>
                          <m:ctrlPr>
                            <a:rPr lang="en-GB" sz="1800" b="0" i="1">
                              <a:latin typeface="Cambria Math"/>
                              <a:ea typeface="Cambria Math"/>
                              <a:cs typeface="Helvetica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cGp/>
                              <m:cGpRule/>
                              <m:cSp/>
                              <m:mcs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</m:mcs>
                              <m:plcHide m:val="off"/>
                              <m:rSp/>
                              <m:rSpRule/>
                              <m:ctrlPr>
                                <a:rPr lang="en-GB" i="1">
                                  <a:latin typeface="Cambria Math"/>
                                  <a:ea typeface="Cambria Math"/>
                                  <a:cs typeface="Helvetica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GB">
                                    <a:latin typeface="Cambria Math"/>
                                    <a:cs typeface="Helvetica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lang="en-GB" i="1">
                                        <a:latin typeface="Cambria Math"/>
                                        <a:ea typeface="Cambria Math"/>
                                        <a:cs typeface="Helvetica"/>
                                      </a:rPr>
                                    </m:ctrlPr>
                                  </m:sSubPr>
                                  <m:e>
                                    <m:r>
                                      <m:rPr/>
                                      <a:rPr lang="en-GB" i="1">
                                        <a:latin typeface="Cambria Math"/>
                                        <a:cs typeface="Helvetica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m:rPr/>
                                      <a:rPr lang="en-GB" i="1">
                                        <a:latin typeface="Cambria Math"/>
                                        <a:cs typeface="Helvetica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/>
                                  <a:rPr lang="en-GB" b="0" i="1">
                                    <a:latin typeface="Cambria Math"/>
                                    <a:cs typeface="Helvetica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GB" i="1">
                                        <a:latin typeface="Cambria Math"/>
                                        <a:ea typeface="Cambria Math"/>
                                        <a:cs typeface="Helvetica"/>
                                      </a:rPr>
                                    </m:ctrlPr>
                                  </m:sSubPr>
                                  <m:e>
                                    <m:r>
                                      <m:rPr/>
                                      <a:rPr lang="en-GB" i="1">
                                        <a:latin typeface="Cambria Math"/>
                                        <a:cs typeface="Helvetica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m:rPr/>
                                      <a:rPr lang="en-GB" i="1">
                                        <a:latin typeface="Cambria Math"/>
                                        <a:cs typeface="Helvetica"/>
                                      </a:rPr>
                                      <m:t>h</m:t>
                                    </m:r>
                                    <m:r>
                                      <m:rPr/>
                                      <a:rPr lang="en-GB" i="1">
                                        <a:latin typeface="Cambria Math"/>
                                        <a:cs typeface="Helvetica"/>
                                      </a:rPr>
                                      <m:t>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GB" b="0" i="0">
                                        <a:latin typeface="Cambria Math"/>
                                        <a:cs typeface="Helvetica"/>
                                      </a:rPr>
                                      <m:t>in</m:t>
                                    </m:r>
                                  </m:sub>
                                </m:sSub>
                                <m:r>
                                  <m:rPr/>
                                  <a:rPr lang="en-GB" i="1">
                                    <a:latin typeface="Cambria Math"/>
                                    <a:cs typeface="Helvetica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GB" i="1">
                                        <a:latin typeface="Cambria Math"/>
                                        <a:ea typeface="Cambria Math"/>
                                        <a:cs typeface="Helvetica"/>
                                      </a:rPr>
                                    </m:ctrlPr>
                                  </m:sSubPr>
                                  <m:e>
                                    <m:r>
                                      <m:rPr/>
                                      <a:rPr lang="en-GB" i="1">
                                        <a:latin typeface="Cambria Math"/>
                                        <a:cs typeface="Helvetica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m:rPr/>
                                      <a:rPr lang="en-GB" i="1">
                                        <a:latin typeface="Cambria Math"/>
                                        <a:cs typeface="Helvetica"/>
                                      </a:rPr>
                                      <m:t>𝑐</m:t>
                                    </m:r>
                                    <m:r>
                                      <m:rPr/>
                                      <a:rPr lang="en-GB" i="1">
                                        <a:latin typeface="Cambria Math"/>
                                        <a:cs typeface="Helvetica"/>
                                      </a:rPr>
                                      <m:t>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GB" b="0" i="0">
                                        <a:latin typeface="Cambria Math"/>
                                        <a:cs typeface="Helvetica"/>
                                      </a:rPr>
                                      <m:t>in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GB">
                                    <a:latin typeface="Cambria Math"/>
                                    <a:cs typeface="Helvetica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lang="en-GB" i="1">
                                        <a:latin typeface="Cambria Math"/>
                                        <a:ea typeface="Cambria Math"/>
                                        <a:cs typeface="Helvetica"/>
                                      </a:rPr>
                                    </m:ctrlPr>
                                  </m:sSubPr>
                                  <m:e>
                                    <m:r>
                                      <m:rPr/>
                                      <a:rPr lang="en-GB" i="1">
                                        <a:latin typeface="Cambria Math"/>
                                        <a:cs typeface="Helvetica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m:rPr/>
                                      <a:rPr lang="en-GB" b="0" i="1">
                                        <a:latin typeface="Cambria Math"/>
                                        <a:cs typeface="Helvetica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/>
                                  <a:rPr lang="en-GB" b="0" i="1">
                                    <a:latin typeface="Cambria Math"/>
                                    <a:cs typeface="Helvetica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GB" i="1">
                                        <a:latin typeface="Cambria Math"/>
                                        <a:ea typeface="Cambria Math"/>
                                        <a:cs typeface="Helvetica"/>
                                      </a:rPr>
                                    </m:ctrlPr>
                                  </m:sSubPr>
                                  <m:e>
                                    <m:r>
                                      <m:rPr/>
                                      <a:rPr lang="en-GB" i="1">
                                        <a:latin typeface="Cambria Math"/>
                                        <a:cs typeface="Helvetica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m:rPr/>
                                      <a:rPr lang="en-GB" b="0" i="1">
                                        <a:latin typeface="Cambria Math"/>
                                        <a:cs typeface="Helvetica"/>
                                      </a:rPr>
                                      <m:t>h</m:t>
                                    </m:r>
                                    <m:r>
                                      <m:rPr/>
                                      <a:rPr lang="en-GB" i="1">
                                        <a:latin typeface="Cambria Math"/>
                                        <a:cs typeface="Helvetica"/>
                                      </a:rPr>
                                      <m:t>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GB">
                                        <a:latin typeface="Cambria Math"/>
                                        <a:cs typeface="Helvetica"/>
                                      </a:rPr>
                                      <m:t>out</m:t>
                                    </m:r>
                                  </m:sub>
                                </m:sSub>
                                <m:r>
                                  <m:rPr/>
                                  <a:rPr lang="en-GB" i="1">
                                    <a:latin typeface="Cambria Math"/>
                                    <a:cs typeface="Helvetica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GB" i="1">
                                        <a:latin typeface="Cambria Math"/>
                                        <a:ea typeface="Cambria Math"/>
                                        <a:cs typeface="Helvetica"/>
                                      </a:rPr>
                                    </m:ctrlPr>
                                  </m:sSubPr>
                                  <m:e>
                                    <m:r>
                                      <m:rPr/>
                                      <a:rPr lang="en-GB" i="1">
                                        <a:latin typeface="Cambria Math"/>
                                        <a:cs typeface="Helvetica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m:rPr/>
                                      <a:rPr lang="en-GB" b="0" i="1">
                                        <a:latin typeface="Cambria Math"/>
                                        <a:cs typeface="Helvetica"/>
                                      </a:rPr>
                                      <m:t>𝑐</m:t>
                                    </m:r>
                                    <m:r>
                                      <m:rPr/>
                                      <a:rPr lang="en-GB" b="0" i="1">
                                        <a:latin typeface="Cambria Math"/>
                                        <a:cs typeface="Helvetica"/>
                                      </a:rPr>
                                      <m:t>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GB">
                                        <a:latin typeface="Cambria Math"/>
                                        <a:cs typeface="Helvetica"/>
                                      </a:rPr>
                                      <m:t>out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</mc:Choice>
              <mc:Fallback/>
            </mc:AlternateContent>
            <a:endParaRPr lang="en-GB"/>
          </a:p>
        </p:txBody>
      </p:sp>
      <p:sp>
        <p:nvSpPr>
          <p:cNvPr id="685401963" name="TextBox 9"/>
          <p:cNvSpPr/>
          <p:nvPr/>
        </p:nvSpPr>
        <p:spPr bwMode="auto">
          <a:xfrm>
            <a:off x="7438390" y="3778885"/>
            <a:ext cx="2531110" cy="71056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"/>
                    </m:oMathParaPr>
                    <m:oMath>
                      <m:d>
                        <m:dPr>
                          <m:begChr m:val="{"/>
                          <m:endChr m:val=""/>
                          <m:ctrlPr>
                            <a:rPr lang="en-GB" sz="1800" b="0" i="1">
                              <a:latin typeface="Cambria Math"/>
                              <a:ea typeface="Cambria Math"/>
                              <a:cs typeface="Helvetica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cGp/>
                              <m:cGpRule/>
                              <m:cSp/>
                              <m:mcs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</m:mcs>
                              <m:plcHide m:val="off"/>
                              <m:rSp/>
                              <m:rSpRule/>
                              <m:ctrlPr>
                                <a:rPr lang="en-GB" i="1">
                                  <a:latin typeface="Cambria Math"/>
                                  <a:ea typeface="Cambria Math"/>
                                  <a:cs typeface="Helvetica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GB">
                                    <a:latin typeface="Cambria Math"/>
                                    <a:cs typeface="Helvetica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lang="en-GB" i="1">
                                        <a:latin typeface="Cambria Math"/>
                                        <a:ea typeface="Cambria Math"/>
                                        <a:cs typeface="Helvetica"/>
                                      </a:rPr>
                                    </m:ctrlPr>
                                  </m:sSubPr>
                                  <m:e>
                                    <m:r>
                                      <m:rPr/>
                                      <a:rPr lang="en-GB" i="1">
                                        <a:latin typeface="Cambria Math"/>
                                        <a:cs typeface="Helvetica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m:rPr/>
                                      <a:rPr lang="en-GB" i="1">
                                        <a:latin typeface="Cambria Math"/>
                                        <a:cs typeface="Helvetica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/>
                                  <a:rPr lang="en-GB" b="0" i="1">
                                    <a:latin typeface="Cambria Math"/>
                                    <a:cs typeface="Helvetica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GB" i="1">
                                        <a:latin typeface="Cambria Math"/>
                                        <a:ea typeface="Cambria Math"/>
                                        <a:cs typeface="Helvetica"/>
                                      </a:rPr>
                                    </m:ctrlPr>
                                  </m:sSubPr>
                                  <m:e>
                                    <m:r>
                                      <m:rPr/>
                                      <a:rPr lang="en-GB" i="1">
                                        <a:latin typeface="Cambria Math"/>
                                        <a:cs typeface="Helvetica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m:rPr/>
                                      <a:rPr lang="en-GB" i="1">
                                        <a:latin typeface="Cambria Math"/>
                                        <a:cs typeface="Helvetica"/>
                                      </a:rPr>
                                      <m:t>h</m:t>
                                    </m:r>
                                    <m:r>
                                      <m:rPr/>
                                      <a:rPr lang="en-GB" i="1">
                                        <a:latin typeface="Cambria Math"/>
                                        <a:cs typeface="Helvetica"/>
                                      </a:rPr>
                                      <m:t>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GB" b="0" i="0">
                                        <a:latin typeface="Cambria Math"/>
                                        <a:cs typeface="Helvetica"/>
                                      </a:rPr>
                                      <m:t>in</m:t>
                                    </m:r>
                                  </m:sub>
                                </m:sSub>
                                <m:r>
                                  <m:rPr/>
                                  <a:rPr lang="en-GB" i="1">
                                    <a:latin typeface="Cambria Math"/>
                                    <a:cs typeface="Helvetica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GB" i="1">
                                        <a:latin typeface="Cambria Math"/>
                                        <a:ea typeface="Cambria Math"/>
                                        <a:cs typeface="Helvetica"/>
                                      </a:rPr>
                                    </m:ctrlPr>
                                  </m:sSubPr>
                                  <m:e>
                                    <m:r>
                                      <m:rPr/>
                                      <a:rPr lang="en-GB" i="1">
                                        <a:latin typeface="Cambria Math"/>
                                        <a:cs typeface="Helvetica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m:rPr/>
                                      <a:rPr lang="en-GB" i="1">
                                        <a:latin typeface="Cambria Math"/>
                                        <a:cs typeface="Helvetica"/>
                                      </a:rPr>
                                      <m:t>𝑐</m:t>
                                    </m:r>
                                    <m:r>
                                      <m:rPr/>
                                      <a:rPr lang="en-GB" i="1">
                                        <a:latin typeface="Cambria Math"/>
                                        <a:cs typeface="Helvetica"/>
                                      </a:rPr>
                                      <m:t>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GB" b="0" i="0">
                                        <a:latin typeface="Cambria Math"/>
                                        <a:cs typeface="Helvetica"/>
                                      </a:rPr>
                                      <m:t>out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GB">
                                    <a:latin typeface="Cambria Math"/>
                                    <a:cs typeface="Helvetica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lang="en-GB" i="1">
                                        <a:latin typeface="Cambria Math"/>
                                        <a:ea typeface="Cambria Math"/>
                                        <a:cs typeface="Helvetica"/>
                                      </a:rPr>
                                    </m:ctrlPr>
                                  </m:sSubPr>
                                  <m:e>
                                    <m:r>
                                      <m:rPr/>
                                      <a:rPr lang="en-GB" i="1">
                                        <a:latin typeface="Cambria Math"/>
                                        <a:cs typeface="Helvetica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m:rPr/>
                                      <a:rPr lang="en-GB" b="0" i="1">
                                        <a:latin typeface="Cambria Math"/>
                                        <a:cs typeface="Helvetica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/>
                                  <a:rPr lang="en-GB" b="0" i="1">
                                    <a:latin typeface="Cambria Math"/>
                                    <a:cs typeface="Helvetica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GB" i="1">
                                        <a:latin typeface="Cambria Math"/>
                                        <a:ea typeface="Cambria Math"/>
                                        <a:cs typeface="Helvetica"/>
                                      </a:rPr>
                                    </m:ctrlPr>
                                  </m:sSubPr>
                                  <m:e>
                                    <m:r>
                                      <m:rPr/>
                                      <a:rPr lang="en-GB" i="1">
                                        <a:latin typeface="Cambria Math"/>
                                        <a:cs typeface="Helvetica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m:rPr/>
                                      <a:rPr lang="en-GB" b="0" i="1">
                                        <a:latin typeface="Cambria Math"/>
                                        <a:cs typeface="Helvetica"/>
                                      </a:rPr>
                                      <m:t>h</m:t>
                                    </m:r>
                                    <m:r>
                                      <m:rPr/>
                                      <a:rPr lang="en-GB" i="1">
                                        <a:latin typeface="Cambria Math"/>
                                        <a:cs typeface="Helvetica"/>
                                      </a:rPr>
                                      <m:t>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GB">
                                        <a:latin typeface="Cambria Math"/>
                                        <a:cs typeface="Helvetica"/>
                                      </a:rPr>
                                      <m:t>out</m:t>
                                    </m:r>
                                  </m:sub>
                                </m:sSub>
                                <m:r>
                                  <m:rPr/>
                                  <a:rPr lang="en-GB" i="1">
                                    <a:latin typeface="Cambria Math"/>
                                    <a:cs typeface="Helvetica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GB" i="1">
                                        <a:latin typeface="Cambria Math"/>
                                        <a:ea typeface="Cambria Math"/>
                                        <a:cs typeface="Helvetica"/>
                                      </a:rPr>
                                    </m:ctrlPr>
                                  </m:sSubPr>
                                  <m:e>
                                    <m:r>
                                      <m:rPr/>
                                      <a:rPr lang="en-GB" i="1">
                                        <a:latin typeface="Cambria Math"/>
                                        <a:cs typeface="Helvetica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m:rPr/>
                                      <a:rPr lang="en-GB" b="0" i="1">
                                        <a:latin typeface="Cambria Math"/>
                                        <a:cs typeface="Helvetica"/>
                                      </a:rPr>
                                      <m:t>𝑐</m:t>
                                    </m:r>
                                    <m:r>
                                      <m:rPr/>
                                      <a:rPr lang="en-GB" b="0" i="1">
                                        <a:latin typeface="Cambria Math"/>
                                        <a:cs typeface="Helvetica"/>
                                      </a:rPr>
                                      <m:t>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GB" b="0" i="0">
                                        <a:latin typeface="Cambria Math"/>
                                        <a:cs typeface="Helvetica"/>
                                      </a:rPr>
                                      <m:t>in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</mc:Choice>
              <mc:Fallback/>
            </mc:AlternateContent>
            <a:endParaRPr lang="en-GB"/>
          </a:p>
        </p:txBody>
      </p:sp>
      <p:sp>
        <p:nvSpPr>
          <p:cNvPr id="99298988" name="TextBox 11"/>
          <p:cNvSpPr/>
          <p:nvPr/>
        </p:nvSpPr>
        <p:spPr bwMode="auto">
          <a:xfrm>
            <a:off x="2222500" y="3429000"/>
            <a:ext cx="2531110" cy="36957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t"/>
          <a:lstStyle/>
          <a:p>
            <a:pPr algn="ctr">
              <a:defRPr/>
            </a:pPr>
            <a:r>
              <a:rPr b="1" cap="none">
                <a:latin typeface="Helvetica"/>
                <a:ea typeface="Calibri"/>
                <a:cs typeface="Helvetica"/>
              </a:rPr>
              <a:t>Parallel:</a:t>
            </a:r>
            <a:endParaRPr b="1" cap="none"/>
          </a:p>
        </p:txBody>
      </p:sp>
      <p:sp>
        <p:nvSpPr>
          <p:cNvPr id="2044332962" name="TextBox 12"/>
          <p:cNvSpPr/>
          <p:nvPr/>
        </p:nvSpPr>
        <p:spPr bwMode="auto">
          <a:xfrm>
            <a:off x="7438390" y="3429000"/>
            <a:ext cx="2531110" cy="36957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t"/>
          <a:lstStyle/>
          <a:p>
            <a:pPr algn="ctr">
              <a:defRPr/>
            </a:pPr>
            <a:r>
              <a:rPr b="1" cap="none">
                <a:latin typeface="Helvetica"/>
                <a:ea typeface="Calibri"/>
                <a:cs typeface="Helvetica"/>
              </a:rPr>
              <a:t>Counter-flow:</a:t>
            </a:r>
            <a:endParaRPr b="1" cap="none"/>
          </a:p>
        </p:txBody>
      </p:sp>
      <p:cxnSp>
        <p:nvCxnSpPr>
          <p:cNvPr id="1942567019" name="Straight Arrow Connector 14"/>
          <p:cNvCxnSpPr/>
          <p:nvPr/>
        </p:nvCxnSpPr>
        <p:spPr bwMode="auto">
          <a:xfrm>
            <a:off x="6075680" y="3705860"/>
            <a:ext cx="1362710" cy="428625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headEnd type="none"/>
            <a:tailEnd type="triangle" w="med" len="med"/>
          </a:ln>
          <a:effectLst/>
        </p:spPr>
      </p:cxnSp>
      <p:cxnSp>
        <p:nvCxnSpPr>
          <p:cNvPr id="100339846" name="Straight Arrow Connector 16"/>
          <p:cNvCxnSpPr>
            <a:endCxn id="1899007618" idx="3"/>
          </p:cNvCxnSpPr>
          <p:nvPr/>
        </p:nvCxnSpPr>
        <p:spPr bwMode="auto">
          <a:xfrm flipH="1">
            <a:off x="4753610" y="3693160"/>
            <a:ext cx="1322070" cy="441325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headEnd type="none"/>
            <a:tailEnd type="triangle" w="med" len="med"/>
          </a:ln>
          <a:effectLst/>
        </p:spPr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7107023" name="Title 3"/>
          <p:cNvSpPr>
            <a:spLocks noChangeArrowheads="1" noGrp="1"/>
          </p:cNvSpPr>
          <p:nvPr>
            <p:ph type="ctrTitle"/>
          </p:nvPr>
        </p:nvSpPr>
        <p:spPr bwMode="auto">
          <a:xfrm>
            <a:off x="0" y="360045"/>
            <a:ext cx="12192000" cy="7080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t">
            <a:prstTxWarp prst="textNoShape"/>
          </a:bodyPr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sz="4000" cap="none">
                <a:latin typeface="Helvetica"/>
                <a:ea typeface="Verdana"/>
                <a:cs typeface="Helvetica"/>
              </a:rPr>
              <a:t>LMTD Method</a:t>
            </a:r>
            <a:endParaRPr sz="4000" cap="none">
              <a:latin typeface="Helvetica"/>
              <a:ea typeface="Verdana"/>
              <a:cs typeface="Helvetica"/>
            </a:endParaRPr>
          </a:p>
        </p:txBody>
      </p:sp>
      <p:sp>
        <p:nvSpPr>
          <p:cNvPr id="867521972" name="Slide Number Placeholder 17"/>
          <p:cNvSpPr>
            <a:spLocks noChangeArrowheads="1" noGrp="1"/>
          </p:cNvSpPr>
          <p:nvPr>
            <p:ph type="sldNum" sz="quarter" idx="12"/>
          </p:nvPr>
        </p:nvSpPr>
        <p:spPr bwMode="auto">
          <a:xfrm>
            <a:off x="8999855" y="6356350"/>
            <a:ext cx="2743200" cy="365125"/>
          </a:xfrm>
        </p:spPr>
        <p:txBody>
          <a:bodyPr/>
          <a:lstStyle/>
          <a:p>
            <a:pPr>
              <a:defRPr/>
            </a:pPr>
            <a:fld id="{6D1323CA-8480-46D5-CEAB-72806DE53827}" type="slidenum">
              <a:rPr sz="1600" cap="none">
                <a:solidFill>
                  <a:srgbClr val="7F7F7F"/>
                </a:solidFill>
                <a:latin typeface="Helvetica"/>
                <a:ea typeface="Calibri"/>
                <a:cs typeface="Helvetica"/>
              </a:rPr>
              <a:t>6</a:t>
            </a:fld>
            <a:endParaRPr sz="1600" cap="none">
              <a:solidFill>
                <a:srgbClr val="7F7F7F"/>
              </a:solidFill>
              <a:latin typeface="Helvetica"/>
              <a:ea typeface="Calibri"/>
              <a:cs typeface="Helvetica"/>
            </a:endParaRPr>
          </a:p>
        </p:txBody>
      </p:sp>
      <p:pic>
        <p:nvPicPr>
          <p:cNvPr id="625389236" name="Picture 8" descr="A picture containing text, clipart&#10;&#10;Description automatically generated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48945" y="360045"/>
            <a:ext cx="1967865" cy="53975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859934495" name="TextBox 2"/>
          <p:cNvSpPr/>
          <p:nvPr/>
        </p:nvSpPr>
        <p:spPr bwMode="auto">
          <a:xfrm>
            <a:off x="1056005" y="1388745"/>
            <a:ext cx="10079990" cy="4000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t"/>
          <a:lstStyle/>
          <a:p>
            <a:pPr algn="ctr">
              <a:spcAft>
                <a:spcPts val="600"/>
              </a:spcAft>
              <a:defRPr/>
            </a:pPr>
            <a:r>
              <a:rPr sz="2000" b="1" cap="none">
                <a:solidFill>
                  <a:srgbClr val="FF9900"/>
                </a:solidFill>
                <a:latin typeface="Helvetica"/>
                <a:ea typeface="Calibri"/>
                <a:cs typeface="Calibri"/>
              </a:rPr>
              <a:t>Correction factor:</a:t>
            </a:r>
            <a:endParaRPr sz="2000" b="1" cap="none">
              <a:solidFill>
                <a:srgbClr val="FF9900"/>
              </a:solidFill>
              <a:latin typeface="Helvetica"/>
              <a:ea typeface="Calibri"/>
              <a:cs typeface="Calibri"/>
            </a:endParaRPr>
          </a:p>
        </p:txBody>
      </p:sp>
      <p:sp>
        <p:nvSpPr>
          <p:cNvPr id="1821161166" name="Slide Number Placeholder 17"/>
          <p:cNvSpPr/>
          <p:nvPr/>
        </p:nvSpPr>
        <p:spPr bwMode="auto">
          <a:xfrm>
            <a:off x="448945" y="6356350"/>
            <a:ext cx="4434840" cy="365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ctr"/>
          <a:lstStyle>
            <a:lvl1pPr marL="0" algn="r" defTabSz="457200">
              <a:defRPr sz="1200" cap="none">
                <a:solidFill>
                  <a:srgbClr val="8C8C8C"/>
                </a:solidFill>
                <a:latin typeface="Calibri"/>
                <a:ea typeface="Calibri"/>
                <a:cs typeface="Calibri"/>
              </a:defRPr>
            </a:lvl1pPr>
            <a:lvl2pPr marL="4572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9144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3716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8288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2860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7432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2004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6576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/>
            </a:pPr>
            <a:r>
              <a:rPr sz="1600" cap="none">
                <a:solidFill>
                  <a:srgbClr val="7F7F7F"/>
                </a:solidFill>
                <a:latin typeface="Helvetica"/>
                <a:ea typeface="Calibri"/>
                <a:cs typeface="Helvetica"/>
              </a:rPr>
              <a:t>EX3030/EM40JN</a:t>
            </a:r>
            <a:endParaRPr sz="1600" cap="none">
              <a:solidFill>
                <a:srgbClr val="7F7F7F"/>
              </a:solidFill>
              <a:latin typeface="Helvetica"/>
              <a:ea typeface="Calibri"/>
              <a:cs typeface="Helvetica"/>
            </a:endParaRPr>
          </a:p>
        </p:txBody>
      </p:sp>
      <p:sp>
        <p:nvSpPr>
          <p:cNvPr id="1397730566" name="TextBox 4"/>
          <p:cNvSpPr/>
          <p:nvPr/>
        </p:nvSpPr>
        <p:spPr bwMode="auto">
          <a:xfrm>
            <a:off x="1056005" y="2109470"/>
            <a:ext cx="10079990" cy="32054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L="285750" indent="-285750"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  <a:defRPr/>
            </a:pPr>
            <a:r>
              <a:rPr lang="en-US" sz="2000">
                <a:solidFill>
                  <a:schemeClr val="tx1"/>
                </a:solidFill>
                <a:latin typeface="Helvetica"/>
              </a:rPr>
              <a:t>LMTD method strictly only applicable to parallel and counter-flow HE’s</a:t>
            </a:r>
            <a:endParaRPr/>
          </a:p>
          <a:p>
            <a:pPr marL="285750" indent="-285750"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  <a:defRPr/>
            </a:pPr>
            <a:r>
              <a:rPr lang="en-US" sz="2000">
                <a:solidFill>
                  <a:schemeClr val="tx1"/>
                </a:solidFill>
                <a:latin typeface="Helvetica"/>
              </a:rPr>
              <a:t>For different cross-flow and multi-pass shell-and-tube HE’s, we introduce a correction factor,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sz="2000" b="0" i="1">
                          <a:solidFill>
                            <a:schemeClr val="tx1"/>
                          </a:solidFill>
                          <a:latin typeface="Cambria Math"/>
                        </a:rPr>
                        <m:t>𝐹</m:t>
                      </m:r>
                    </m:oMath>
                  </m:oMathPara>
                </a14:m>
              </mc:Choice>
              <mc:Fallback/>
            </mc:AlternateContent>
            <a:endParaRPr lang="en-GB" sz="200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2000" b="1" i="0">
                          <a:solidFill>
                            <a:schemeClr val="tx1"/>
                          </a:solidFill>
                          <a:latin typeface="Cambria Math"/>
                        </a:rPr>
                        <m:t>𝚫</m:t>
                      </m:r>
                      <m:sSub>
                        <m:sSubPr>
                          <m:ctrlPr>
                            <a:rPr lang="en-GB" sz="2000" b="1" i="1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GB" sz="2000" b="1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𝑻</m:t>
                          </m:r>
                        </m:e>
                        <m:sub>
                          <m:r>
                            <m:rPr/>
                            <a:rPr lang="en-GB" sz="2000" b="1" i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𝐦</m:t>
                          </m:r>
                        </m:sub>
                      </m:sSub>
                      <m:r>
                        <m:rPr/>
                        <a:rPr lang="en-GB" sz="2000" b="1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r>
                        <m:rPr/>
                        <a:rPr lang="en-GB" sz="2000" b="1" i="1">
                          <a:solidFill>
                            <a:schemeClr val="tx1"/>
                          </a:solidFill>
                          <a:latin typeface="Cambria Math"/>
                        </a:rPr>
                        <m:t>𝑭</m:t>
                      </m:r>
                      <m:r>
                        <m:rPr/>
                        <a:rPr lang="en-GB" sz="2000" b="1" i="0">
                          <a:solidFill>
                            <a:schemeClr val="tx1"/>
                          </a:solidFill>
                          <a:latin typeface="Cambria Math"/>
                        </a:rPr>
                        <m:t>𝚫</m:t>
                      </m:r>
                      <m:sSub>
                        <m:sSubPr>
                          <m:ctrlPr>
                            <a:rPr lang="en-GB" sz="2000" b="1" i="1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GB" sz="2000" b="1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𝑻</m:t>
                          </m:r>
                        </m:e>
                        <m:sub>
                          <m:r>
                            <m:rPr/>
                            <a:rPr lang="en-GB" sz="2000" b="1" i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𝐦</m:t>
                          </m:r>
                          <m:r>
                            <m:rPr/>
                            <a:rPr lang="en-GB" sz="2000" b="1" i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m:rPr/>
                            <a:rPr lang="en-GB" sz="2000" b="1" i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𝐂𝐅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 lang="en-GB" sz="2000" b="1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GB" sz="2000" b="0">
                <a:solidFill>
                  <a:schemeClr val="tx1"/>
                </a:solidFill>
                <a:latin typeface="Helvetica"/>
                <a:cs typeface="Helvetica"/>
              </a:rPr>
              <a:t>where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sz="2000" b="0" i="1">
                          <a:solidFill>
                            <a:schemeClr val="tx1"/>
                          </a:solidFill>
                          <a:latin typeface="Cambria Math"/>
                        </a:rPr>
                        <m:t>𝐹</m:t>
                      </m:r>
                      <m:r>
                        <m:rPr/>
                        <a:rPr lang="en-GB" sz="2000" b="0" i="1">
                          <a:solidFill>
                            <a:schemeClr val="tx1"/>
                          </a:solidFill>
                          <a:latin typeface="Cambria Math"/>
                        </a:rPr>
                        <m:t>≤1</m:t>
                      </m:r>
                    </m:oMath>
                  </m:oMathPara>
                </a14:m>
              </mc:Choice>
              <mc:Fallback/>
            </mc:AlternateContent>
            <a:r>
              <a:rPr lang="en-US" sz="2000">
                <a:solidFill>
                  <a:schemeClr val="tx1"/>
                </a:solidFill>
                <a:latin typeface="Helvetica"/>
              </a:rPr>
              <a:t>, with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sz="2000" b="0" i="1">
                          <a:solidFill>
                            <a:schemeClr val="tx1"/>
                          </a:solidFill>
                          <a:latin typeface="Cambria Math"/>
                        </a:rPr>
                        <m:t>𝐹</m:t>
                      </m:r>
                      <m:r>
                        <m:rPr/>
                        <a:rPr lang="en-GB" sz="2000" b="0" i="1">
                          <a:solidFill>
                            <a:schemeClr val="tx1"/>
                          </a:solidFill>
                          <a:latin typeface="Cambria Math"/>
                        </a:rPr>
                        <m:t>=1</m:t>
                      </m:r>
                    </m:oMath>
                  </m:oMathPara>
                </a14:m>
              </mc:Choice>
              <mc:Fallback/>
            </mc:AlternateContent>
            <a:r>
              <a:rPr lang="en-US" sz="2000">
                <a:solidFill>
                  <a:schemeClr val="tx1"/>
                </a:solidFill>
                <a:latin typeface="Helvetica"/>
              </a:rPr>
              <a:t> the limiting value corresponding to a counter-flow HE</a:t>
            </a:r>
            <a:endParaRPr/>
          </a:p>
          <a:p>
            <a:pPr marL="285750" indent="-285750"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  <a:defRPr/>
            </a:pPr>
            <a:r>
              <a:rPr lang="en-US" sz="2000">
                <a:solidFill>
                  <a:schemeClr val="tx1"/>
                </a:solidFill>
                <a:latin typeface="Helvetica"/>
              </a:rPr>
              <a:t>The value of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sz="2000" b="0" i="1">
                          <a:solidFill>
                            <a:schemeClr val="tx1"/>
                          </a:solidFill>
                          <a:latin typeface="Cambria Math"/>
                        </a:rPr>
                        <m:t>𝐹</m:t>
                      </m:r>
                    </m:oMath>
                  </m:oMathPara>
                </a14:m>
              </mc:Choice>
              <mc:Fallback/>
            </mc:AlternateContent>
            <a:r>
              <a:rPr lang="en-GB" sz="2000">
                <a:solidFill>
                  <a:schemeClr val="tx1"/>
                </a:solidFill>
              </a:rPr>
              <a:t> </a:t>
            </a:r>
            <a:r>
              <a:rPr lang="en-US" sz="2000">
                <a:solidFill>
                  <a:schemeClr val="tx1"/>
                </a:solidFill>
                <a:latin typeface="Helvetica"/>
              </a:rPr>
              <a:t>depends on the geometry of the heat exchanger and inlet/outlet temperatures</a:t>
            </a:r>
            <a:endParaRPr lang="en-GB" sz="20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913299" name="Title 3"/>
          <p:cNvSpPr>
            <a:spLocks noChangeArrowheads="1" noGrp="1"/>
          </p:cNvSpPr>
          <p:nvPr>
            <p:ph type="ctrTitle"/>
          </p:nvPr>
        </p:nvSpPr>
        <p:spPr bwMode="auto">
          <a:xfrm>
            <a:off x="0" y="360045"/>
            <a:ext cx="12192000" cy="7080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t">
            <a:prstTxWarp prst="textNoShape"/>
          </a:bodyPr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sz="4000" cap="none">
                <a:latin typeface="Helvetica"/>
                <a:ea typeface="Verdana"/>
                <a:cs typeface="Helvetica"/>
              </a:rPr>
              <a:t>LMTD Method</a:t>
            </a:r>
            <a:endParaRPr sz="4000" cap="none">
              <a:latin typeface="Helvetica"/>
              <a:ea typeface="Verdana"/>
              <a:cs typeface="Helvetica"/>
            </a:endParaRPr>
          </a:p>
        </p:txBody>
      </p:sp>
      <p:sp>
        <p:nvSpPr>
          <p:cNvPr id="1331023411" name="Slide Number Placeholder 17"/>
          <p:cNvSpPr>
            <a:spLocks noChangeArrowheads="1" noGrp="1"/>
          </p:cNvSpPr>
          <p:nvPr>
            <p:ph type="sldNum" sz="quarter" idx="12"/>
          </p:nvPr>
        </p:nvSpPr>
        <p:spPr bwMode="auto">
          <a:xfrm>
            <a:off x="8999855" y="6356350"/>
            <a:ext cx="2743200" cy="365125"/>
          </a:xfrm>
        </p:spPr>
        <p:txBody>
          <a:bodyPr/>
          <a:lstStyle/>
          <a:p>
            <a:pPr>
              <a:defRPr/>
            </a:pPr>
            <a:fld id="{4E660A18-56A3-33FC-EDDE-A0A944901BF5}" type="slidenum">
              <a:rPr sz="1600" cap="none">
                <a:solidFill>
                  <a:srgbClr val="7F7F7F"/>
                </a:solidFill>
                <a:latin typeface="Helvetica"/>
                <a:ea typeface="Calibri"/>
                <a:cs typeface="Helvetica"/>
              </a:rPr>
              <a:t>7</a:t>
            </a:fld>
            <a:endParaRPr sz="1600" cap="none">
              <a:solidFill>
                <a:srgbClr val="7F7F7F"/>
              </a:solidFill>
              <a:latin typeface="Helvetica"/>
              <a:ea typeface="Calibri"/>
              <a:cs typeface="Helvetica"/>
            </a:endParaRPr>
          </a:p>
        </p:txBody>
      </p:sp>
      <p:pic>
        <p:nvPicPr>
          <p:cNvPr id="186974542" name="Picture 8" descr="A picture containing text, clipart&#10;&#10;Description automatically generated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48945" y="360045"/>
            <a:ext cx="1967865" cy="53975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43873691" name="TextBox 2"/>
          <p:cNvSpPr/>
          <p:nvPr/>
        </p:nvSpPr>
        <p:spPr bwMode="auto">
          <a:xfrm>
            <a:off x="1056005" y="1211580"/>
            <a:ext cx="10079990" cy="4000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t"/>
          <a:lstStyle/>
          <a:p>
            <a:pPr algn="ctr">
              <a:spcAft>
                <a:spcPts val="600"/>
              </a:spcAft>
              <a:defRPr/>
            </a:pPr>
            <a:r>
              <a:rPr sz="2000" b="1" cap="none">
                <a:solidFill>
                  <a:srgbClr val="FF9900"/>
                </a:solidFill>
                <a:latin typeface="Helvetica"/>
                <a:ea typeface="Calibri"/>
                <a:cs typeface="Calibri"/>
              </a:rPr>
              <a:t>Correction factor charts:</a:t>
            </a:r>
            <a:endParaRPr sz="2000" b="1" cap="none">
              <a:solidFill>
                <a:srgbClr val="FF9900"/>
              </a:solidFill>
              <a:latin typeface="Helvetica"/>
              <a:ea typeface="Calibri"/>
              <a:cs typeface="Calibri"/>
            </a:endParaRPr>
          </a:p>
        </p:txBody>
      </p:sp>
      <p:sp>
        <p:nvSpPr>
          <p:cNvPr id="1718283529" name="Slide Number Placeholder 17"/>
          <p:cNvSpPr/>
          <p:nvPr/>
        </p:nvSpPr>
        <p:spPr bwMode="auto">
          <a:xfrm>
            <a:off x="448945" y="6356350"/>
            <a:ext cx="4434840" cy="365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ctr"/>
          <a:lstStyle>
            <a:lvl1pPr marL="0" algn="r" defTabSz="457200">
              <a:defRPr sz="1200" cap="none">
                <a:solidFill>
                  <a:srgbClr val="8C8C8C"/>
                </a:solidFill>
                <a:latin typeface="Calibri"/>
                <a:ea typeface="Calibri"/>
                <a:cs typeface="Calibri"/>
              </a:defRPr>
            </a:lvl1pPr>
            <a:lvl2pPr marL="4572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9144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3716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8288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2860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7432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2004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6576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/>
            </a:pPr>
            <a:r>
              <a:rPr sz="1600" cap="none">
                <a:solidFill>
                  <a:srgbClr val="7F7F7F"/>
                </a:solidFill>
                <a:latin typeface="Helvetica"/>
                <a:ea typeface="Calibri"/>
                <a:cs typeface="Helvetica"/>
              </a:rPr>
              <a:t>EX3030/EM40JN</a:t>
            </a:r>
            <a:endParaRPr sz="1600" cap="none">
              <a:solidFill>
                <a:srgbClr val="7F7F7F"/>
              </a:solidFill>
              <a:latin typeface="Helvetica"/>
              <a:ea typeface="Calibri"/>
              <a:cs typeface="Helvetica"/>
            </a:endParaRPr>
          </a:p>
        </p:txBody>
      </p:sp>
      <p:sp>
        <p:nvSpPr>
          <p:cNvPr id="452161556" name="TextBox 4"/>
          <p:cNvSpPr/>
          <p:nvPr/>
        </p:nvSpPr>
        <p:spPr bwMode="auto">
          <a:xfrm>
            <a:off x="1056005" y="1773555"/>
            <a:ext cx="10079990" cy="20472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sz="1800" b="0" i="1">
                          <a:latin typeface="Cambria Math"/>
                          <a:ea typeface="Times New Roman"/>
                          <a:cs typeface="Helvetica"/>
                        </a:rPr>
                        <m:t>𝐹</m:t>
                      </m:r>
                    </m:oMath>
                  </m:oMathPara>
                </a14:m>
              </mc:Choice>
              <mc:Fallback/>
            </mc:AlternateContent>
            <a:r>
              <a:rPr lang="en-GB" sz="1800">
                <a:latin typeface="Helvetica"/>
                <a:ea typeface="Times New Roman"/>
                <a:cs typeface="Helvetica"/>
              </a:rPr>
              <a:t> can be expressed as a function </a:t>
            </a:r>
            <a:r>
              <a:rPr lang="en-GB">
                <a:latin typeface="Helvetica"/>
                <a:ea typeface="Times New Roman"/>
                <a:cs typeface="Helvetica"/>
              </a:rPr>
              <a:t>of two parameters:</a:t>
            </a:r>
            <a:endParaRPr/>
          </a:p>
          <a:p>
            <a:pPr algn="ctr">
              <a:lnSpc>
                <a:spcPct val="110000"/>
              </a:lnSpc>
              <a:spcAft>
                <a:spcPts val="600"/>
              </a:spcAft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1800" b="0" i="1">
                          <a:latin typeface="Cambria Math"/>
                          <a:ea typeface="Times New Roman"/>
                          <a:cs typeface="Helvetica"/>
                        </a:rPr>
                        <m:t>𝐹</m:t>
                      </m:r>
                      <m:r>
                        <m:rPr/>
                        <a:rPr lang="en-GB" sz="1800" b="0" i="1">
                          <a:latin typeface="Cambria Math"/>
                          <a:ea typeface="Times New Roman"/>
                          <a:cs typeface="Helvetica"/>
                        </a:rPr>
                        <m:t>=</m:t>
                      </m:r>
                      <m:r>
                        <m:rPr/>
                        <a:rPr lang="en-GB" sz="1800" b="0" i="1">
                          <a:latin typeface="Cambria Math"/>
                          <a:ea typeface="Times New Roman"/>
                          <a:cs typeface="Helvetica"/>
                        </a:rPr>
                        <m:t>𝑓</m:t>
                      </m:r>
                      <m:d>
                        <m:dPr>
                          <m:ctrlPr>
                            <a:rPr lang="en-GB" sz="1800" b="0" i="1">
                              <a:latin typeface="Cambria Math"/>
                              <a:ea typeface="Times New Roman"/>
                              <a:cs typeface="Helvetica"/>
                            </a:rPr>
                          </m:ctrlPr>
                        </m:dPr>
                        <m:e>
                          <m:r>
                            <m:rPr/>
                            <a:rPr lang="en-GB" sz="1800" b="0" i="1">
                              <a:latin typeface="Cambria Math"/>
                              <a:ea typeface="Times New Roman"/>
                              <a:cs typeface="Helvetica"/>
                            </a:rPr>
                            <m:t>𝑃</m:t>
                          </m:r>
                          <m:r>
                            <m:rPr/>
                            <a:rPr lang="en-GB" sz="1800" b="0" i="1">
                              <a:latin typeface="Cambria Math"/>
                              <a:ea typeface="Times New Roman"/>
                              <a:cs typeface="Helvetica"/>
                            </a:rPr>
                            <m:t>,</m:t>
                          </m:r>
                          <m:r>
                            <m:rPr/>
                            <a:rPr lang="en-GB" sz="1800" b="0" i="1">
                              <a:latin typeface="Cambria Math"/>
                              <a:ea typeface="Times New Roman"/>
                              <a:cs typeface="Helvetica"/>
                            </a:rPr>
                            <m:t>𝑅</m:t>
                          </m:r>
                        </m:e>
                      </m:d>
                    </m:oMath>
                  </m:oMathPara>
                </a14:m>
              </mc:Choice>
              <mc:Fallback/>
            </mc:AlternateContent>
            <a:endParaRPr lang="en-GB" sz="1800" b="0">
              <a:latin typeface="Helvetica"/>
              <a:ea typeface="Times New Roman"/>
              <a:cs typeface="Helvetica"/>
            </a:endParaRPr>
          </a:p>
          <a:p>
            <a:pPr algn="ctr">
              <a:lnSpc>
                <a:spcPct val="110000"/>
              </a:lnSpc>
              <a:spcAft>
                <a:spcPts val="600"/>
              </a:spcAft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1800" b="0" i="1">
                          <a:latin typeface="Cambria Math"/>
                          <a:ea typeface="Times New Roman"/>
                          <a:cs typeface="Helvetica"/>
                        </a:rPr>
                        <m:t>𝑃</m:t>
                      </m:r>
                      <m:r>
                        <m:rPr/>
                        <a:rPr lang="en-GB" sz="1800" b="0" i="1">
                          <a:latin typeface="Cambria Math"/>
                          <a:ea typeface="Times New Roman"/>
                          <a:cs typeface="Helvetica"/>
                        </a:rPr>
                        <m:t>=</m:t>
                      </m:r>
                      <m:f>
                        <m:fPr>
                          <m:ctrlPr>
                            <a:rPr lang="en-GB" sz="1800" b="0" i="1">
                              <a:latin typeface="Cambria Math"/>
                              <a:ea typeface="Cambria Math"/>
                              <a:cs typeface="Helvetica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1800" b="0" i="1">
                                  <a:latin typeface="Cambria Math"/>
                                  <a:ea typeface="Cambria Math"/>
                                  <a:cs typeface="Helvetica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GB" sz="1800" b="0" i="1">
                                  <a:latin typeface="Cambria Math"/>
                                  <a:cs typeface="Helvetica"/>
                                </a:rPr>
                                <m:t>𝑡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1800" b="0" i="0">
                                  <a:latin typeface="Cambria Math"/>
                                  <a:cs typeface="Helvetica"/>
                                </a:rPr>
                                <m:t>out</m:t>
                              </m:r>
                            </m:sub>
                          </m:sSub>
                          <m:r>
                            <m:rPr/>
                            <a:rPr lang="en-GB" sz="1800" b="0" i="1">
                              <a:latin typeface="Cambria Math"/>
                              <a:cs typeface="Helvetica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1800" b="0" i="1">
                                  <a:latin typeface="Cambria Math"/>
                                  <a:ea typeface="Cambria Math"/>
                                  <a:cs typeface="Helvetica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GB" sz="1800" b="0" i="1">
                                  <a:latin typeface="Cambria Math"/>
                                  <a:cs typeface="Helvetica"/>
                                </a:rPr>
                                <m:t>𝑡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1800" b="0" i="0">
                                  <a:latin typeface="Cambria Math"/>
                                  <a:cs typeface="Helvetica"/>
                                </a:rPr>
                                <m:t>in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1800" b="0" i="1">
                                  <a:latin typeface="Cambria Math"/>
                                  <a:ea typeface="Cambria Math"/>
                                  <a:cs typeface="Helvetica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GB" sz="1800" b="0" i="1">
                                  <a:latin typeface="Cambria Math"/>
                                  <a:cs typeface="Helvetica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1800" b="0" i="0">
                                  <a:latin typeface="Cambria Math"/>
                                  <a:cs typeface="Helvetica"/>
                                </a:rPr>
                                <m:t>in</m:t>
                              </m:r>
                            </m:sub>
                          </m:sSub>
                          <m:r>
                            <m:rPr/>
                            <a:rPr lang="en-GB" sz="1800" b="0" i="1">
                              <a:latin typeface="Cambria Math"/>
                              <a:cs typeface="Helvetica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1800" b="0" i="1">
                                  <a:latin typeface="Cambria Math"/>
                                  <a:ea typeface="Cambria Math"/>
                                  <a:cs typeface="Helvetica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GB" sz="1800" b="0" i="1">
                                  <a:latin typeface="Cambria Math"/>
                                  <a:cs typeface="Helvetica"/>
                                </a:rPr>
                                <m:t>𝑡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1800" b="0" i="0">
                                  <a:latin typeface="Cambria Math"/>
                                  <a:cs typeface="Helvetica"/>
                                </a:rPr>
                                <m:t>in</m:t>
                              </m:r>
                            </m:sub>
                          </m:sSub>
                        </m:den>
                      </m:f>
                      <m:r>
                        <m:rPr/>
                        <a:rPr lang="en-GB" sz="1800" b="0" i="1">
                          <a:latin typeface="Cambria Math"/>
                          <a:cs typeface="Helvetica"/>
                        </a:rPr>
                        <m:t>      </m:t>
                      </m:r>
                      <m:r>
                        <m:rPr>
                          <m:sty m:val="p"/>
                        </m:rPr>
                        <a:rPr lang="en-GB" sz="1800" b="0" i="0">
                          <a:latin typeface="Cambria Math"/>
                          <a:cs typeface="Helvetica"/>
                        </a:rPr>
                        <m:t>and</m:t>
                      </m:r>
                      <m:r>
                        <m:rPr/>
                        <a:rPr lang="en-GB" sz="1800" b="0" i="1">
                          <a:latin typeface="Cambria Math"/>
                          <a:cs typeface="Helvetica"/>
                        </a:rPr>
                        <m:t>    </m:t>
                      </m:r>
                      <m:r>
                        <m:rPr/>
                        <a:rPr lang="en-GB" sz="1800" b="0" i="1">
                          <a:latin typeface="Cambria Math"/>
                          <a:cs typeface="Helvetica"/>
                        </a:rPr>
                        <m:t>𝑅</m:t>
                      </m:r>
                      <m:r>
                        <m:rPr/>
                        <a:rPr lang="en-GB" sz="1800" b="0" i="1">
                          <a:latin typeface="Cambria Math"/>
                          <a:cs typeface="Helvetica"/>
                        </a:rPr>
                        <m:t>=</m:t>
                      </m:r>
                      <m:f>
                        <m:fPr>
                          <m:ctrlPr>
                            <a:rPr lang="en-GB" sz="1800" b="0" i="1">
                              <a:latin typeface="Cambria Math"/>
                              <a:ea typeface="Cambria Math"/>
                              <a:cs typeface="Helvetica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>
                                  <a:latin typeface="Cambria Math"/>
                                  <a:ea typeface="Cambria Math"/>
                                  <a:cs typeface="Helvetica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GB" i="1">
                                  <a:latin typeface="Cambria Math"/>
                                  <a:cs typeface="Helvetica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/>
                                  <a:cs typeface="Helvetica"/>
                                </a:rPr>
                                <m:t>in</m:t>
                              </m:r>
                            </m:sub>
                          </m:sSub>
                          <m:r>
                            <m:rPr/>
                            <a:rPr lang="en-GB" i="1">
                              <a:latin typeface="Cambria Math"/>
                              <a:cs typeface="Helvetica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/>
                                  <a:ea typeface="Cambria Math"/>
                                  <a:cs typeface="Helvetica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GB" b="0" i="1">
                                  <a:latin typeface="Cambria Math"/>
                                  <a:cs typeface="Helvetica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b="0" i="0">
                                  <a:latin typeface="Cambria Math"/>
                                  <a:cs typeface="Helvetica"/>
                                </a:rPr>
                                <m:t>out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i="1">
                                  <a:latin typeface="Cambria Math"/>
                                  <a:ea typeface="Cambria Math"/>
                                  <a:cs typeface="Helvetica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GB" i="1">
                                  <a:latin typeface="Cambria Math"/>
                                  <a:cs typeface="Helvetica"/>
                                </a:rPr>
                                <m:t>𝑡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/>
                                  <a:cs typeface="Helvetica"/>
                                </a:rPr>
                                <m:t>out</m:t>
                              </m:r>
                            </m:sub>
                          </m:sSub>
                          <m:r>
                            <m:rPr/>
                            <a:rPr lang="en-GB" i="1">
                              <a:latin typeface="Cambria Math"/>
                              <a:cs typeface="Helvetica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/>
                                  <a:ea typeface="Cambria Math"/>
                                  <a:cs typeface="Helvetica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GB" i="1">
                                  <a:latin typeface="Cambria Math"/>
                                  <a:cs typeface="Helvetica"/>
                                </a:rPr>
                                <m:t>𝑡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/>
                                  <a:cs typeface="Helvetica"/>
                                </a:rPr>
                                <m:t>in</m:t>
                              </m:r>
                            </m:sub>
                          </m:sSub>
                        </m:den>
                      </m:f>
                      <m:r>
                        <m:rPr/>
                        <a:rPr lang="en-GB" sz="1800" b="0" i="1">
                          <a:latin typeface="Cambria Math"/>
                          <a:cs typeface="Helvetica"/>
                        </a:rPr>
                        <m:t>=</m:t>
                      </m:r>
                      <m:f>
                        <m:fPr>
                          <m:ctrlPr>
                            <a:rPr lang="en-GB" sz="1800" b="0" i="1">
                              <a:latin typeface="Cambria Math"/>
                              <a:ea typeface="Cambria Math"/>
                              <a:cs typeface="Helvetica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1800" b="0" i="1">
                                  <a:latin typeface="Cambria Math"/>
                                  <a:ea typeface="Cambria Math"/>
                                  <a:cs typeface="Helvetica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GB" sz="1800" b="0" i="1">
                                      <a:latin typeface="Cambria Math"/>
                                      <a:ea typeface="Cambria Math"/>
                                      <a:cs typeface="Helvetica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GB" sz="1800" b="0" i="1">
                                          <a:latin typeface="Cambria Math"/>
                                          <a:ea typeface="Cambria Math"/>
                                          <a:cs typeface="Helvetica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/>
                                        <a:rPr lang="en-GB" i="1">
                                          <a:latin typeface="Cambria Math"/>
                                          <a:cs typeface="Helvetica"/>
                                        </a:rPr>
                                        <m:t>𝑚</m:t>
                                      </m:r>
                                    </m:e>
                                  </m:acc>
                                  <m:sSub>
                                    <m:sSubPr>
                                      <m:ctrlPr>
                                        <a:rPr lang="en-GB" sz="1800" b="0" i="1">
                                          <a:latin typeface="Cambria Math"/>
                                          <a:ea typeface="Cambria Math"/>
                                          <a:cs typeface="Helvetica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/>
                                        <a:rPr lang="en-GB" sz="1800" b="0" i="1">
                                          <a:latin typeface="Cambria Math"/>
                                          <a:cs typeface="Helvetica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GB" sz="1800" b="0" i="0">
                                          <a:latin typeface="Cambria Math"/>
                                          <a:cs typeface="Helvetica"/>
                                        </a:rPr>
                                        <m:t>p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1800" b="0" i="0">
                                  <a:latin typeface="Cambria Math"/>
                                  <a:cs typeface="Helvetica"/>
                                </a:rPr>
                                <m:t>tube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1800" b="0" i="1">
                                  <a:latin typeface="Cambria Math"/>
                                  <a:ea typeface="Cambria Math"/>
                                  <a:cs typeface="Helvetica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GB" sz="1800" b="0" i="1">
                                      <a:latin typeface="Cambria Math"/>
                                      <a:ea typeface="Cambria Math"/>
                                      <a:cs typeface="Helvetica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GB" i="1">
                                          <a:latin typeface="Cambria Math"/>
                                          <a:ea typeface="Cambria Math"/>
                                          <a:cs typeface="Helvetica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/>
                                        <a:rPr lang="en-GB" i="1">
                                          <a:latin typeface="Cambria Math"/>
                                          <a:cs typeface="Helvetica"/>
                                        </a:rPr>
                                        <m:t>𝑚</m:t>
                                      </m:r>
                                    </m:e>
                                  </m:acc>
                                  <m:sSub>
                                    <m:sSubPr>
                                      <m:ctrlPr>
                                        <a:rPr lang="en-GB" i="1">
                                          <a:latin typeface="Cambria Math"/>
                                          <a:ea typeface="Cambria Math"/>
                                          <a:cs typeface="Helvetica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/>
                                        <a:rPr lang="en-GB" i="1">
                                          <a:latin typeface="Cambria Math"/>
                                          <a:cs typeface="Helvetica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GB">
                                          <a:latin typeface="Cambria Math"/>
                                          <a:cs typeface="Helvetica"/>
                                        </a:rPr>
                                        <m:t>p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b="0" i="0">
                                  <a:latin typeface="Cambria Math"/>
                                  <a:cs typeface="Helvetica"/>
                                </a:rPr>
                                <m:t>shell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mc:Choice>
              <mc:Fallback/>
            </mc:AlternateContent>
            <a:endParaRPr lang="en-GB" sz="1800">
              <a:latin typeface="Helvetica"/>
              <a:ea typeface="Times New Roman"/>
              <a:cs typeface="Helvetica"/>
            </a:endParaRPr>
          </a:p>
          <a:p>
            <a:pPr algn="ctr">
              <a:lnSpc>
                <a:spcPct val="110000"/>
              </a:lnSpc>
              <a:spcAft>
                <a:spcPts val="600"/>
              </a:spcAft>
              <a:defRPr/>
            </a:pPr>
            <a:r>
              <a:rPr lang="en-GB">
                <a:latin typeface="Helvetica"/>
                <a:ea typeface="Times New Roman"/>
                <a:cs typeface="Helvetica"/>
              </a:rPr>
              <a:t>Once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b="0" i="1">
                          <a:latin typeface="Cambria Math"/>
                          <a:ea typeface="Times New Roman"/>
                          <a:cs typeface="Helvetica"/>
                        </a:rPr>
                        <m:t>𝑃</m:t>
                      </m:r>
                    </m:oMath>
                  </m:oMathPara>
                </a14:m>
              </mc:Choice>
              <mc:Fallback/>
            </mc:AlternateContent>
            <a:r>
              <a:rPr lang="en-GB" sz="1800">
                <a:latin typeface="Helvetica"/>
                <a:ea typeface="Times New Roman"/>
                <a:cs typeface="Helvetica"/>
              </a:rPr>
              <a:t> and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sz="1800" b="0" i="1">
                          <a:latin typeface="Cambria Math"/>
                          <a:ea typeface="Times New Roman"/>
                          <a:cs typeface="Helvetica"/>
                        </a:rPr>
                        <m:t>𝑅</m:t>
                      </m:r>
                    </m:oMath>
                  </m:oMathPara>
                </a14:m>
              </mc:Choice>
              <mc:Fallback/>
            </mc:AlternateContent>
            <a:r>
              <a:rPr lang="en-GB" sz="1800">
                <a:latin typeface="Helvetica"/>
                <a:ea typeface="Times New Roman"/>
                <a:cs typeface="Helvetica"/>
              </a:rPr>
              <a:t> are known, we can get the corresponding valu</a:t>
            </a:r>
            <a:r>
              <a:rPr lang="en-GB">
                <a:latin typeface="Helvetica"/>
                <a:ea typeface="Times New Roman"/>
                <a:cs typeface="Helvetica"/>
              </a:rPr>
              <a:t>e of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b="0" i="1">
                          <a:latin typeface="Cambria Math"/>
                          <a:ea typeface="Times New Roman"/>
                          <a:cs typeface="Helvetica"/>
                        </a:rPr>
                        <m:t>𝐹</m:t>
                      </m:r>
                    </m:oMath>
                  </m:oMathPara>
                </a14:m>
              </mc:Choice>
              <mc:Fallback/>
            </mc:AlternateContent>
            <a:r>
              <a:rPr lang="en-GB" sz="1800">
                <a:latin typeface="Helvetica"/>
                <a:ea typeface="Times New Roman"/>
                <a:cs typeface="Helvetica"/>
              </a:rPr>
              <a:t> from </a:t>
            </a:r>
            <a:r>
              <a:rPr lang="en-GB" sz="1800" b="1">
                <a:latin typeface="Helvetica"/>
                <a:ea typeface="Times New Roman"/>
                <a:cs typeface="Helvetica"/>
              </a:rPr>
              <a:t>correction charts</a:t>
            </a:r>
            <a:endParaRPr/>
          </a:p>
        </p:txBody>
      </p:sp>
      <p:pic>
        <p:nvPicPr>
          <p:cNvPr id="682980015" name="Picture 6" descr="Chart&#10;&#10;Description automatically generated"/>
          <p:cNvPicPr/>
          <p:nvPr/>
        </p:nvPicPr>
        <p:blipFill>
          <a:blip r:embed="rId4"/>
          <a:stretch/>
        </p:blipFill>
        <p:spPr bwMode="auto">
          <a:xfrm>
            <a:off x="3725545" y="3982720"/>
            <a:ext cx="5731510" cy="243141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</p:pic>
      <p:sp>
        <p:nvSpPr>
          <p:cNvPr id="988471852" name="TextBox 9"/>
          <p:cNvSpPr/>
          <p:nvPr/>
        </p:nvSpPr>
        <p:spPr bwMode="auto">
          <a:xfrm>
            <a:off x="2527300" y="2835275"/>
            <a:ext cx="842644" cy="3733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t"/>
          <a:lstStyle/>
          <a:p>
            <a:pPr algn="r">
              <a:lnSpc>
                <a:spcPct val="110000"/>
              </a:lnSpc>
              <a:defRPr/>
            </a:pPr>
            <a:r>
              <a:rPr cap="none">
                <a:latin typeface="Helvetica"/>
                <a:ea typeface="Times New Roman"/>
                <a:cs typeface="Helvetica"/>
              </a:rPr>
              <a:t>where</a:t>
            </a:r>
            <a:endParaRPr cap="none">
              <a:latin typeface="Helvetica"/>
              <a:ea typeface="Times New Roman"/>
              <a:cs typeface="Helvetic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5675325" name="Title 3"/>
          <p:cNvSpPr>
            <a:spLocks noChangeArrowheads="1" noGrp="1"/>
          </p:cNvSpPr>
          <p:nvPr>
            <p:ph type="ctrTitle"/>
          </p:nvPr>
        </p:nvSpPr>
        <p:spPr bwMode="auto">
          <a:xfrm>
            <a:off x="0" y="360045"/>
            <a:ext cx="12192000" cy="7080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t">
            <a:prstTxWarp prst="textNoShape"/>
          </a:bodyPr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sz="4000" cap="none">
                <a:latin typeface="Helvetica"/>
                <a:ea typeface="Verdana"/>
                <a:cs typeface="Helvetica"/>
              </a:rPr>
              <a:t>LMTD Method</a:t>
            </a:r>
            <a:endParaRPr sz="4000" cap="none">
              <a:latin typeface="Helvetica"/>
              <a:ea typeface="Verdana"/>
              <a:cs typeface="Helvetica"/>
            </a:endParaRPr>
          </a:p>
        </p:txBody>
      </p:sp>
      <p:sp>
        <p:nvSpPr>
          <p:cNvPr id="1957644845" name="Slide Number Placeholder 17"/>
          <p:cNvSpPr>
            <a:spLocks noChangeArrowheads="1" noGrp="1"/>
          </p:cNvSpPr>
          <p:nvPr>
            <p:ph type="sldNum" sz="quarter" idx="12"/>
          </p:nvPr>
        </p:nvSpPr>
        <p:spPr bwMode="auto">
          <a:xfrm>
            <a:off x="8999855" y="6356350"/>
            <a:ext cx="2743200" cy="365125"/>
          </a:xfrm>
        </p:spPr>
        <p:txBody>
          <a:bodyPr/>
          <a:lstStyle/>
          <a:p>
            <a:pPr>
              <a:defRPr/>
            </a:pPr>
            <a:fld id="{270C4915-5BCA-59BF-84B4-ADEA07FA72F8}" type="slidenum">
              <a:rPr sz="1600" cap="none">
                <a:solidFill>
                  <a:srgbClr val="7F7F7F"/>
                </a:solidFill>
                <a:latin typeface="Helvetica"/>
                <a:ea typeface="Calibri"/>
                <a:cs typeface="Helvetica"/>
              </a:rPr>
              <a:t>8</a:t>
            </a:fld>
            <a:endParaRPr sz="1600" cap="none">
              <a:solidFill>
                <a:srgbClr val="7F7F7F"/>
              </a:solidFill>
              <a:latin typeface="Helvetica"/>
              <a:ea typeface="Calibri"/>
              <a:cs typeface="Helvetica"/>
            </a:endParaRPr>
          </a:p>
        </p:txBody>
      </p:sp>
      <p:pic>
        <p:nvPicPr>
          <p:cNvPr id="2116192612" name="Picture 8" descr="A picture containing text, clipart&#10;&#10;Description automatically generated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48945" y="360045"/>
            <a:ext cx="1967865" cy="53975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739950469" name="TextBox 2"/>
          <p:cNvSpPr/>
          <p:nvPr/>
        </p:nvSpPr>
        <p:spPr bwMode="auto">
          <a:xfrm>
            <a:off x="1056005" y="1337945"/>
            <a:ext cx="10079990" cy="40068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t"/>
          <a:lstStyle/>
          <a:p>
            <a:pPr algn="ctr">
              <a:spcAft>
                <a:spcPts val="600"/>
              </a:spcAft>
              <a:defRPr/>
            </a:pPr>
            <a:r>
              <a:rPr sz="2000" b="1" cap="none">
                <a:solidFill>
                  <a:srgbClr val="FF9900"/>
                </a:solidFill>
                <a:latin typeface="Helvetica"/>
                <a:ea typeface="Calibri"/>
                <a:cs typeface="Calibri"/>
              </a:rPr>
              <a:t>Typical workflow for problems involving the LMTD method:</a:t>
            </a:r>
            <a:endParaRPr sz="2000" b="1" cap="none">
              <a:solidFill>
                <a:srgbClr val="FF9900"/>
              </a:solidFill>
              <a:latin typeface="Helvetica"/>
              <a:ea typeface="Calibri"/>
              <a:cs typeface="Calibri"/>
            </a:endParaRPr>
          </a:p>
        </p:txBody>
      </p:sp>
      <p:sp>
        <p:nvSpPr>
          <p:cNvPr id="808262633" name="Slide Number Placeholder 17"/>
          <p:cNvSpPr/>
          <p:nvPr/>
        </p:nvSpPr>
        <p:spPr bwMode="auto">
          <a:xfrm>
            <a:off x="448945" y="6356350"/>
            <a:ext cx="4434840" cy="365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ctr"/>
          <a:lstStyle>
            <a:lvl1pPr marL="0" algn="r" defTabSz="457200">
              <a:defRPr sz="1200" cap="none">
                <a:solidFill>
                  <a:srgbClr val="8C8C8C"/>
                </a:solidFill>
                <a:latin typeface="Calibri"/>
                <a:ea typeface="Calibri"/>
                <a:cs typeface="Calibri"/>
              </a:defRPr>
            </a:lvl1pPr>
            <a:lvl2pPr marL="4572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9144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3716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8288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2860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7432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2004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6576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/>
            </a:pPr>
            <a:r>
              <a:rPr sz="1600" cap="none">
                <a:solidFill>
                  <a:srgbClr val="7F7F7F"/>
                </a:solidFill>
                <a:latin typeface="Helvetica"/>
                <a:ea typeface="Calibri"/>
                <a:cs typeface="Helvetica"/>
              </a:rPr>
              <a:t>EX3030/EM40JN</a:t>
            </a:r>
            <a:endParaRPr sz="1600" cap="none">
              <a:solidFill>
                <a:srgbClr val="7F7F7F"/>
              </a:solidFill>
              <a:latin typeface="Helvetica"/>
              <a:ea typeface="Calibri"/>
              <a:cs typeface="Helvetica"/>
            </a:endParaRPr>
          </a:p>
        </p:txBody>
      </p:sp>
      <p:sp>
        <p:nvSpPr>
          <p:cNvPr id="1840315829" name="TextBox 4"/>
          <p:cNvSpPr/>
          <p:nvPr/>
        </p:nvSpPr>
        <p:spPr bwMode="auto">
          <a:xfrm>
            <a:off x="1056005" y="2014855"/>
            <a:ext cx="10079990" cy="397700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>
                <a:solidFill>
                  <a:schemeClr val="tx1"/>
                </a:solidFill>
                <a:latin typeface="Helvetica"/>
                <a:cs typeface="Helvetica"/>
              </a:rPr>
              <a:t>A typical task with the LMTD method is to select a heat exchanger that will meet the prescribed heat transfer requirements. Workflow may look something like:</a:t>
            </a:r>
            <a:endParaRPr/>
          </a:p>
          <a:p>
            <a:pPr marL="457200" indent="-457200"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defRPr/>
            </a:pPr>
            <a:r>
              <a:rPr lang="en-GB">
                <a:latin typeface="Helvetica"/>
                <a:cs typeface="Helvetica"/>
              </a:rPr>
              <a:t>Select type of heat exchanger suitable for the application (e.g. shell-and-tube, etc.)</a:t>
            </a:r>
            <a:endParaRPr/>
          </a:p>
          <a:p>
            <a:pPr marL="457200" indent="-457200"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defRPr/>
            </a:pPr>
            <a:r>
              <a:rPr lang="en-GB">
                <a:solidFill>
                  <a:schemeClr val="tx1"/>
                </a:solidFill>
                <a:latin typeface="Helvetica"/>
                <a:cs typeface="Helvetica"/>
              </a:rPr>
              <a:t>Determine any unknown inlet or outlet temperatures and the heat transfer rate usin</a:t>
            </a:r>
            <a:r>
              <a:rPr lang="en-GB">
                <a:latin typeface="Helvetica"/>
                <a:cs typeface="Helvetica"/>
              </a:rPr>
              <a:t>g an energy balance</a:t>
            </a:r>
            <a:endParaRPr/>
          </a:p>
          <a:p>
            <a:pPr marL="457200" indent="-457200"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defRPr/>
            </a:pPr>
            <a:r>
              <a:rPr lang="en-GB">
                <a:solidFill>
                  <a:schemeClr val="tx1"/>
                </a:solidFill>
                <a:latin typeface="Helvetica"/>
                <a:cs typeface="Helvetica"/>
              </a:rPr>
              <a:t>Calculate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GB" b="0" i="0">
                          <a:solidFill>
                            <a:schemeClr val="tx1"/>
                          </a:solidFill>
                          <a:latin typeface="Cambria Math"/>
                        </a:rPr>
                        <m:t>Δ</m:t>
                      </m:r>
                      <m:sSub>
                        <m:sSubPr>
                          <m:ctrlPr>
                            <a:rPr lang="en-GB" b="0" i="1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GB" b="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b="0" i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m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en-GB">
                <a:solidFill>
                  <a:schemeClr val="tx1"/>
                </a:solidFill>
                <a:latin typeface="Helvetica"/>
                <a:cs typeface="Helvetica"/>
              </a:rPr>
              <a:t> (and the correction factor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b="0" i="1">
                          <a:solidFill>
                            <a:schemeClr val="tx1"/>
                          </a:solidFill>
                          <a:latin typeface="Cambria Math"/>
                        </a:rPr>
                        <m:t>𝐹</m:t>
                      </m:r>
                    </m:oMath>
                  </m:oMathPara>
                </a14:m>
              </mc:Choice>
              <mc:Fallback/>
            </mc:AlternateContent>
            <a:r>
              <a:rPr lang="en-GB">
                <a:solidFill>
                  <a:schemeClr val="tx1"/>
                </a:solidFill>
                <a:latin typeface="Helvetica"/>
                <a:cs typeface="Helvetica"/>
              </a:rPr>
              <a:t> if necessary)</a:t>
            </a:r>
            <a:endParaRPr/>
          </a:p>
          <a:p>
            <a:pPr marL="457200" indent="-457200"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defRPr/>
            </a:pPr>
            <a:r>
              <a:rPr lang="en-GB">
                <a:latin typeface="Helvetica"/>
                <a:cs typeface="Helvetica"/>
              </a:rPr>
              <a:t>Obtain (select or calculate) the value of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b="0" i="1">
                          <a:latin typeface="Cambria Math"/>
                        </a:rPr>
                        <m:t>𝑈</m:t>
                      </m:r>
                    </m:oMath>
                  </m:oMathPara>
                </a14:m>
              </mc:Choice>
              <mc:Fallback/>
            </mc:AlternateContent>
            <a:r>
              <a:rPr lang="en-GB">
                <a:solidFill>
                  <a:schemeClr val="tx1"/>
                </a:solidFill>
                <a:latin typeface="Helvetica"/>
                <a:cs typeface="Helvetica"/>
              </a:rPr>
              <a:t>, the overall heat transfer coefficient</a:t>
            </a:r>
            <a:endParaRPr/>
          </a:p>
          <a:p>
            <a:pPr marL="457200" indent="-457200"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defRPr/>
            </a:pPr>
            <a:r>
              <a:rPr lang="en-GB">
                <a:solidFill>
                  <a:schemeClr val="tx1"/>
                </a:solidFill>
                <a:latin typeface="Helvetica"/>
                <a:cs typeface="Helvetica"/>
              </a:rPr>
              <a:t>Calculate the required heat transfer surface area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b="0" i="1">
                          <a:solidFill>
                            <a:schemeClr val="tx1"/>
                          </a:solidFill>
                          <a:latin typeface="Cambria Math"/>
                          <a:cs typeface="Helvetica"/>
                        </a:rPr>
                        <m:t>𝐴</m:t>
                      </m:r>
                    </m:oMath>
                  </m:oMathPara>
                </a14:m>
              </mc:Choice>
              <mc:Fallback/>
            </mc:AlternateContent>
            <a:endParaRPr lang="en-GB">
              <a:solidFill>
                <a:schemeClr val="tx1"/>
              </a:solidFill>
              <a:latin typeface="Helvetica"/>
              <a:cs typeface="Helvetica"/>
            </a:endParaRPr>
          </a:p>
          <a:p>
            <a:pPr marL="457200" indent="-457200"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defRPr/>
            </a:pPr>
            <a:r>
              <a:rPr lang="en-GB">
                <a:latin typeface="Helvetica"/>
                <a:cs typeface="Helvetica"/>
              </a:rPr>
              <a:t>Select available heat exchanger model with size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b="0" i="1">
                          <a:latin typeface="Cambria Math"/>
                          <a:cs typeface="Helvetica"/>
                        </a:rPr>
                        <m:t>≥</m:t>
                      </m:r>
                    </m:oMath>
                  </m:oMathPara>
                </a14:m>
              </mc:Choice>
              <mc:Fallback/>
            </mc:AlternateContent>
            <a:r>
              <a:rPr lang="en-GB">
                <a:solidFill>
                  <a:schemeClr val="tx1"/>
                </a:solidFill>
                <a:latin typeface="Helvetica"/>
                <a:cs typeface="Helvetica"/>
              </a:rPr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b="0" i="1">
                          <a:solidFill>
                            <a:schemeClr val="tx1"/>
                          </a:solidFill>
                          <a:latin typeface="Cambria Math"/>
                          <a:cs typeface="Helvetica"/>
                        </a:rPr>
                        <m:t>𝐴</m:t>
                      </m:r>
                    </m:oMath>
                  </m:oMathPara>
                </a14:m>
              </mc:Choice>
              <mc:Fallback/>
            </mc:AlternateContent>
            <a:endParaRPr lang="en-GB">
              <a:solidFill>
                <a:schemeClr val="tx1"/>
              </a:solidFill>
              <a:latin typeface="Helvetica"/>
              <a:cs typeface="Helvetic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2642547" name="Title 3"/>
          <p:cNvSpPr>
            <a:spLocks noChangeArrowheads="1" noGrp="1"/>
          </p:cNvSpPr>
          <p:nvPr>
            <p:ph type="ctrTitle"/>
          </p:nvPr>
        </p:nvSpPr>
        <p:spPr bwMode="auto">
          <a:xfrm>
            <a:off x="0" y="360045"/>
            <a:ext cx="12192000" cy="7080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t">
            <a:prstTxWarp prst="textNoShape"/>
          </a:bodyPr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sz="4000" cap="none">
                <a:latin typeface="Helvetica"/>
                <a:ea typeface="Verdana"/>
                <a:cs typeface="Helvetica"/>
              </a:rPr>
              <a:t>Worked Example 1</a:t>
            </a:r>
            <a:endParaRPr sz="4000" cap="none">
              <a:latin typeface="Helvetica"/>
              <a:ea typeface="Verdana"/>
              <a:cs typeface="Helvetica"/>
            </a:endParaRPr>
          </a:p>
        </p:txBody>
      </p:sp>
      <p:sp>
        <p:nvSpPr>
          <p:cNvPr id="169039981" name="Slide Number Placeholder 17"/>
          <p:cNvSpPr>
            <a:spLocks noChangeArrowheads="1" noGrp="1"/>
          </p:cNvSpPr>
          <p:nvPr>
            <p:ph type="sldNum" sz="quarter" idx="12"/>
          </p:nvPr>
        </p:nvSpPr>
        <p:spPr bwMode="auto">
          <a:xfrm>
            <a:off x="8999855" y="6356350"/>
            <a:ext cx="2743200" cy="365125"/>
          </a:xfrm>
        </p:spPr>
        <p:txBody>
          <a:bodyPr/>
          <a:lstStyle/>
          <a:p>
            <a:pPr>
              <a:defRPr/>
            </a:pPr>
            <a:fld id="{0DA36C6C-22E0-F69A-AE1B-D4CF22555881}" type="slidenum">
              <a:rPr sz="1600" cap="none">
                <a:solidFill>
                  <a:srgbClr val="7F7F7F"/>
                </a:solidFill>
                <a:latin typeface="Helvetica"/>
                <a:ea typeface="Calibri"/>
                <a:cs typeface="Helvetica"/>
              </a:rPr>
              <a:t>9</a:t>
            </a:fld>
            <a:endParaRPr sz="1600" cap="none">
              <a:solidFill>
                <a:srgbClr val="7F7F7F"/>
              </a:solidFill>
              <a:latin typeface="Helvetica"/>
              <a:ea typeface="Calibri"/>
              <a:cs typeface="Helvetica"/>
            </a:endParaRPr>
          </a:p>
        </p:txBody>
      </p:sp>
      <p:pic>
        <p:nvPicPr>
          <p:cNvPr id="752167007" name="Picture 8" descr="A picture containing text, clipart&#10;&#10;Description automatically generated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48945" y="360045"/>
            <a:ext cx="1967865" cy="53975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063339620" name="TextBox 1"/>
          <p:cNvSpPr/>
          <p:nvPr/>
        </p:nvSpPr>
        <p:spPr bwMode="auto">
          <a:xfrm>
            <a:off x="1056005" y="2259330"/>
            <a:ext cx="10079990" cy="3943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t"/>
          <a:lstStyle/>
          <a:p>
            <a:pPr marL="285750" indent="-285750"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  <a:defRPr/>
            </a:pPr>
            <a:endParaRPr cap="none">
              <a:solidFill>
                <a:srgbClr val="D0CECE"/>
              </a:solidFill>
              <a:latin typeface="Helvetica"/>
              <a:ea typeface="Calibri"/>
              <a:cs typeface="Calibri"/>
            </a:endParaRPr>
          </a:p>
        </p:txBody>
      </p:sp>
      <p:sp>
        <p:nvSpPr>
          <p:cNvPr id="1682005744" name="Slide Number Placeholder 17"/>
          <p:cNvSpPr/>
          <p:nvPr/>
        </p:nvSpPr>
        <p:spPr bwMode="auto">
          <a:xfrm>
            <a:off x="448945" y="6356350"/>
            <a:ext cx="4434840" cy="365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ctr"/>
          <a:lstStyle>
            <a:lvl1pPr marL="0" algn="r" defTabSz="457200">
              <a:defRPr sz="1200" cap="none">
                <a:solidFill>
                  <a:srgbClr val="8C8C8C"/>
                </a:solidFill>
                <a:latin typeface="Calibri"/>
                <a:ea typeface="Calibri"/>
                <a:cs typeface="Calibri"/>
              </a:defRPr>
            </a:lvl1pPr>
            <a:lvl2pPr marL="4572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9144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3716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8288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2860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7432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2004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6576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/>
            </a:pPr>
            <a:r>
              <a:rPr sz="1600" cap="none">
                <a:solidFill>
                  <a:srgbClr val="7F7F7F"/>
                </a:solidFill>
                <a:latin typeface="Helvetica"/>
                <a:ea typeface="Calibri"/>
                <a:cs typeface="Helvetica"/>
              </a:rPr>
              <a:t>EX3030/EM40JN</a:t>
            </a:r>
            <a:endParaRPr sz="1600" cap="none">
              <a:solidFill>
                <a:srgbClr val="7F7F7F"/>
              </a:solidFill>
              <a:latin typeface="Helvetica"/>
              <a:ea typeface="Calibri"/>
              <a:cs typeface="Helvetica"/>
            </a:endParaRPr>
          </a:p>
        </p:txBody>
      </p:sp>
      <p:grpSp>
        <p:nvGrpSpPr>
          <p:cNvPr id="1738856" name="Group 22"/>
          <p:cNvGrpSpPr/>
          <p:nvPr/>
        </p:nvGrpSpPr>
        <p:grpSpPr bwMode="auto">
          <a:xfrm>
            <a:off x="3651885" y="4328795"/>
            <a:ext cx="4888230" cy="2247900"/>
            <a:chOff x="3651885" y="4328795"/>
            <a:chExt cx="4888230" cy="2247900"/>
          </a:xfrm>
        </p:grpSpPr>
        <p:pic>
          <p:nvPicPr>
            <p:cNvPr id="12" name="Picture 13"/>
            <p:cNvPicPr>
              <a:picLocks noChangeAspect="1"/>
            </p:cNvPicPr>
            <p:nvPr/>
          </p:nvPicPr>
          <p:blipFill>
            <a:blip r:embed="rId4"/>
            <a:srcRect l="0" t="58920" r="51380" b="13670"/>
            <a:stretch/>
          </p:blipFill>
          <p:spPr bwMode="auto">
            <a:xfrm>
              <a:off x="3856990" y="4328795"/>
              <a:ext cx="4625975" cy="2130425"/>
            </a:xfrm>
            <a:prstGeom prst="rect">
              <a:avLst/>
            </a:prstGeom>
            <a:noFill/>
            <a:ln>
              <a:noFill/>
            </a:ln>
            <a:effectLst/>
          </p:spPr>
        </p:pic>
        <p:sp>
          <p:nvSpPr>
            <p:cNvPr id="11" name="TextBox 16"/>
            <p:cNvSpPr/>
            <p:nvPr/>
          </p:nvSpPr>
          <p:spPr bwMode="auto">
            <a:xfrm>
              <a:off x="7921625" y="4666615"/>
              <a:ext cx="618490" cy="64643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899" anchor="t"/>
            <a:lstStyle/>
            <a:p>
              <a:pPr algn="ctr">
                <a:defRPr/>
              </a:pPr>
              <a:r>
                <a:rPr cap="none">
                  <a:solidFill>
                    <a:srgbClr val="FF3399"/>
                  </a:solidFill>
                  <a:latin typeface="Helvetica"/>
                  <a:ea typeface="Times New Roman"/>
                  <a:cs typeface="Helvetica"/>
                </a:rPr>
                <a:t>Hot out</a:t>
              </a:r>
              <a:endParaRPr cap="none">
                <a:solidFill>
                  <a:srgbClr val="FF3399"/>
                </a:solidFill>
              </a:endParaRPr>
            </a:p>
          </p:txBody>
        </p:sp>
        <p:sp>
          <p:nvSpPr>
            <p:cNvPr id="10" name="TextBox 18"/>
            <p:cNvSpPr/>
            <p:nvPr/>
          </p:nvSpPr>
          <p:spPr bwMode="auto">
            <a:xfrm>
              <a:off x="3651885" y="4678680"/>
              <a:ext cx="727710" cy="64643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899" anchor="t"/>
            <a:lstStyle/>
            <a:p>
              <a:pPr algn="ctr">
                <a:defRPr/>
              </a:pPr>
              <a:r>
                <a:rPr cap="none">
                  <a:solidFill>
                    <a:srgbClr val="FF3399"/>
                  </a:solidFill>
                  <a:latin typeface="Helvetica"/>
                  <a:ea typeface="Times New Roman"/>
                  <a:cs typeface="Helvetica"/>
                </a:rPr>
                <a:t>Hot in</a:t>
              </a:r>
              <a:endParaRPr cap="none">
                <a:solidFill>
                  <a:srgbClr val="FF3399"/>
                </a:solidFill>
              </a:endParaRPr>
            </a:p>
          </p:txBody>
        </p:sp>
        <p:sp>
          <p:nvSpPr>
            <p:cNvPr id="9" name="TextBox 15"/>
            <p:cNvSpPr/>
            <p:nvPr/>
          </p:nvSpPr>
          <p:spPr bwMode="auto">
            <a:xfrm>
              <a:off x="4979670" y="6207760"/>
              <a:ext cx="894080" cy="3689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899" anchor="t"/>
            <a:lstStyle/>
            <a:p>
              <a:pPr>
                <a:defRPr/>
              </a:pPr>
              <a:r>
                <a:rPr cap="none">
                  <a:latin typeface="Helvetica"/>
                  <a:ea typeface="Times New Roman"/>
                  <a:cs typeface="Helvetica"/>
                </a:rPr>
                <a:t>Cold in</a:t>
              </a:r>
              <a:endParaRPr cap="none"/>
            </a:p>
          </p:txBody>
        </p:sp>
        <p:sp>
          <p:nvSpPr>
            <p:cNvPr id="8" name="TextBox 21"/>
            <p:cNvSpPr/>
            <p:nvPr/>
          </p:nvSpPr>
          <p:spPr bwMode="auto">
            <a:xfrm>
              <a:off x="6359525" y="4328795"/>
              <a:ext cx="1066165" cy="3689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899" anchor="t"/>
            <a:lstStyle/>
            <a:p>
              <a:pPr>
                <a:defRPr/>
              </a:pPr>
              <a:r>
                <a:rPr cap="none">
                  <a:latin typeface="Helvetica"/>
                  <a:ea typeface="Times New Roman"/>
                  <a:cs typeface="Helvetica"/>
                </a:rPr>
                <a:t>Cold out</a:t>
              </a:r>
              <a:endParaRPr cap="none"/>
            </a:p>
          </p:txBody>
        </p:sp>
      </p:grpSp>
      <p:sp>
        <p:nvSpPr>
          <p:cNvPr id="1215640207" name="TextBox 2"/>
          <p:cNvSpPr/>
          <p:nvPr/>
        </p:nvSpPr>
        <p:spPr bwMode="auto">
          <a:xfrm>
            <a:off x="1056005" y="1874520"/>
            <a:ext cx="10079990" cy="224853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US" sz="1800">
                <a:latin typeface="Helvetica"/>
                <a:ea typeface="Times New Roman"/>
                <a:cs typeface="Helvetica"/>
              </a:rPr>
              <a:t>A double-pipe parallel-flow heat exchanger is to heat water (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GB" sz="1800" i="1">
                              <a:latin typeface="Cambria Math"/>
                              <a:ea typeface="Times New Roman"/>
                              <a:cs typeface="Calibri"/>
                            </a:rPr>
                          </m:ctrlPr>
                        </m:sSubPr>
                        <m:e>
                          <m:r>
                            <m:rPr/>
                            <a:rPr lang="en-GB" sz="1800" i="1">
                              <a:latin typeface="Cambria Math"/>
                              <a:ea typeface="Times New Roman"/>
                              <a:cs typeface="Calibri"/>
                            </a:rPr>
                            <m:t>𝐶</m:t>
                          </m:r>
                        </m:e>
                        <m:sub>
                          <m:r>
                            <m:rPr/>
                            <a:rPr lang="en-GB" sz="1800" i="1">
                              <a:latin typeface="Cambria Math"/>
                              <a:ea typeface="Times New Roman"/>
                              <a:cs typeface="Calibri"/>
                            </a:rPr>
                            <m:t>𝑝</m:t>
                          </m:r>
                          <m:r>
                            <m:rPr/>
                            <a:rPr lang="en-GB" sz="1800">
                              <a:latin typeface="Cambria Math"/>
                              <a:ea typeface="Times New Roman"/>
                              <a:cs typeface="Calibri"/>
                            </a:rPr>
                            <m:t>,</m:t>
                          </m:r>
                          <m:r>
                            <m:rPr/>
                            <a:rPr lang="en-GB" sz="1800" i="1">
                              <a:latin typeface="Cambria Math"/>
                              <a:ea typeface="Times New Roman"/>
                              <a:cs typeface="Calibri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en-US" sz="1800">
                <a:latin typeface="Helvetica"/>
                <a:ea typeface="Times New Roman"/>
                <a:cs typeface="Helvetica"/>
              </a:rPr>
              <a:t> = 4180 J/kg·°C) from 25°C to 60°C at a rate of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acc>
                        <m:accPr>
                          <m:chr m:val="̇"/>
                          <m:ctrlPr>
                            <a:rPr lang="en-GB" sz="1800" i="1">
                              <a:latin typeface="Cambria Math"/>
                              <a:ea typeface="Times New Roman"/>
                              <a:cs typeface="Calibri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sz="1800" i="1">
                                  <a:latin typeface="Cambria Math"/>
                                  <a:ea typeface="Times New Roman"/>
                                  <a:cs typeface="Calibri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GB" sz="1800" i="1">
                                  <a:latin typeface="Cambria Math"/>
                                  <a:ea typeface="Times New Roman"/>
                                  <a:cs typeface="Calibri"/>
                                </a:rPr>
                                <m:t>𝑚</m:t>
                              </m:r>
                            </m:e>
                            <m:sub>
                              <m:r>
                                <m:rPr/>
                                <a:rPr lang="en-GB" sz="1800" i="1">
                                  <a:latin typeface="Cambria Math"/>
                                  <a:ea typeface="Times New Roman"/>
                                  <a:cs typeface="Calibri"/>
                                </a:rPr>
                                <m:t>𝑐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</mc:Choice>
              <mc:Fallback/>
            </mc:AlternateContent>
            <a:r>
              <a:rPr lang="en-US" sz="1800">
                <a:latin typeface="Helvetica"/>
                <a:ea typeface="Times New Roman"/>
                <a:cs typeface="Helvetica"/>
              </a:rPr>
              <a:t> = 0.2 kg/s. The heating is to be accomplished by geothermal water (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GB" sz="1800" i="1">
                              <a:latin typeface="Cambria Math"/>
                              <a:ea typeface="Times New Roman"/>
                              <a:cs typeface="Calibri"/>
                            </a:rPr>
                          </m:ctrlPr>
                        </m:sSubPr>
                        <m:e>
                          <m:r>
                            <m:rPr/>
                            <a:rPr lang="en-GB" sz="1800" i="1">
                              <a:latin typeface="Cambria Math"/>
                              <a:ea typeface="Times New Roman"/>
                              <a:cs typeface="Calibri"/>
                            </a:rPr>
                            <m:t>𝐶</m:t>
                          </m:r>
                        </m:e>
                        <m:sub>
                          <m:r>
                            <m:rPr/>
                            <a:rPr lang="en-GB" sz="1800" i="1">
                              <a:latin typeface="Cambria Math"/>
                              <a:ea typeface="Times New Roman"/>
                              <a:cs typeface="Calibri"/>
                            </a:rPr>
                            <m:t>𝑝</m:t>
                          </m:r>
                          <m:r>
                            <m:rPr/>
                            <a:rPr lang="en-GB" sz="1800">
                              <a:latin typeface="Cambria Math"/>
                              <a:ea typeface="Times New Roman"/>
                              <a:cs typeface="Calibri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GB" sz="1800">
                              <a:latin typeface="Cambria Math"/>
                              <a:ea typeface="Times New Roman"/>
                              <a:cs typeface="Calibri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en-US" sz="1800">
                <a:latin typeface="Helvetica"/>
                <a:ea typeface="Times New Roman"/>
                <a:cs typeface="Helvetica"/>
              </a:rPr>
              <a:t> = 4,310 J/kg·°C) available at 140°C at a mass flow rate of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acc>
                        <m:accPr>
                          <m:chr m:val="̇"/>
                          <m:ctrlPr>
                            <a:rPr lang="en-GB" sz="1800" i="1">
                              <a:latin typeface="Cambria Math"/>
                              <a:ea typeface="Times New Roman"/>
                              <a:cs typeface="Calibri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sz="1800" i="1">
                                  <a:latin typeface="Cambria Math"/>
                                  <a:ea typeface="Times New Roman"/>
                                  <a:cs typeface="Calibri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GB" sz="1800" i="1">
                                  <a:latin typeface="Cambria Math"/>
                                  <a:ea typeface="Times New Roman"/>
                                  <a:cs typeface="Calibri"/>
                                </a:rPr>
                                <m:t>𝑚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1800">
                                  <a:latin typeface="Cambria Math"/>
                                  <a:ea typeface="Times New Roman"/>
                                  <a:cs typeface="Calibri"/>
                                </a:rPr>
                                <m:t>h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</mc:Choice>
              <mc:Fallback/>
            </mc:AlternateContent>
            <a:r>
              <a:rPr lang="en-US" sz="1800">
                <a:latin typeface="Helvetica"/>
                <a:ea typeface="Times New Roman"/>
                <a:cs typeface="Helvetica"/>
              </a:rPr>
              <a:t> = 0.3 kg/s. The inner tube is thin-walled and has a diameter of 8 mm and the overall heat transfer coefficient of the heat exchanger is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sz="1800" i="1">
                          <a:latin typeface="Cambria Math"/>
                          <a:ea typeface="Times New Roman"/>
                          <a:cs typeface="Calibri"/>
                        </a:rPr>
                        <m:t>𝑈</m:t>
                      </m:r>
                    </m:oMath>
                  </m:oMathPara>
                </a14:m>
              </mc:Choice>
              <mc:Fallback/>
            </mc:AlternateContent>
            <a:r>
              <a:rPr lang="en-US" sz="1800">
                <a:latin typeface="Helvetica"/>
                <a:ea typeface="Times New Roman"/>
                <a:cs typeface="Helvetica"/>
              </a:rPr>
              <a:t> = 550 W/m</a:t>
            </a:r>
            <a:r>
              <a:rPr lang="en-US" sz="1800" baseline="30000">
                <a:latin typeface="Helvetica"/>
                <a:ea typeface="Times New Roman"/>
                <a:cs typeface="Helvetica"/>
              </a:rPr>
              <a:t>2</a:t>
            </a:r>
            <a:r>
              <a:rPr lang="en-US" sz="1800">
                <a:latin typeface="Helvetica"/>
                <a:ea typeface="Times New Roman"/>
                <a:cs typeface="Helvetica"/>
              </a:rPr>
              <a:t>·°C. </a:t>
            </a:r>
            <a:endParaRPr lang="en-GB" sz="1800">
              <a:latin typeface="Helvetica"/>
              <a:ea typeface="Times New Roman"/>
              <a:cs typeface="Helvetica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1800">
                <a:latin typeface="Helvetica"/>
                <a:ea typeface="Times New Roman"/>
                <a:cs typeface="Helvetica"/>
              </a:rPr>
              <a:t> </a:t>
            </a:r>
            <a:endParaRPr lang="en-GB" sz="1800">
              <a:latin typeface="Helvetica"/>
              <a:ea typeface="Times New Roman"/>
              <a:cs typeface="Helvetica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1800">
                <a:latin typeface="Helvetica"/>
                <a:ea typeface="Times New Roman"/>
                <a:cs typeface="Helvetica"/>
              </a:rPr>
              <a:t>Determine the length of the heat exchanger required to achieve the desired heating.</a:t>
            </a:r>
            <a:endParaRPr lang="en-GB" sz="1800">
              <a:latin typeface="Helvetica"/>
              <a:ea typeface="Times New Roman"/>
              <a:cs typeface="Helvetica"/>
            </a:endParaRPr>
          </a:p>
        </p:txBody>
      </p:sp>
      <p:sp>
        <p:nvSpPr>
          <p:cNvPr id="1291891277" name="TextBox 23"/>
          <p:cNvSpPr/>
          <p:nvPr/>
        </p:nvSpPr>
        <p:spPr bwMode="auto">
          <a:xfrm>
            <a:off x="1056005" y="1269365"/>
            <a:ext cx="10079990" cy="4000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t"/>
          <a:lstStyle/>
          <a:p>
            <a:pPr algn="ctr">
              <a:spcAft>
                <a:spcPts val="600"/>
              </a:spcAft>
              <a:defRPr/>
            </a:pPr>
            <a:r>
              <a:rPr sz="2000" b="1" cap="none">
                <a:solidFill>
                  <a:srgbClr val="FF9900"/>
                </a:solidFill>
                <a:latin typeface="Helvetica"/>
                <a:ea typeface="Calibri"/>
                <a:cs typeface="Calibri"/>
              </a:rPr>
              <a:t>LMTD Method</a:t>
            </a:r>
            <a:endParaRPr sz="2000" b="1" cap="none">
              <a:solidFill>
                <a:srgbClr val="FF9900"/>
              </a:solidFill>
              <a:latin typeface="Helvetica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8255665" name="Title 1"/>
          <p:cNvSpPr>
            <a:spLocks noChangeArrowheads="1"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Solution</a:t>
            </a:r>
            <a:endParaRPr/>
          </a:p>
        </p:txBody>
      </p:sp>
      <p:sp>
        <p:nvSpPr>
          <p:cNvPr id="1077103837" name="Date Placeholder 3"/>
          <p:cNvSpPr>
            <a:spLocks noChangeArrowheads="1"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24429C4-AA8A-8478-6374-4EADA00B64C6}" type="datetime1">
              <a:rPr cap="none"/>
              <a:t/>
            </a:fld>
            <a:endParaRPr cap="none"/>
          </a:p>
        </p:txBody>
      </p:sp>
      <p:sp>
        <p:nvSpPr>
          <p:cNvPr id="702323480" name="Slide Number Placeholder 5"/>
          <p:cNvSpPr>
            <a:spLocks noChangeArrowheads="1"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321DDE0-E8E7-4CDC-950A-75897736D57D}" type="slidenum">
              <a:rPr cap="none"/>
              <a:t/>
            </a:fld>
            <a:endParaRPr cap="none"/>
          </a:p>
        </p:txBody>
      </p:sp>
      <p:sp>
        <p:nvSpPr>
          <p:cNvPr id="1791551218" name=""/>
          <p:cNvSpPr txBox="1"/>
          <p:nvPr/>
        </p:nvSpPr>
        <p:spPr bwMode="auto">
          <a:xfrm flipH="0" flipV="0">
            <a:off x="1214463" y="1564821"/>
            <a:ext cx="1016306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See linked notes on site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3263226" name="Title 3"/>
          <p:cNvSpPr>
            <a:spLocks noChangeArrowheads="1" noGrp="1"/>
          </p:cNvSpPr>
          <p:nvPr>
            <p:ph type="ctrTitle"/>
          </p:nvPr>
        </p:nvSpPr>
        <p:spPr bwMode="auto">
          <a:xfrm>
            <a:off x="0" y="360045"/>
            <a:ext cx="12192000" cy="7080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t">
            <a:prstTxWarp prst="textNoShape"/>
          </a:bodyPr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sz="4000" cap="none">
                <a:latin typeface="Helvetica"/>
                <a:ea typeface="Verdana"/>
                <a:cs typeface="Helvetica"/>
              </a:rPr>
              <a:t>ξ-NTU Method </a:t>
            </a:r>
            <a:endParaRPr sz="4000" cap="none">
              <a:latin typeface="Helvetica"/>
              <a:ea typeface="Verdana"/>
              <a:cs typeface="Helvetica"/>
            </a:endParaRPr>
          </a:p>
        </p:txBody>
      </p:sp>
      <p:sp>
        <p:nvSpPr>
          <p:cNvPr id="1253099214" name="Slide Number Placeholder 17"/>
          <p:cNvSpPr>
            <a:spLocks noChangeArrowheads="1" noGrp="1"/>
          </p:cNvSpPr>
          <p:nvPr>
            <p:ph type="sldNum" sz="quarter" idx="12"/>
          </p:nvPr>
        </p:nvSpPr>
        <p:spPr bwMode="auto">
          <a:xfrm>
            <a:off x="8999855" y="6356350"/>
            <a:ext cx="2743200" cy="365125"/>
          </a:xfrm>
        </p:spPr>
        <p:txBody>
          <a:bodyPr/>
          <a:lstStyle/>
          <a:p>
            <a:pPr>
              <a:defRPr/>
            </a:pPr>
            <a:fld id="{4202A794-DAAF-5751-E1BA-2C04E9F41779}" type="slidenum">
              <a:rPr sz="1600" cap="none">
                <a:solidFill>
                  <a:srgbClr val="7F7F7F"/>
                </a:solidFill>
                <a:latin typeface="Helvetica"/>
                <a:ea typeface="Calibri"/>
                <a:cs typeface="Helvetica"/>
              </a:rPr>
              <a:t>10</a:t>
            </a:fld>
            <a:endParaRPr sz="1600" cap="none">
              <a:solidFill>
                <a:srgbClr val="7F7F7F"/>
              </a:solidFill>
              <a:latin typeface="Helvetica"/>
              <a:ea typeface="Calibri"/>
              <a:cs typeface="Helvetica"/>
            </a:endParaRPr>
          </a:p>
        </p:txBody>
      </p:sp>
      <p:pic>
        <p:nvPicPr>
          <p:cNvPr id="66163228" name="Picture 8" descr="A picture containing text, clipart&#10;&#10;Description automatically generated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48945" y="360045"/>
            <a:ext cx="1967865" cy="53975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49841377" name="TextBox 1"/>
          <p:cNvSpPr/>
          <p:nvPr/>
        </p:nvSpPr>
        <p:spPr bwMode="auto">
          <a:xfrm>
            <a:off x="1056005" y="2259330"/>
            <a:ext cx="10079990" cy="3943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t"/>
          <a:lstStyle/>
          <a:p>
            <a:pPr marL="285750" indent="-285750"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  <a:defRPr/>
            </a:pPr>
            <a:endParaRPr cap="none">
              <a:solidFill>
                <a:srgbClr val="D0CECE"/>
              </a:solidFill>
              <a:latin typeface="Helvetica"/>
              <a:ea typeface="Calibri"/>
              <a:cs typeface="Calibri"/>
            </a:endParaRPr>
          </a:p>
        </p:txBody>
      </p:sp>
      <p:sp>
        <p:nvSpPr>
          <p:cNvPr id="1548598839" name="TextBox 2"/>
          <p:cNvSpPr/>
          <p:nvPr/>
        </p:nvSpPr>
        <p:spPr bwMode="auto">
          <a:xfrm>
            <a:off x="1056005" y="1458595"/>
            <a:ext cx="10079990" cy="4000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t"/>
          <a:lstStyle/>
          <a:p>
            <a:pPr algn="ctr">
              <a:spcAft>
                <a:spcPts val="600"/>
              </a:spcAft>
              <a:defRPr/>
            </a:pPr>
            <a:r>
              <a:rPr sz="2000" b="1" cap="none">
                <a:solidFill>
                  <a:srgbClr val="FF9900"/>
                </a:solidFill>
                <a:latin typeface="Helvetica"/>
                <a:ea typeface="Calibri"/>
                <a:cs typeface="Calibri"/>
              </a:rPr>
              <a:t>Motivation behind the Effectiveness-NTU method:</a:t>
            </a:r>
            <a:endParaRPr sz="2000" b="1" cap="none">
              <a:solidFill>
                <a:srgbClr val="FF9900"/>
              </a:solidFill>
              <a:latin typeface="Helvetica"/>
              <a:ea typeface="Calibri"/>
              <a:cs typeface="Calibri"/>
            </a:endParaRPr>
          </a:p>
        </p:txBody>
      </p:sp>
      <p:sp>
        <p:nvSpPr>
          <p:cNvPr id="1975867253" name="Slide Number Placeholder 17"/>
          <p:cNvSpPr/>
          <p:nvPr/>
        </p:nvSpPr>
        <p:spPr bwMode="auto">
          <a:xfrm>
            <a:off x="448945" y="6356350"/>
            <a:ext cx="4434840" cy="365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ctr"/>
          <a:lstStyle>
            <a:lvl1pPr marL="0" algn="r" defTabSz="457200">
              <a:defRPr sz="1200" cap="none">
                <a:solidFill>
                  <a:srgbClr val="8C8C8C"/>
                </a:solidFill>
                <a:latin typeface="Calibri"/>
                <a:ea typeface="Calibri"/>
                <a:cs typeface="Calibri"/>
              </a:defRPr>
            </a:lvl1pPr>
            <a:lvl2pPr marL="4572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9144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3716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8288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2860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7432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2004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6576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/>
            </a:pPr>
            <a:r>
              <a:rPr sz="1600" cap="none">
                <a:solidFill>
                  <a:srgbClr val="7F7F7F"/>
                </a:solidFill>
                <a:latin typeface="Helvetica"/>
                <a:ea typeface="Calibri"/>
                <a:cs typeface="Helvetica"/>
              </a:rPr>
              <a:t>EX3030/EM40JN</a:t>
            </a:r>
            <a:endParaRPr sz="1600" cap="none">
              <a:solidFill>
                <a:srgbClr val="7F7F7F"/>
              </a:solidFill>
              <a:latin typeface="Helvetica"/>
              <a:ea typeface="Calibri"/>
              <a:cs typeface="Helvetica"/>
            </a:endParaRPr>
          </a:p>
        </p:txBody>
      </p:sp>
      <p:sp>
        <p:nvSpPr>
          <p:cNvPr id="1307605017" name="TextBox 4"/>
          <p:cNvSpPr/>
          <p:nvPr/>
        </p:nvSpPr>
        <p:spPr bwMode="auto">
          <a:xfrm>
            <a:off x="1056005" y="2248535"/>
            <a:ext cx="10079990" cy="34747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t"/>
          <a:lstStyle/>
          <a:p>
            <a:pPr marL="342900" indent="-342900"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  <a:defRPr/>
            </a:pPr>
            <a:r>
              <a:rPr sz="2000" cap="none">
                <a:latin typeface="Helvetica"/>
                <a:ea typeface="Times New Roman"/>
                <a:cs typeface="Helvetica"/>
              </a:rPr>
              <a:t>LMTD method is straightforward to use when inlet/outlet temperatures are known</a:t>
            </a:r>
            <a:endParaRPr sz="2000" cap="none">
              <a:latin typeface="Helvetica"/>
              <a:ea typeface="Times New Roman"/>
              <a:cs typeface="Helvetica"/>
            </a:endParaRPr>
          </a:p>
          <a:p>
            <a:pPr marL="342900" indent="-342900"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  <a:defRPr/>
            </a:pPr>
            <a:r>
              <a:rPr sz="2000" cap="none">
                <a:latin typeface="Helvetica"/>
                <a:ea typeface="Times New Roman"/>
                <a:cs typeface="Helvetica"/>
              </a:rPr>
              <a:t>However, what if our task is to determine heat transfer rates and outlet temperatures for our hot/cold fluid streams when the heat exchanger type and size is already specified?</a:t>
            </a:r>
            <a:endParaRPr sz="2000" cap="none">
              <a:latin typeface="Helvetica"/>
              <a:ea typeface="Times New Roman"/>
              <a:cs typeface="Helvetica"/>
            </a:endParaRPr>
          </a:p>
          <a:p>
            <a:pPr marL="342900" indent="-342900"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  <a:defRPr/>
            </a:pPr>
            <a:r>
              <a:rPr sz="2000" cap="none">
                <a:latin typeface="Helvetica"/>
                <a:ea typeface="Times New Roman"/>
                <a:cs typeface="Helvetica"/>
              </a:rPr>
              <a:t>In this case, if the inlet/outlet temperatures are unknown then the LMTD method becomes iterative (and tedious)</a:t>
            </a:r>
            <a:endParaRPr sz="2000" cap="none">
              <a:latin typeface="Helvetica"/>
              <a:ea typeface="Times New Roman"/>
              <a:cs typeface="Helvetica"/>
            </a:endParaRPr>
          </a:p>
          <a:p>
            <a:pPr marL="342900" indent="-342900"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  <a:defRPr/>
            </a:pPr>
            <a:r>
              <a:rPr sz="2000" cap="none">
                <a:latin typeface="Helvetica"/>
                <a:ea typeface="Times New Roman"/>
                <a:cs typeface="Helvetica"/>
              </a:rPr>
              <a:t>The effectiveness-NTU method was developed by Kays and London in 1955 to help solve these types of problems</a:t>
            </a:r>
            <a:endParaRPr sz="2000" cap="none">
              <a:latin typeface="Helvetica"/>
              <a:ea typeface="Times New Roman"/>
              <a:cs typeface="Helvetic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9610980" name="Title 3"/>
          <p:cNvSpPr>
            <a:spLocks noChangeArrowheads="1" noGrp="1"/>
          </p:cNvSpPr>
          <p:nvPr>
            <p:ph type="ctrTitle"/>
          </p:nvPr>
        </p:nvSpPr>
        <p:spPr bwMode="auto">
          <a:xfrm>
            <a:off x="0" y="360045"/>
            <a:ext cx="12192000" cy="7080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t">
            <a:prstTxWarp prst="textNoShape"/>
          </a:bodyPr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sz="4000" cap="none">
                <a:latin typeface="Helvetica"/>
                <a:ea typeface="Verdana"/>
                <a:cs typeface="Helvetica"/>
              </a:rPr>
              <a:t>ξ-NTU Method </a:t>
            </a:r>
            <a:endParaRPr sz="4000" cap="none">
              <a:latin typeface="Helvetica"/>
              <a:ea typeface="Verdana"/>
              <a:cs typeface="Helvetica"/>
            </a:endParaRPr>
          </a:p>
        </p:txBody>
      </p:sp>
      <p:sp>
        <p:nvSpPr>
          <p:cNvPr id="1080076615" name="Slide Number Placeholder 17"/>
          <p:cNvSpPr>
            <a:spLocks noChangeArrowheads="1" noGrp="1"/>
          </p:cNvSpPr>
          <p:nvPr>
            <p:ph type="sldNum" sz="quarter" idx="12"/>
          </p:nvPr>
        </p:nvSpPr>
        <p:spPr bwMode="auto">
          <a:xfrm>
            <a:off x="8999855" y="6356350"/>
            <a:ext cx="2743200" cy="365125"/>
          </a:xfrm>
        </p:spPr>
        <p:txBody>
          <a:bodyPr/>
          <a:lstStyle/>
          <a:p>
            <a:pPr>
              <a:defRPr/>
            </a:pPr>
            <a:fld id="{5FD6FF81-CFB2-8309-FC6E-395CB1200A6C}" type="slidenum">
              <a:rPr sz="1600" cap="none">
                <a:solidFill>
                  <a:srgbClr val="7F7F7F"/>
                </a:solidFill>
                <a:latin typeface="Helvetica"/>
                <a:ea typeface="Calibri"/>
                <a:cs typeface="Helvetica"/>
              </a:rPr>
              <a:t>11</a:t>
            </a:fld>
            <a:endParaRPr sz="1600" cap="none">
              <a:solidFill>
                <a:srgbClr val="7F7F7F"/>
              </a:solidFill>
              <a:latin typeface="Helvetica"/>
              <a:ea typeface="Calibri"/>
              <a:cs typeface="Helvetica"/>
            </a:endParaRPr>
          </a:p>
        </p:txBody>
      </p:sp>
      <p:pic>
        <p:nvPicPr>
          <p:cNvPr id="1891987375" name="Picture 8" descr="A picture containing text, clipart&#10;&#10;Description automatically generated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48945" y="360045"/>
            <a:ext cx="1967865" cy="53975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456612760" name="TextBox 1"/>
          <p:cNvSpPr/>
          <p:nvPr/>
        </p:nvSpPr>
        <p:spPr bwMode="auto">
          <a:xfrm>
            <a:off x="1056005" y="2259330"/>
            <a:ext cx="10079990" cy="3943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t"/>
          <a:lstStyle/>
          <a:p>
            <a:pPr marL="285750" indent="-285750"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  <a:defRPr/>
            </a:pPr>
            <a:endParaRPr cap="none">
              <a:solidFill>
                <a:srgbClr val="D0CECE"/>
              </a:solidFill>
              <a:latin typeface="Helvetica"/>
              <a:ea typeface="Calibri"/>
              <a:cs typeface="Calibri"/>
            </a:endParaRPr>
          </a:p>
        </p:txBody>
      </p:sp>
      <p:sp>
        <p:nvSpPr>
          <p:cNvPr id="149613103" name="TextBox 2"/>
          <p:cNvSpPr/>
          <p:nvPr/>
        </p:nvSpPr>
        <p:spPr bwMode="auto">
          <a:xfrm>
            <a:off x="1056005" y="1270000"/>
            <a:ext cx="10079990" cy="40068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t"/>
          <a:lstStyle/>
          <a:p>
            <a:pPr algn="ctr">
              <a:spcAft>
                <a:spcPts val="600"/>
              </a:spcAft>
              <a:defRPr/>
            </a:pPr>
            <a:r>
              <a:rPr sz="2000" b="1" cap="none">
                <a:solidFill>
                  <a:srgbClr val="FF9900"/>
                </a:solidFill>
                <a:latin typeface="Helvetica"/>
                <a:ea typeface="Calibri"/>
                <a:cs typeface="Calibri"/>
              </a:rPr>
              <a:t>Heat transfer effectiveness:</a:t>
            </a:r>
            <a:endParaRPr sz="2000" b="1" cap="none">
              <a:solidFill>
                <a:srgbClr val="FF9900"/>
              </a:solidFill>
              <a:latin typeface="Helvetica"/>
              <a:ea typeface="Calibri"/>
              <a:cs typeface="Calibri"/>
            </a:endParaRPr>
          </a:p>
        </p:txBody>
      </p:sp>
      <p:sp>
        <p:nvSpPr>
          <p:cNvPr id="2122011106" name="Slide Number Placeholder 17"/>
          <p:cNvSpPr/>
          <p:nvPr/>
        </p:nvSpPr>
        <p:spPr bwMode="auto">
          <a:xfrm>
            <a:off x="448945" y="6356350"/>
            <a:ext cx="4434840" cy="365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ctr"/>
          <a:lstStyle>
            <a:lvl1pPr marL="0" algn="r" defTabSz="457200">
              <a:defRPr sz="1200" cap="none">
                <a:solidFill>
                  <a:srgbClr val="8C8C8C"/>
                </a:solidFill>
                <a:latin typeface="Calibri"/>
                <a:ea typeface="Calibri"/>
                <a:cs typeface="Calibri"/>
              </a:defRPr>
            </a:lvl1pPr>
            <a:lvl2pPr marL="4572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9144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3716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8288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2860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7432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2004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6576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/>
            </a:pPr>
            <a:r>
              <a:rPr sz="1600" cap="none">
                <a:solidFill>
                  <a:srgbClr val="7F7F7F"/>
                </a:solidFill>
                <a:latin typeface="Helvetica"/>
                <a:ea typeface="Calibri"/>
                <a:cs typeface="Helvetica"/>
              </a:rPr>
              <a:t>EX3030/EM40JN</a:t>
            </a:r>
            <a:endParaRPr sz="1600" cap="none">
              <a:solidFill>
                <a:srgbClr val="7F7F7F"/>
              </a:solidFill>
              <a:latin typeface="Helvetica"/>
              <a:ea typeface="Calibri"/>
              <a:cs typeface="Helvetica"/>
            </a:endParaRPr>
          </a:p>
        </p:txBody>
      </p:sp>
      <p:sp>
        <p:nvSpPr>
          <p:cNvPr id="1028832294" name="TextBox 4"/>
          <p:cNvSpPr/>
          <p:nvPr/>
        </p:nvSpPr>
        <p:spPr bwMode="auto">
          <a:xfrm>
            <a:off x="1056004" y="1872614"/>
            <a:ext cx="10135789" cy="388530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1800">
                <a:latin typeface="Helvetica"/>
              </a:rPr>
              <a:t>The effectiveness-NTU method is based on a dimensionless parameter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sz="1800" b="0" i="1">
                          <a:latin typeface="Cambria Math"/>
                        </a:rPr>
                        <m:t>𝜀</m:t>
                      </m:r>
                    </m:oMath>
                  </m:oMathPara>
                </a14:m>
              </mc:Choice>
              <mc:Fallback/>
            </mc:AlternateContent>
            <a:endParaRPr lang="en-GB" sz="1800">
              <a:latin typeface="Helvetica"/>
              <a:ea typeface="Times New Roman"/>
              <a:cs typeface="Helvetica"/>
            </a:endParaRPr>
          </a:p>
          <a:p>
            <a:pPr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1800" b="0" i="1">
                          <a:latin typeface="Cambria Math"/>
                          <a:ea typeface="Times New Roman"/>
                          <a:cs typeface="Helvetica"/>
                        </a:rPr>
                        <m:t>𝜀</m:t>
                      </m:r>
                      <m:r>
                        <m:rPr/>
                        <a:rPr lang="en-GB" sz="1800" b="0" i="1">
                          <a:latin typeface="Cambria Math"/>
                          <a:ea typeface="Times New Roman"/>
                          <a:cs typeface="Helvetica"/>
                        </a:rPr>
                        <m:t>=</m:t>
                      </m:r>
                      <m:f>
                        <m:fPr>
                          <m:ctrlPr>
                            <a:rPr lang="en-GB" sz="1800" b="0" i="1">
                              <a:latin typeface="Cambria Math"/>
                              <a:ea typeface="Cambria Math"/>
                              <a:cs typeface="Helvetica"/>
                            </a:rPr>
                          </m:ctrlPr>
                        </m:fPr>
                        <m:num>
                          <m:r>
                            <m:rPr/>
                            <a:rPr lang="en-GB" sz="1800" b="0" i="1">
                              <a:latin typeface="Cambria Math"/>
                              <a:cs typeface="Helvetica"/>
                            </a:rPr>
                            <m:t>𝑄</m:t>
                          </m:r>
                        </m:num>
                        <m:den>
                          <m:sSub>
                            <m:sSubPr>
                              <m:ctrlPr>
                                <a:rPr lang="en-GB" sz="1800" b="0" i="1">
                                  <a:latin typeface="Cambria Math"/>
                                  <a:ea typeface="Cambria Math"/>
                                  <a:cs typeface="Helvetica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GB" sz="1800" b="0" i="1">
                                  <a:latin typeface="Cambria Math"/>
                                  <a:cs typeface="Helvetica"/>
                                </a:rPr>
                                <m:t>𝑄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1800" b="0" i="0">
                                  <a:latin typeface="Cambria Math"/>
                                  <a:cs typeface="Helvetica"/>
                                </a:rPr>
                                <m:t>max</m:t>
                              </m:r>
                            </m:sub>
                          </m:sSub>
                        </m:den>
                      </m:f>
                      <m:r>
                        <m:rPr/>
                        <a:rPr lang="en-GB" sz="1800" b="0" i="1">
                          <a:latin typeface="Cambria Math"/>
                          <a:cs typeface="Helvetica"/>
                        </a:rPr>
                        <m:t>=</m:t>
                      </m:r>
                      <m:f>
                        <m:fPr>
                          <m:ctrlPr>
                            <a:rPr lang="en-GB" sz="1800" b="0" i="1">
                              <a:latin typeface="Cambria Math"/>
                              <a:ea typeface="Cambria Math"/>
                              <a:cs typeface="Helvetica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GB" sz="1800" b="0" i="0">
                              <a:latin typeface="Cambria Math"/>
                              <a:cs typeface="Helvetica"/>
                            </a:rPr>
                            <m:t>actual</m:t>
                          </m:r>
                          <m:r>
                            <m:rPr/>
                            <a:rPr lang="en-GB" sz="1800" b="0" i="0">
                              <a:latin typeface="Cambria Math"/>
                              <a:cs typeface="Helvetica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GB" sz="1800" b="0" i="0">
                              <a:latin typeface="Cambria Math"/>
                              <a:cs typeface="Helvetica"/>
                            </a:rPr>
                            <m:t>he</m:t>
                          </m:r>
                          <m:r>
                            <m:rPr/>
                            <a:rPr lang="en-GB" sz="1800" b="0" i="1">
                              <a:latin typeface="Cambria Math"/>
                              <a:cs typeface="Helvetica"/>
                            </a:rPr>
                            <m:t>𝑎𝑡</m:t>
                          </m:r>
                          <m:r>
                            <m:rPr/>
                            <a:rPr lang="en-GB" sz="1800" b="0" i="1">
                              <a:latin typeface="Cambria Math"/>
                              <a:cs typeface="Helvetica"/>
                            </a:rPr>
                            <m:t> </m:t>
                          </m:r>
                          <m:r>
                            <m:rPr/>
                            <a:rPr lang="en-GB" sz="1800" b="0" i="1">
                              <a:latin typeface="Cambria Math"/>
                              <a:cs typeface="Helvetica"/>
                            </a:rPr>
                            <m:t>𝑡𝑟𝑎𝑛𝑠𝑓𝑒𝑟</m:t>
                          </m:r>
                          <m:r>
                            <m:rPr/>
                            <a:rPr lang="en-GB" sz="1800" b="0" i="1">
                              <a:latin typeface="Cambria Math"/>
                              <a:cs typeface="Helvetica"/>
                            </a:rPr>
                            <m:t> </m:t>
                          </m:r>
                          <m:r>
                            <m:rPr/>
                            <a:rPr lang="en-GB" sz="1800" b="0" i="1">
                              <a:latin typeface="Cambria Math"/>
                              <a:cs typeface="Helvetica"/>
                            </a:rPr>
                            <m:t>𝑟𝑎𝑡𝑒</m:t>
                          </m:r>
                        </m:num>
                        <m:den>
                          <m:r>
                            <m:rPr/>
                            <a:rPr lang="en-GB" sz="1800" b="0" i="1">
                              <a:latin typeface="Cambria Math"/>
                              <a:cs typeface="Helvetica"/>
                            </a:rPr>
                            <m:t>𝑚𝑎𝑥𝑖𝑚𝑢𝑚</m:t>
                          </m:r>
                          <m:r>
                            <m:rPr/>
                            <a:rPr lang="en-GB" sz="1800" b="0" i="1">
                              <a:latin typeface="Cambria Math"/>
                              <a:cs typeface="Helvetica"/>
                            </a:rPr>
                            <m:t> </m:t>
                          </m:r>
                          <m:r>
                            <m:rPr/>
                            <a:rPr lang="en-GB" sz="1800" b="0" i="1">
                              <a:latin typeface="Cambria Math"/>
                              <a:cs typeface="Helvetica"/>
                            </a:rPr>
                            <m:t>𝑝𝑜𝑠𝑠𝑖𝑏𝑙𝑒</m:t>
                          </m:r>
                          <m:r>
                            <m:rPr/>
                            <a:rPr lang="en-GB" sz="1800" b="0" i="1">
                              <a:latin typeface="Cambria Math"/>
                              <a:cs typeface="Helvetica"/>
                            </a:rPr>
                            <m:t> </m:t>
                          </m:r>
                          <m:r>
                            <m:rPr/>
                            <a:rPr lang="en-GB" sz="1800" b="0" i="1">
                              <a:latin typeface="Cambria Math"/>
                              <a:cs typeface="Helvetica"/>
                            </a:rPr>
                            <m:t>h𝑒𝑎𝑡</m:t>
                          </m:r>
                          <m:r>
                            <m:rPr/>
                            <a:rPr lang="en-GB" sz="1800" b="0" i="1">
                              <a:latin typeface="Cambria Math"/>
                              <a:cs typeface="Helvetica"/>
                            </a:rPr>
                            <m:t> </m:t>
                          </m:r>
                          <m:r>
                            <m:rPr/>
                            <a:rPr lang="en-GB" sz="1800" b="0" i="1">
                              <a:latin typeface="Cambria Math"/>
                              <a:cs typeface="Helvetica"/>
                            </a:rPr>
                            <m:t>𝑡𝑟𝑎𝑛𝑠𝑓𝑒𝑟</m:t>
                          </m:r>
                          <m:r>
                            <m:rPr/>
                            <a:rPr lang="en-GB" sz="1800" b="0" i="1">
                              <a:latin typeface="Cambria Math"/>
                              <a:cs typeface="Helvetica"/>
                            </a:rPr>
                            <m:t> </m:t>
                          </m:r>
                          <m:r>
                            <m:rPr/>
                            <a:rPr lang="en-GB" sz="1800" b="0" i="1">
                              <a:latin typeface="Cambria Math"/>
                              <a:cs typeface="Helvetica"/>
                            </a:rPr>
                            <m:t>𝑟𝑎𝑡𝑒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endParaRPr lang="en-GB" sz="1800" b="0">
              <a:latin typeface="Helvetica"/>
              <a:cs typeface="Helvetica"/>
            </a:endParaRPr>
          </a:p>
          <a:p>
            <a:pPr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GB" sz="1800">
                <a:latin typeface="Helvetica"/>
                <a:ea typeface="Times New Roman"/>
                <a:cs typeface="Helvetica"/>
              </a:rPr>
              <a:t>The maximum possible heat transfer rate (in an infinite counter-current exchanger):</a:t>
            </a:r>
            <a:endParaRPr/>
          </a:p>
          <a:p>
            <a:pPr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GB" sz="1800" b="0" i="1">
                              <a:latin typeface="Cambria Math"/>
                              <a:ea typeface="Times New Roman"/>
                              <a:cs typeface="Helvetica"/>
                            </a:rPr>
                          </m:ctrlPr>
                        </m:sSubPr>
                        <m:e>
                          <m:r>
                            <m:rPr/>
                            <a:rPr lang="en-GB" sz="1800" b="0" i="1">
                              <a:latin typeface="Cambria Math"/>
                              <a:ea typeface="Times New Roman"/>
                              <a:cs typeface="Helvetica"/>
                            </a:rPr>
                            <m:t>𝑄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800" b="0" i="0">
                              <a:latin typeface="Cambria Math"/>
                              <a:ea typeface="Times New Roman"/>
                              <a:cs typeface="Helvetica"/>
                            </a:rPr>
                            <m:t>max</m:t>
                          </m:r>
                        </m:sub>
                      </m:sSub>
                      <m:r>
                        <m:rPr/>
                        <a:rPr lang="en-GB" sz="1800" b="0" i="1">
                          <a:latin typeface="Cambria Math"/>
                          <a:ea typeface="Times New Roman"/>
                          <a:cs typeface="Helvetica"/>
                        </a:rPr>
                        <m:t>=</m:t>
                      </m:r>
                      <m:sSub>
                        <m:sSubPr>
                          <m:ctrlPr>
                            <a:rPr lang="en-GB" sz="1800" b="0" i="1">
                              <a:latin typeface="Cambria Math"/>
                              <a:ea typeface="Times New Roman"/>
                              <a:cs typeface="Helvetica"/>
                            </a:rPr>
                          </m:ctrlPr>
                        </m:sSubPr>
                        <m:e>
                          <m:r>
                            <m:rPr/>
                            <a:rPr lang="en-GB" sz="1800" b="0" i="1">
                              <a:latin typeface="Cambria Math"/>
                              <a:ea typeface="Times New Roman"/>
                              <a:cs typeface="Helvetica"/>
                            </a:rPr>
                            <m:t>𝐶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800" b="0" i="0">
                              <a:latin typeface="Cambria Math"/>
                              <a:ea typeface="Times New Roman"/>
                              <a:cs typeface="Helvetica"/>
                            </a:rPr>
                            <m:t>mini</m:t>
                          </m:r>
                        </m:sub>
                      </m:sSub>
                      <m:d>
                        <m:dPr>
                          <m:ctrlPr>
                            <a:rPr lang="en-GB" sz="1800" b="0" i="1">
                              <a:latin typeface="Cambria Math"/>
                              <a:ea typeface="Times New Roman"/>
                              <a:cs typeface="Helvetica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1800" b="0" i="1">
                                  <a:latin typeface="Cambria Math"/>
                                  <a:ea typeface="Times New Roman"/>
                                  <a:cs typeface="Helvetica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GB" sz="1800" b="0" i="1">
                                  <a:latin typeface="Cambria Math"/>
                                  <a:ea typeface="Times New Roman"/>
                                  <a:cs typeface="Helvetica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1800" b="0" i="0">
                                  <a:latin typeface="Cambria Math"/>
                                  <a:ea typeface="Times New Roman"/>
                                  <a:cs typeface="Helvetica"/>
                                </a:rPr>
                                <m:t>h</m:t>
                              </m:r>
                              <m:r>
                                <m:rPr/>
                                <a:rPr lang="en-GB" sz="1800" b="0" i="0">
                                  <a:latin typeface="Cambria Math"/>
                                  <a:ea typeface="Times New Roman"/>
                                  <a:cs typeface="Helvetica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GB" sz="1800" b="0" i="0">
                                  <a:latin typeface="Cambria Math"/>
                                  <a:ea typeface="Times New Roman"/>
                                  <a:cs typeface="Helvetica"/>
                                </a:rPr>
                                <m:t>i</m:t>
                              </m:r>
                            </m:sub>
                          </m:sSub>
                          <m:r>
                            <m:rPr/>
                            <a:rPr lang="en-GB" sz="1800" b="0" i="1">
                              <a:latin typeface="Cambria Math"/>
                              <a:ea typeface="Times New Roman"/>
                              <a:cs typeface="Helvetica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1800" b="0" i="1">
                                  <a:latin typeface="Cambria Math"/>
                                  <a:ea typeface="Times New Roman"/>
                                  <a:cs typeface="Helvetica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GB" sz="1800" b="0" i="1">
                                  <a:latin typeface="Cambria Math"/>
                                  <a:ea typeface="Times New Roman"/>
                                  <a:cs typeface="Helvetica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1800" b="0" i="0">
                                  <a:latin typeface="Cambria Math"/>
                                  <a:ea typeface="Times New Roman"/>
                                  <a:cs typeface="Helvetica"/>
                                </a:rPr>
                                <m:t>c</m:t>
                              </m:r>
                              <m:r>
                                <m:rPr/>
                                <a:rPr lang="en-GB" sz="1800" b="0" i="0">
                                  <a:latin typeface="Cambria Math"/>
                                  <a:ea typeface="Times New Roman"/>
                                  <a:cs typeface="Helvetica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GB" sz="1800" b="0" i="0">
                                  <a:latin typeface="Cambria Math"/>
                                  <a:ea typeface="Times New Roman"/>
                                  <a:cs typeface="Helvetica"/>
                                </a:rPr>
                                <m:t>i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mc:Choice>
              <mc:Fallback/>
            </mc:AlternateContent>
            <a:r>
              <a:rPr lang="en-GB" sz="1800">
                <a:latin typeface="Helvetica"/>
                <a:ea typeface="Times New Roman"/>
                <a:cs typeface="Helvetica"/>
              </a:rPr>
              <a:t>  where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GB" sz="1800" b="0" i="1">
                              <a:latin typeface="Cambria Math"/>
                              <a:ea typeface="Times New Roman"/>
                              <a:cs typeface="Helvetica"/>
                            </a:rPr>
                          </m:ctrlPr>
                        </m:sSubPr>
                        <m:e>
                          <m:r>
                            <m:rPr/>
                            <a:rPr lang="en-GB" sz="1800" b="0" i="1">
                              <a:latin typeface="Cambria Math"/>
                              <a:ea typeface="Times New Roman"/>
                              <a:cs typeface="Helvetica"/>
                            </a:rPr>
                            <m:t>𝐶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800" b="0" i="0">
                              <a:latin typeface="Cambria Math"/>
                              <a:ea typeface="Times New Roman"/>
                              <a:cs typeface="Helvetica"/>
                            </a:rPr>
                            <m:t>mini</m:t>
                          </m:r>
                        </m:sub>
                      </m:sSub>
                      <m:r>
                        <m:rPr/>
                        <a:rPr lang="en-GB" sz="1800" b="0" i="1">
                          <a:latin typeface="Cambria Math"/>
                          <a:ea typeface="Times New Roman"/>
                          <a:cs typeface="Helvetica"/>
                        </a:rPr>
                        <m:t>=</m:t>
                      </m:r>
                      <m:func>
                        <m:funcPr>
                          <m:ctrlPr>
                            <a:rPr lang="en-GB" sz="1800" b="0" i="1">
                              <a:latin typeface="Cambria Math"/>
                              <a:ea typeface="Times New Roman"/>
                              <a:cs typeface="Helvetica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800" b="0" i="0">
                              <a:latin typeface="Cambria Math"/>
                              <a:ea typeface="Times New Roman"/>
                              <a:cs typeface="Helvetica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GB" sz="1800" b="0" i="1">
                                  <a:latin typeface="Cambria Math"/>
                                  <a:ea typeface="Cambria Math"/>
                                  <a:cs typeface="Helvetica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i="1">
                                      <a:latin typeface="Cambria Math"/>
                                      <a:ea typeface="Cambria Math"/>
                                      <a:cs typeface="Helvetica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GB" i="1">
                                          <a:latin typeface="Cambria Math"/>
                                          <a:ea typeface="Cambria Math"/>
                                          <a:cs typeface="Helvetica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/>
                                        <a:rPr lang="en-GB" i="1">
                                          <a:latin typeface="Cambria Math"/>
                                          <a:cs typeface="Helvetica"/>
                                        </a:rPr>
                                        <m:t>𝑚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GB" b="0" i="0">
                                      <a:latin typeface="Cambria Math"/>
                                      <a:cs typeface="Helvetica"/>
                                    </a:rPr>
                                    <m:t>c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GB" i="1">
                                      <a:latin typeface="Cambria Math"/>
                                      <a:ea typeface="Cambria Math"/>
                                      <a:cs typeface="Helvetica"/>
                                    </a:rPr>
                                  </m:ctrlPr>
                                </m:sSubPr>
                                <m:e>
                                  <m:r>
                                    <m:rPr/>
                                    <a:rPr lang="en-GB" i="1">
                                      <a:latin typeface="Cambria Math"/>
                                      <a:cs typeface="Helvetica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/>
                                      <a:cs typeface="Helvetica"/>
                                    </a:rPr>
                                    <m:t>p</m:t>
                                  </m:r>
                                  <m:r>
                                    <m:rPr/>
                                    <a:rPr lang="en-GB">
                                      <a:latin typeface="Cambria Math"/>
                                      <a:cs typeface="Helvetica"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GB" b="0" i="0">
                                      <a:latin typeface="Cambria Math"/>
                                      <a:cs typeface="Helvetica"/>
                                    </a:rPr>
                                    <m:t>c</m:t>
                                  </m:r>
                                </m:sub>
                              </m:sSub>
                              <m:r>
                                <m:rPr/>
                                <a:rPr lang="en-GB" b="0" i="1">
                                  <a:latin typeface="Cambria Math"/>
                                  <a:cs typeface="Helvetica"/>
                                </a:rPr>
                                <m:t> , </m:t>
                              </m:r>
                              <m:sSub>
                                <m:sSubPr>
                                  <m:ctrlPr>
                                    <a:rPr lang="en-GB" i="1">
                                      <a:latin typeface="Cambria Math"/>
                                      <a:ea typeface="Cambria Math"/>
                                      <a:cs typeface="Helvetica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GB" i="1">
                                          <a:latin typeface="Cambria Math"/>
                                          <a:ea typeface="Cambria Math"/>
                                          <a:cs typeface="Helvetica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/>
                                        <a:rPr lang="en-GB" i="1">
                                          <a:latin typeface="Cambria Math"/>
                                          <a:cs typeface="Helvetica"/>
                                        </a:rPr>
                                        <m:t>𝑚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/>
                                      <a:cs typeface="Helvetica"/>
                                    </a:rPr>
                                    <m:t>h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GB" i="1">
                                      <a:latin typeface="Cambria Math"/>
                                      <a:ea typeface="Cambria Math"/>
                                      <a:cs typeface="Helvetica"/>
                                    </a:rPr>
                                  </m:ctrlPr>
                                </m:sSubPr>
                                <m:e>
                                  <m:r>
                                    <m:rPr/>
                                    <a:rPr lang="en-GB" i="1">
                                      <a:latin typeface="Cambria Math"/>
                                      <a:cs typeface="Helvetica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/>
                                      <a:cs typeface="Helvetica"/>
                                    </a:rPr>
                                    <m:t>p</m:t>
                                  </m:r>
                                  <m:r>
                                    <m:rPr/>
                                    <a:rPr lang="en-GB">
                                      <a:latin typeface="Cambria Math"/>
                                      <a:cs typeface="Helvetica"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/>
                                      <a:cs typeface="Helvetica"/>
                                    </a:rPr>
                                    <m:t>h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</mc:Choice>
              <mc:Fallback/>
            </mc:AlternateContent>
            <a:endParaRPr lang="en-GB" sz="1800">
              <a:latin typeface="Helvetica"/>
              <a:ea typeface="Times New Roman"/>
              <a:cs typeface="Helvetica"/>
            </a:endParaRPr>
          </a:p>
          <a:p>
            <a:pPr algn="ctr">
              <a:lnSpc>
                <a:spcPct val="120000"/>
              </a:lnSpc>
              <a:spcBef>
                <a:spcPts val="599"/>
              </a:spcBef>
              <a:spcAft>
                <a:spcPts val="599"/>
              </a:spcAft>
              <a:defRPr/>
            </a:pPr>
            <a:r>
              <a:rPr lang="en-GB">
                <a:latin typeface="Helvetica"/>
                <a:ea typeface="Times New Roman"/>
                <a:cs typeface="Helvetica"/>
              </a:rPr>
              <a:t>Minimum is used, as its the first stream to converge to the inlet that limits the process.</a:t>
            </a:r>
            <a:endParaRPr/>
          </a:p>
          <a:p>
            <a:pPr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GB">
                <a:latin typeface="Helvetica"/>
                <a:ea typeface="Times New Roman"/>
                <a:cs typeface="Helvetica"/>
              </a:rPr>
              <a:t>In this way, we can estimate the actual heat transfer rate without knowing anything about the outlet temperatures i.e.:</a:t>
            </a:r>
            <a:endParaRPr lang="en-GB">
              <a:latin typeface="Helvetica"/>
              <a:ea typeface="Times New Roman"/>
              <a:cs typeface="Helvetica"/>
            </a:endParaRPr>
          </a:p>
          <a:p>
            <a:pPr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1800" b="0" i="1">
                          <a:latin typeface="Cambria Math"/>
                          <a:ea typeface="Times New Roman"/>
                          <a:cs typeface="Helvetica"/>
                        </a:rPr>
                        <m:t>𝑄</m:t>
                      </m:r>
                      <m:r>
                        <m:rPr/>
                        <a:rPr lang="en-GB" sz="1800" b="0" i="1">
                          <a:latin typeface="Cambria Math"/>
                          <a:ea typeface="Times New Roman"/>
                          <a:cs typeface="Helvetica"/>
                        </a:rPr>
                        <m:t>=</m:t>
                      </m:r>
                      <m:r>
                        <m:rPr/>
                        <a:rPr lang="en-GB" sz="1800" b="0" i="1">
                          <a:latin typeface="Cambria Math"/>
                          <a:ea typeface="Times New Roman"/>
                          <a:cs typeface="Helvetica"/>
                        </a:rPr>
                        <m:t>𝜀</m:t>
                      </m:r>
                      <m:sSub>
                        <m:sSubPr>
                          <m:ctrlPr>
                            <a:rPr lang="en-GB" sz="1800" b="0" i="1">
                              <a:latin typeface="Cambria Math"/>
                              <a:ea typeface="Times New Roman"/>
                              <a:cs typeface="Helvetica"/>
                            </a:rPr>
                          </m:ctrlPr>
                        </m:sSubPr>
                        <m:e>
                          <m:r>
                            <m:rPr/>
                            <a:rPr lang="en-GB" sz="1800" b="0" i="1">
                              <a:latin typeface="Cambria Math"/>
                              <a:ea typeface="Times New Roman"/>
                              <a:cs typeface="Helvetica"/>
                            </a:rPr>
                            <m:t>𝑄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800" b="0" i="0">
                              <a:latin typeface="Cambria Math"/>
                              <a:ea typeface="Times New Roman"/>
                              <a:cs typeface="Helvetica"/>
                            </a:rPr>
                            <m:t>max</m:t>
                          </m:r>
                        </m:sub>
                      </m:sSub>
                      <m:r>
                        <m:rPr/>
                        <a:rPr lang="en-GB" sz="1800" b="0" i="1">
                          <a:latin typeface="Cambria Math"/>
                          <a:ea typeface="Times New Roman"/>
                          <a:cs typeface="Helvetica"/>
                        </a:rPr>
                        <m:t>=</m:t>
                      </m:r>
                      <m:r>
                        <m:rPr/>
                        <a:rPr lang="en-GB" sz="1800" b="0" i="1">
                          <a:latin typeface="Cambria Math"/>
                          <a:ea typeface="Times New Roman"/>
                          <a:cs typeface="Helvetica"/>
                        </a:rPr>
                        <m:t>𝜀</m:t>
                      </m:r>
                      <m:sSub>
                        <m:sSubPr>
                          <m:ctrlPr>
                            <a:rPr lang="en-GB" sz="1800" b="0" i="1">
                              <a:latin typeface="Cambria Math"/>
                              <a:ea typeface="Times New Roman"/>
                              <a:cs typeface="Helvetica"/>
                            </a:rPr>
                          </m:ctrlPr>
                        </m:sSubPr>
                        <m:e>
                          <m:r>
                            <m:rPr/>
                            <a:rPr lang="en-GB" sz="1800" b="0" i="1">
                              <a:latin typeface="Cambria Math"/>
                              <a:ea typeface="Times New Roman"/>
                              <a:cs typeface="Helvetica"/>
                            </a:rPr>
                            <m:t>𝐶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1800" b="0" i="0">
                              <a:latin typeface="Cambria Math"/>
                              <a:ea typeface="Times New Roman"/>
                              <a:cs typeface="Helvetica"/>
                            </a:rPr>
                            <m:t>mini</m:t>
                          </m:r>
                        </m:sub>
                      </m:sSub>
                      <m:d>
                        <m:dPr>
                          <m:ctrlPr>
                            <a:rPr lang="en-GB" sz="1800" b="0" i="1">
                              <a:latin typeface="Cambria Math"/>
                              <a:ea typeface="Times New Roman"/>
                              <a:cs typeface="Helvetica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1800" b="0" i="1">
                                  <a:latin typeface="Cambria Math"/>
                                  <a:ea typeface="Times New Roman"/>
                                  <a:cs typeface="Helvetica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GB" sz="1800" b="0" i="1">
                                  <a:latin typeface="Cambria Math"/>
                                  <a:ea typeface="Times New Roman"/>
                                  <a:cs typeface="Helvetica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1800" b="0" i="0">
                                  <a:latin typeface="Cambria Math"/>
                                  <a:ea typeface="Times New Roman"/>
                                  <a:cs typeface="Helvetica"/>
                                </a:rPr>
                                <m:t>h</m:t>
                              </m:r>
                              <m:r>
                                <m:rPr/>
                                <a:rPr lang="en-GB" sz="1800" b="0" i="0">
                                  <a:latin typeface="Cambria Math"/>
                                  <a:ea typeface="Times New Roman"/>
                                  <a:cs typeface="Helvetica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GB" sz="1800" b="0" i="0">
                                  <a:latin typeface="Cambria Math"/>
                                  <a:ea typeface="Times New Roman"/>
                                  <a:cs typeface="Helvetica"/>
                                </a:rPr>
                                <m:t>i</m:t>
                              </m:r>
                            </m:sub>
                          </m:sSub>
                          <m:r>
                            <m:rPr/>
                            <a:rPr lang="en-GB" sz="1800" b="0" i="1">
                              <a:latin typeface="Cambria Math"/>
                              <a:ea typeface="Times New Roman"/>
                              <a:cs typeface="Helvetica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1800" b="0" i="1">
                                  <a:latin typeface="Cambria Math"/>
                                  <a:ea typeface="Times New Roman"/>
                                  <a:cs typeface="Helvetica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GB" sz="1800" b="0" i="1">
                                  <a:latin typeface="Cambria Math"/>
                                  <a:ea typeface="Times New Roman"/>
                                  <a:cs typeface="Helvetica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1800" b="0" i="0">
                                  <a:latin typeface="Cambria Math"/>
                                  <a:ea typeface="Times New Roman"/>
                                  <a:cs typeface="Helvetica"/>
                                </a:rPr>
                                <m:t>c</m:t>
                              </m:r>
                              <m:r>
                                <m:rPr/>
                                <a:rPr lang="en-GB" sz="1800" b="0" i="0">
                                  <a:latin typeface="Cambria Math"/>
                                  <a:ea typeface="Times New Roman"/>
                                  <a:cs typeface="Helvetica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GB" sz="1800" b="0" i="0">
                                  <a:latin typeface="Cambria Math"/>
                                  <a:ea typeface="Times New Roman"/>
                                  <a:cs typeface="Helvetica"/>
                                </a:rPr>
                                <m:t>i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mc:Choice>
              <mc:Fallback/>
            </mc:AlternateContent>
            <a:endParaRPr lang="en-GB" sz="1800" b="0">
              <a:latin typeface="Helvetica"/>
              <a:ea typeface="Times New Roman"/>
              <a:cs typeface="Helvetica"/>
            </a:endParaRPr>
          </a:p>
          <a:p>
            <a:pPr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GB" sz="1800">
                <a:latin typeface="Helvetica"/>
                <a:ea typeface="Times New Roman"/>
                <a:cs typeface="Helvetica"/>
              </a:rPr>
              <a:t>Of cours</a:t>
            </a:r>
            <a:r>
              <a:rPr lang="en-GB">
                <a:latin typeface="Helvetica"/>
                <a:ea typeface="Times New Roman"/>
                <a:cs typeface="Helvetica"/>
              </a:rPr>
              <a:t>e, we still need to determine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b="0" i="1">
                          <a:latin typeface="Cambria Math"/>
                          <a:ea typeface="Times New Roman"/>
                          <a:cs typeface="Helvetica"/>
                        </a:rPr>
                        <m:t>𝜀</m:t>
                      </m:r>
                    </m:oMath>
                  </m:oMathPara>
                </a14:m>
              </mc:Choice>
              <mc:Fallback/>
            </mc:AlternateContent>
            <a:endParaRPr lang="en-GB" sz="1800">
              <a:latin typeface="Helvetica"/>
              <a:ea typeface="Times New Roman"/>
              <a:cs typeface="Helvetic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3633331" name="Title 3"/>
          <p:cNvSpPr>
            <a:spLocks noChangeArrowheads="1" noGrp="1"/>
          </p:cNvSpPr>
          <p:nvPr>
            <p:ph type="ctrTitle"/>
          </p:nvPr>
        </p:nvSpPr>
        <p:spPr bwMode="auto">
          <a:xfrm>
            <a:off x="0" y="360045"/>
            <a:ext cx="12192000" cy="7080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t">
            <a:prstTxWarp prst="textNoShape"/>
          </a:bodyPr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sz="4000" cap="none">
                <a:latin typeface="Helvetica"/>
                <a:ea typeface="Verdana"/>
                <a:cs typeface="Helvetica"/>
              </a:rPr>
              <a:t>ξ-NTU Method </a:t>
            </a:r>
            <a:endParaRPr sz="4000" cap="none">
              <a:latin typeface="Helvetica"/>
              <a:ea typeface="Verdana"/>
              <a:cs typeface="Helvetica"/>
            </a:endParaRPr>
          </a:p>
        </p:txBody>
      </p:sp>
      <p:sp>
        <p:nvSpPr>
          <p:cNvPr id="85064031" name="Slide Number Placeholder 17"/>
          <p:cNvSpPr>
            <a:spLocks noChangeArrowheads="1" noGrp="1"/>
          </p:cNvSpPr>
          <p:nvPr>
            <p:ph type="sldNum" sz="quarter" idx="12"/>
          </p:nvPr>
        </p:nvSpPr>
        <p:spPr bwMode="auto">
          <a:xfrm>
            <a:off x="8999855" y="6356350"/>
            <a:ext cx="2743200" cy="365125"/>
          </a:xfrm>
        </p:spPr>
        <p:txBody>
          <a:bodyPr/>
          <a:lstStyle/>
          <a:p>
            <a:pPr>
              <a:defRPr/>
            </a:pPr>
            <a:fld id="{436341F7-B9AE-36B7-E0DB-4FE20F95161A}" type="slidenum">
              <a:rPr sz="1600" cap="none">
                <a:solidFill>
                  <a:srgbClr val="7F7F7F"/>
                </a:solidFill>
                <a:latin typeface="Helvetica"/>
                <a:ea typeface="Calibri"/>
                <a:cs typeface="Helvetica"/>
              </a:rPr>
              <a:t>12</a:t>
            </a:fld>
            <a:endParaRPr sz="1600" cap="none">
              <a:solidFill>
                <a:srgbClr val="7F7F7F"/>
              </a:solidFill>
              <a:latin typeface="Helvetica"/>
              <a:ea typeface="Calibri"/>
              <a:cs typeface="Helvetica"/>
            </a:endParaRPr>
          </a:p>
        </p:txBody>
      </p:sp>
      <p:pic>
        <p:nvPicPr>
          <p:cNvPr id="980642276" name="Picture 8" descr="A picture containing text, clipart&#10;&#10;Description automatically generated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48945" y="360045"/>
            <a:ext cx="1967865" cy="53975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092320488" name="TextBox 1"/>
          <p:cNvSpPr/>
          <p:nvPr/>
        </p:nvSpPr>
        <p:spPr bwMode="auto">
          <a:xfrm>
            <a:off x="1056005" y="2259330"/>
            <a:ext cx="10079990" cy="3943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t"/>
          <a:lstStyle/>
          <a:p>
            <a:pPr marL="285750" indent="-285750"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  <a:defRPr/>
            </a:pPr>
            <a:endParaRPr cap="none">
              <a:solidFill>
                <a:srgbClr val="D0CECE"/>
              </a:solidFill>
              <a:latin typeface="Helvetica"/>
              <a:ea typeface="Calibri"/>
              <a:cs typeface="Calibri"/>
            </a:endParaRPr>
          </a:p>
        </p:txBody>
      </p:sp>
      <p:sp>
        <p:nvSpPr>
          <p:cNvPr id="2030169561" name="TextBox 2"/>
          <p:cNvSpPr/>
          <p:nvPr/>
        </p:nvSpPr>
        <p:spPr bwMode="auto">
          <a:xfrm>
            <a:off x="1056005" y="1270000"/>
            <a:ext cx="10079990" cy="40068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t"/>
          <a:lstStyle/>
          <a:p>
            <a:pPr algn="ctr">
              <a:spcAft>
                <a:spcPts val="600"/>
              </a:spcAft>
              <a:defRPr/>
            </a:pPr>
            <a:r>
              <a:rPr sz="2000" b="1" cap="none">
                <a:solidFill>
                  <a:srgbClr val="FF9900"/>
                </a:solidFill>
                <a:latin typeface="Helvetica"/>
                <a:ea typeface="Calibri"/>
                <a:cs typeface="Calibri"/>
              </a:rPr>
              <a:t>Estimating heat transfer effectiveness:</a:t>
            </a:r>
            <a:endParaRPr sz="2000" b="1" cap="none">
              <a:solidFill>
                <a:srgbClr val="FF9900"/>
              </a:solidFill>
              <a:latin typeface="Helvetica"/>
              <a:ea typeface="Calibri"/>
              <a:cs typeface="Calibri"/>
            </a:endParaRPr>
          </a:p>
        </p:txBody>
      </p:sp>
      <p:sp>
        <p:nvSpPr>
          <p:cNvPr id="1557822335" name="Slide Number Placeholder 17"/>
          <p:cNvSpPr/>
          <p:nvPr/>
        </p:nvSpPr>
        <p:spPr bwMode="auto">
          <a:xfrm>
            <a:off x="448945" y="6356350"/>
            <a:ext cx="4434840" cy="365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ctr"/>
          <a:lstStyle>
            <a:lvl1pPr marL="0" algn="r" defTabSz="457200">
              <a:defRPr sz="1200" cap="none">
                <a:solidFill>
                  <a:srgbClr val="8C8C8C"/>
                </a:solidFill>
                <a:latin typeface="Calibri"/>
                <a:ea typeface="Calibri"/>
                <a:cs typeface="Calibri"/>
              </a:defRPr>
            </a:lvl1pPr>
            <a:lvl2pPr marL="4572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9144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3716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8288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2860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7432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2004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6576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/>
            </a:pPr>
            <a:r>
              <a:rPr sz="1600" cap="none">
                <a:solidFill>
                  <a:srgbClr val="7F7F7F"/>
                </a:solidFill>
                <a:latin typeface="Helvetica"/>
                <a:ea typeface="Calibri"/>
                <a:cs typeface="Helvetica"/>
              </a:rPr>
              <a:t>EX3030/EM40JN</a:t>
            </a:r>
            <a:endParaRPr sz="1600" cap="none">
              <a:solidFill>
                <a:srgbClr val="7F7F7F"/>
              </a:solidFill>
              <a:latin typeface="Helvetica"/>
              <a:ea typeface="Calibri"/>
              <a:cs typeface="Helvetica"/>
            </a:endParaRPr>
          </a:p>
        </p:txBody>
      </p:sp>
      <p:sp>
        <p:nvSpPr>
          <p:cNvPr id="1060258656" name="TextBox 4"/>
          <p:cNvSpPr/>
          <p:nvPr/>
        </p:nvSpPr>
        <p:spPr bwMode="auto">
          <a:xfrm>
            <a:off x="1056005" y="1872615"/>
            <a:ext cx="10079990" cy="449389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GB" sz="1800">
                <a:latin typeface="Helvetica"/>
                <a:ea typeface="Times New Roman"/>
                <a:cs typeface="Helvetica"/>
              </a:rPr>
              <a:t>We have </a:t>
            </a:r>
            <a:r>
              <a:rPr lang="en-GB" sz="1800" b="1">
                <a:latin typeface="Helvetica"/>
                <a:ea typeface="Times New Roman"/>
                <a:cs typeface="Helvetica"/>
              </a:rPr>
              <a:t>two approaches </a:t>
            </a:r>
            <a:r>
              <a:rPr lang="en-GB" sz="1800">
                <a:latin typeface="Helvetica"/>
                <a:ea typeface="Times New Roman"/>
                <a:cs typeface="Helvetica"/>
              </a:rPr>
              <a:t>that can be used to estimate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sz="1800" b="0" i="1">
                          <a:latin typeface="Cambria Math"/>
                          <a:ea typeface="Times New Roman"/>
                          <a:cs typeface="Helvetica"/>
                        </a:rPr>
                        <m:t>𝜀</m:t>
                      </m:r>
                    </m:oMath>
                  </m:oMathPara>
                </a14:m>
              </mc:Choice>
              <mc:Fallback/>
            </mc:AlternateContent>
            <a:endParaRPr lang="en-GB" sz="1800">
              <a:latin typeface="Helvetica"/>
              <a:ea typeface="Times New Roman"/>
              <a:cs typeface="Helvetica"/>
            </a:endParaRPr>
          </a:p>
          <a:p>
            <a:pPr marL="342900" indent="-342900"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AutoNum type="arabicPeriod"/>
              <a:defRPr/>
            </a:pPr>
            <a:r>
              <a:rPr lang="en-GB">
                <a:latin typeface="Helvetica"/>
                <a:ea typeface="Times New Roman"/>
                <a:cs typeface="Helvetica"/>
              </a:rPr>
              <a:t>Through the </a:t>
            </a:r>
            <a:r>
              <a:rPr lang="en-GB" b="1">
                <a:latin typeface="Helvetica"/>
                <a:ea typeface="Times New Roman"/>
                <a:cs typeface="Helvetica"/>
              </a:rPr>
              <a:t>effectiveness relations </a:t>
            </a:r>
            <a:endParaRPr/>
          </a:p>
          <a:p>
            <a:pPr marL="342900" indent="-342900"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AutoNum type="arabicPeriod"/>
              <a:defRPr/>
            </a:pPr>
            <a:r>
              <a:rPr lang="en-GB">
                <a:latin typeface="Helvetica"/>
                <a:ea typeface="Times New Roman"/>
                <a:cs typeface="Helvetica"/>
              </a:rPr>
              <a:t>Through </a:t>
            </a:r>
            <a:r>
              <a:rPr lang="en-GB" b="1">
                <a:latin typeface="Helvetica"/>
                <a:ea typeface="Times New Roman"/>
                <a:cs typeface="Helvetica"/>
              </a:rPr>
              <a:t>effectiveness charts</a:t>
            </a:r>
            <a:endParaRPr/>
          </a:p>
          <a:p>
            <a:pPr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GB" b="1">
                <a:latin typeface="Helvetica"/>
                <a:ea typeface="Times New Roman"/>
                <a:cs typeface="Helvetica"/>
              </a:rPr>
              <a:t>Effectiveness relations</a:t>
            </a:r>
            <a:r>
              <a:rPr lang="en-GB">
                <a:latin typeface="Helvetica"/>
                <a:ea typeface="Times New Roman"/>
                <a:cs typeface="Helvetica"/>
              </a:rPr>
              <a:t> have been developed for different heat exchangers </a:t>
            </a:r>
            <a:r>
              <a:rPr lang="en-GB" sz="1800">
                <a:latin typeface="Helvetica"/>
                <a:ea typeface="Times New Roman"/>
                <a:cs typeface="Helvetica"/>
              </a:rPr>
              <a:t>e</a:t>
            </a:r>
            <a:r>
              <a:rPr lang="en-GB">
                <a:latin typeface="Helvetica"/>
                <a:ea typeface="Times New Roman"/>
                <a:cs typeface="Helvetica"/>
              </a:rPr>
              <a:t>.g. effectiveness relation for double-pipe parallel-flow HE:</a:t>
            </a:r>
            <a:endParaRPr/>
          </a:p>
          <a:p>
            <a:pPr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1800" b="0" i="1">
                          <a:latin typeface="Cambria Math"/>
                          <a:ea typeface="Times New Roman"/>
                          <a:cs typeface="Helvetica"/>
                        </a:rPr>
                        <m:t>𝜀</m:t>
                      </m:r>
                      <m:r>
                        <m:rPr/>
                        <a:rPr lang="en-GB" sz="1800" b="0" i="1">
                          <a:latin typeface="Cambria Math"/>
                          <a:ea typeface="Times New Roman"/>
                          <a:cs typeface="Helvetica"/>
                        </a:rPr>
                        <m:t>=</m:t>
                      </m:r>
                      <m:f>
                        <m:fPr>
                          <m:ctrlPr>
                            <a:rPr lang="en-GB" sz="1800" b="0" i="1">
                              <a:latin typeface="Cambria Math"/>
                              <a:ea typeface="Cambria Math"/>
                              <a:cs typeface="Helvetica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sz="1800" b="0" i="1">
                                  <a:latin typeface="Cambria Math"/>
                                  <a:ea typeface="Cambria Math"/>
                                  <a:cs typeface="Helvetica"/>
                                </a:rPr>
                              </m:ctrlPr>
                            </m:funcPr>
                            <m:fName>
                              <m:r>
                                <m:rPr/>
                                <a:rPr lang="en-GB" sz="1800" b="0" i="0">
                                  <a:latin typeface="Cambria Math"/>
                                  <a:cs typeface="Helvetica"/>
                                </a:rPr>
                                <m:t>1−</m:t>
                              </m:r>
                              <m:r>
                                <m:rPr>
                                  <m:sty m:val="p"/>
                                </m:rPr>
                                <a:rPr lang="en-GB" sz="1800" b="0" i="0">
                                  <a:latin typeface="Cambria Math"/>
                                  <a:cs typeface="Helvetica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1800" b="0" i="1">
                                      <a:latin typeface="Cambria Math"/>
                                      <a:ea typeface="Cambria Math"/>
                                      <a:cs typeface="Helvetica"/>
                                    </a:rPr>
                                  </m:ctrlPr>
                                </m:dPr>
                                <m:e>
                                  <m:r>
                                    <m:rPr/>
                                    <a:rPr lang="en-GB" sz="1800" b="0" i="1">
                                      <a:latin typeface="Cambria Math"/>
                                      <a:cs typeface="Helvetica"/>
                                    </a:rPr>
                                    <m:t>−</m:t>
                                  </m:r>
                                  <m:r>
                                    <m:rPr/>
                                    <a:rPr lang="en-GB" sz="1800" b="0" i="1">
                                      <a:latin typeface="Cambria Math"/>
                                      <a:cs typeface="Helvetica"/>
                                    </a:rPr>
                                    <m:t>𝑁𝑇𝑈</m:t>
                                  </m:r>
                                  <m:d>
                                    <m:dPr>
                                      <m:ctrlPr>
                                        <a:rPr lang="en-GB" sz="1800" b="0" i="1">
                                          <a:latin typeface="Cambria Math"/>
                                          <a:ea typeface="Cambria Math"/>
                                          <a:cs typeface="Helvetica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/>
                                        <a:rPr lang="en-GB" sz="1800" b="0" i="1">
                                          <a:latin typeface="Cambria Math"/>
                                          <a:cs typeface="Helvetica"/>
                                        </a:rPr>
                                        <m:t>1+</m:t>
                                      </m:r>
                                      <m:r>
                                        <m:rPr/>
                                        <a:rPr lang="en-GB" sz="1800" b="0" i="1">
                                          <a:latin typeface="Cambria Math"/>
                                          <a:cs typeface="Helvetica"/>
                                        </a:rPr>
                                        <m:t>𝑐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num>
                        <m:den>
                          <m:r>
                            <m:rPr/>
                            <a:rPr lang="en-GB" sz="1800" b="0" i="1">
                              <a:latin typeface="Cambria Math"/>
                              <a:cs typeface="Helvetica"/>
                            </a:rPr>
                            <m:t>1+</m:t>
                          </m:r>
                          <m:r>
                            <m:rPr/>
                            <a:rPr lang="en-GB" sz="1800" b="0" i="1">
                              <a:latin typeface="Cambria Math"/>
                              <a:cs typeface="Helvetica"/>
                            </a:rPr>
                            <m:t>𝑐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endParaRPr lang="en-GB" sz="1800">
              <a:latin typeface="Helvetica"/>
              <a:ea typeface="Times New Roman"/>
              <a:cs typeface="Helvetica"/>
            </a:endParaRPr>
          </a:p>
          <a:p>
            <a:pPr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GB">
                <a:latin typeface="Helvetica"/>
                <a:ea typeface="Times New Roman"/>
                <a:cs typeface="Helvetica"/>
              </a:rPr>
              <a:t>we see that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b="0" i="1">
                          <a:latin typeface="Cambria Math"/>
                          <a:ea typeface="Times New Roman"/>
                          <a:cs typeface="Helvetica"/>
                        </a:rPr>
                        <m:t>𝜀</m:t>
                      </m:r>
                      <m:r>
                        <m:rPr/>
                        <a:rPr lang="en-GB" b="0" i="1">
                          <a:latin typeface="Cambria Math"/>
                          <a:ea typeface="Times New Roman"/>
                          <a:cs typeface="Helvetica"/>
                        </a:rPr>
                        <m:t>=</m:t>
                      </m:r>
                      <m:r>
                        <m:rPr/>
                        <a:rPr lang="en-GB" b="0" i="1">
                          <a:latin typeface="Cambria Math"/>
                          <a:ea typeface="Times New Roman"/>
                          <a:cs typeface="Helvetica"/>
                        </a:rPr>
                        <m:t>𝑓</m:t>
                      </m:r>
                      <m:d>
                        <m:dPr>
                          <m:ctrlPr>
                            <a:rPr lang="en-GB" b="0" i="1">
                              <a:latin typeface="Cambria Math"/>
                              <a:ea typeface="Times New Roman"/>
                              <a:cs typeface="Helvetica"/>
                            </a:rPr>
                          </m:ctrlPr>
                        </m:dPr>
                        <m:e>
                          <m:r>
                            <m:rPr/>
                            <a:rPr lang="en-GB" b="0" i="1">
                              <a:latin typeface="Cambria Math"/>
                              <a:ea typeface="Times New Roman"/>
                              <a:cs typeface="Helvetica"/>
                            </a:rPr>
                            <m:t>𝑐</m:t>
                          </m:r>
                          <m:r>
                            <m:rPr/>
                            <a:rPr lang="en-GB" b="0" i="1">
                              <a:latin typeface="Cambria Math"/>
                              <a:ea typeface="Times New Roman"/>
                              <a:cs typeface="Helvetica"/>
                            </a:rPr>
                            <m:t>, </m:t>
                          </m:r>
                          <m:r>
                            <m:rPr/>
                            <a:rPr lang="en-GB" b="0" i="1">
                              <a:latin typeface="Cambria Math"/>
                              <a:ea typeface="Times New Roman"/>
                              <a:cs typeface="Helvetica"/>
                            </a:rPr>
                            <m:t>𝑁𝑇𝑈</m:t>
                          </m:r>
                        </m:e>
                      </m:d>
                    </m:oMath>
                  </m:oMathPara>
                </a14:m>
              </mc:Choice>
              <mc:Fallback/>
            </mc:AlternateContent>
            <a:endParaRPr lang="en-GB" sz="1800">
              <a:latin typeface="Helvetica"/>
              <a:ea typeface="Times New Roman"/>
              <a:cs typeface="Helvetica"/>
            </a:endParaRPr>
          </a:p>
          <a:p>
            <a:pPr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>
                          <m:sty m:val="p"/>
                        </m:rPr>
                        <a:rPr lang="en-GB" sz="1800" b="0" i="0">
                          <a:latin typeface="Cambria Math"/>
                          <a:ea typeface="Times New Roman"/>
                          <a:cs typeface="Helvetica"/>
                        </a:rPr>
                        <m:t>where</m:t>
                      </m:r>
                      <m:r>
                        <m:rPr/>
                        <a:rPr lang="en-GB" sz="1800" b="0" i="0">
                          <a:latin typeface="Cambria Math"/>
                          <a:ea typeface="Times New Roman"/>
                          <a:cs typeface="Helvetica"/>
                        </a:rPr>
                        <m:t> </m:t>
                      </m:r>
                      <m:r>
                        <m:rPr/>
                        <a:rPr lang="en-GB" sz="1800" b="0" i="1">
                          <a:latin typeface="Cambria Math"/>
                          <a:ea typeface="Times New Roman"/>
                          <a:cs typeface="Helvetica"/>
                        </a:rPr>
                        <m:t>    </m:t>
                      </m:r>
                      <m:r>
                        <m:rPr/>
                        <a:rPr lang="en-GB" sz="1800" b="0" i="1">
                          <a:latin typeface="Cambria Math"/>
                          <a:ea typeface="Times New Roman"/>
                          <a:cs typeface="Helvetica"/>
                        </a:rPr>
                        <m:t>𝑐</m:t>
                      </m:r>
                      <m:r>
                        <m:rPr/>
                        <a:rPr lang="en-GB" sz="1800" b="0" i="1">
                          <a:latin typeface="Cambria Math"/>
                          <a:ea typeface="Times New Roman"/>
                          <a:cs typeface="Helvetica"/>
                        </a:rPr>
                        <m:t>=</m:t>
                      </m:r>
                      <m:f>
                        <m:fPr>
                          <m:ctrlPr>
                            <a:rPr lang="en-GB" sz="1800" b="0" i="1">
                              <a:latin typeface="Cambria Math"/>
                              <a:ea typeface="Cambria Math"/>
                              <a:cs typeface="Helvetica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>
                                  <a:latin typeface="Cambria Math"/>
                                  <a:ea typeface="Cambria Math"/>
                                  <a:cs typeface="Helvetica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GB" i="1">
                                  <a:latin typeface="Cambria Math"/>
                                  <a:cs typeface="Helvetica"/>
                                </a:rPr>
                                <m:t>𝐶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/>
                                  <a:cs typeface="Helvetica"/>
                                </a:rPr>
                                <m:t>min</m:t>
                              </m:r>
                              <m:r>
                                <m:rPr>
                                  <m:sty m:val="p"/>
                                </m:rPr>
                                <a:rPr lang="en-GB" b="0" i="0">
                                  <a:latin typeface="Cambria Math"/>
                                  <a:cs typeface="Helvetica"/>
                                </a:rPr>
                                <m:t>i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i="1">
                                  <a:latin typeface="Cambria Math"/>
                                  <a:ea typeface="Cambria Math"/>
                                  <a:cs typeface="Helvetica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GB" i="1">
                                  <a:latin typeface="Cambria Math"/>
                                  <a:cs typeface="Helvetica"/>
                                </a:rPr>
                                <m:t>𝐶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/>
                                  <a:cs typeface="Helvetica"/>
                                </a:rPr>
                                <m:t>m</m:t>
                              </m:r>
                              <m:r>
                                <m:rPr>
                                  <m:sty m:val="p"/>
                                </m:rPr>
                                <a:rPr lang="en-GB" b="0" i="0">
                                  <a:latin typeface="Cambria Math"/>
                                  <a:cs typeface="Helvetica"/>
                                </a:rPr>
                                <m:t>axi</m:t>
                              </m:r>
                            </m:sub>
                          </m:sSub>
                        </m:den>
                      </m:f>
                      <m:r>
                        <m:rPr/>
                        <a:rPr lang="en-GB" sz="1800" b="0" i="1">
                          <a:latin typeface="Cambria Math"/>
                          <a:cs typeface="Helvetica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/>
                              <a:ea typeface="Cambria Math"/>
                              <a:cs typeface="Helvetica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>
                                  <a:latin typeface="Cambria Math"/>
                                  <a:ea typeface="Cambria Math"/>
                                  <a:cs typeface="Helvetica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GB" i="1">
                                      <a:latin typeface="Cambria Math"/>
                                      <a:ea typeface="Cambria Math"/>
                                      <a:cs typeface="Helvetica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GB" i="1">
                                          <a:latin typeface="Cambria Math"/>
                                          <a:ea typeface="Cambria Math"/>
                                          <a:cs typeface="Helvetica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/>
                                        <a:rPr lang="en-GB" i="1">
                                          <a:latin typeface="Cambria Math"/>
                                          <a:cs typeface="Helvetica"/>
                                        </a:rPr>
                                        <m:t>𝑚</m:t>
                                      </m:r>
                                    </m:e>
                                  </m:acc>
                                  <m:sSub>
                                    <m:sSubPr>
                                      <m:ctrlPr>
                                        <a:rPr lang="en-GB" i="1">
                                          <a:latin typeface="Cambria Math"/>
                                          <a:ea typeface="Cambria Math"/>
                                          <a:cs typeface="Helvetica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/>
                                        <a:rPr lang="en-GB" i="1">
                                          <a:latin typeface="Cambria Math"/>
                                          <a:cs typeface="Helvetica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GB">
                                          <a:latin typeface="Cambria Math"/>
                                          <a:cs typeface="Helvetica"/>
                                        </a:rPr>
                                        <m:t>p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b="0" i="0">
                                  <a:latin typeface="Cambria Math"/>
                                  <a:cs typeface="Helvetica"/>
                                </a:rPr>
                                <m:t>mini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i="1">
                                  <a:latin typeface="Cambria Math"/>
                                  <a:ea typeface="Cambria Math"/>
                                  <a:cs typeface="Helvetica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GB" i="1">
                                      <a:latin typeface="Cambria Math"/>
                                      <a:ea typeface="Cambria Math"/>
                                      <a:cs typeface="Helvetica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GB" i="1">
                                          <a:latin typeface="Cambria Math"/>
                                          <a:ea typeface="Cambria Math"/>
                                          <a:cs typeface="Helvetica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/>
                                        <a:rPr lang="en-GB" i="1">
                                          <a:latin typeface="Cambria Math"/>
                                          <a:cs typeface="Helvetica"/>
                                        </a:rPr>
                                        <m:t>𝑚</m:t>
                                      </m:r>
                                    </m:e>
                                  </m:acc>
                                  <m:sSub>
                                    <m:sSubPr>
                                      <m:ctrlPr>
                                        <a:rPr lang="en-GB" i="1">
                                          <a:latin typeface="Cambria Math"/>
                                          <a:ea typeface="Cambria Math"/>
                                          <a:cs typeface="Helvetica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/>
                                        <a:rPr lang="en-GB" i="1">
                                          <a:latin typeface="Cambria Math"/>
                                          <a:cs typeface="Helvetica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GB">
                                          <a:latin typeface="Cambria Math"/>
                                          <a:cs typeface="Helvetica"/>
                                        </a:rPr>
                                        <m:t>p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b="0" i="0">
                                  <a:latin typeface="Cambria Math"/>
                                  <a:cs typeface="Helvetica"/>
                                </a:rPr>
                                <m:t>maxi</m:t>
                              </m:r>
                            </m:sub>
                          </m:sSub>
                        </m:den>
                      </m:f>
                      <m:r>
                        <m:rPr/>
                        <a:rPr lang="en-GB" b="0" i="1">
                          <a:latin typeface="Cambria Math"/>
                          <a:cs typeface="Helvetica"/>
                        </a:rPr>
                        <m:t>    </m:t>
                      </m:r>
                      <m:r>
                        <m:rPr/>
                        <a:rPr lang="en-GB" b="0" i="0">
                          <a:latin typeface="Cambria Math"/>
                          <a:cs typeface="Helvetica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sz="1800" b="0" i="0">
                          <a:latin typeface="Cambria Math"/>
                          <a:cs typeface="Helvetica"/>
                        </a:rPr>
                        <m:t>and</m:t>
                      </m:r>
                      <m:r>
                        <m:rPr/>
                        <a:rPr lang="en-GB" sz="1800" b="0" i="0">
                          <a:latin typeface="Cambria Math"/>
                          <a:cs typeface="Helvetica"/>
                        </a:rPr>
                        <m:t>    </m:t>
                      </m:r>
                      <m:r>
                        <m:rPr/>
                        <a:rPr lang="en-GB" sz="1800" b="0" i="1">
                          <a:latin typeface="Cambria Math"/>
                          <a:ea typeface="Times New Roman"/>
                          <a:cs typeface="Helvetica"/>
                        </a:rPr>
                        <m:t>𝑁𝑇𝑈</m:t>
                      </m:r>
                      <m:r>
                        <m:rPr/>
                        <a:rPr lang="en-GB" sz="1800" b="0" i="1">
                          <a:latin typeface="Cambria Math"/>
                          <a:ea typeface="Times New Roman"/>
                          <a:cs typeface="Helvetica"/>
                        </a:rPr>
                        <m:t>=</m:t>
                      </m:r>
                      <m:f>
                        <m:fPr>
                          <m:ctrlPr>
                            <a:rPr lang="en-GB" sz="1800" b="0" i="1">
                              <a:latin typeface="Cambria Math"/>
                              <a:ea typeface="Cambria Math"/>
                              <a:cs typeface="Helvetica"/>
                            </a:rPr>
                          </m:ctrlPr>
                        </m:fPr>
                        <m:num>
                          <m:r>
                            <m:rPr/>
                            <a:rPr lang="en-GB" sz="1800" b="0" i="1">
                              <a:latin typeface="Cambria Math"/>
                              <a:cs typeface="Helvetica"/>
                            </a:rPr>
                            <m:t>𝑈𝐴</m:t>
                          </m:r>
                        </m:num>
                        <m:den>
                          <m:sSub>
                            <m:sSubPr>
                              <m:ctrlPr>
                                <a:rPr lang="en-GB" sz="1800" b="0" i="1">
                                  <a:latin typeface="Cambria Math"/>
                                  <a:ea typeface="Cambria Math"/>
                                  <a:cs typeface="Helvetica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GB" sz="1800" b="0" i="1">
                                  <a:latin typeface="Cambria Math"/>
                                  <a:cs typeface="Helvetica"/>
                                </a:rPr>
                                <m:t>𝐶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1800" b="0" i="0">
                                  <a:latin typeface="Cambria Math"/>
                                  <a:cs typeface="Helvetica"/>
                                </a:rPr>
                                <m:t>mini</m:t>
                              </m:r>
                            </m:sub>
                          </m:sSub>
                        </m:den>
                      </m:f>
                      <m:r>
                        <m:rPr/>
                        <a:rPr lang="en-GB" sz="1800" b="0" i="1">
                          <a:latin typeface="Cambria Math"/>
                          <a:cs typeface="Helvetica"/>
                        </a:rPr>
                        <m:t>=</m:t>
                      </m:r>
                      <m:f>
                        <m:fPr>
                          <m:ctrlPr>
                            <a:rPr lang="en-GB" sz="1800" b="0" i="1">
                              <a:latin typeface="Cambria Math"/>
                              <a:ea typeface="Cambria Math"/>
                              <a:cs typeface="Helvetica"/>
                            </a:rPr>
                          </m:ctrlPr>
                        </m:fPr>
                        <m:num>
                          <m:r>
                            <m:rPr/>
                            <a:rPr lang="en-GB" sz="1800" b="0" i="1">
                              <a:latin typeface="Cambria Math"/>
                              <a:cs typeface="Helvetica"/>
                            </a:rPr>
                            <m:t>𝑈𝐴</m:t>
                          </m:r>
                        </m:num>
                        <m:den>
                          <m:sSub>
                            <m:sSubPr>
                              <m:ctrlPr>
                                <a:rPr lang="en-GB" i="1">
                                  <a:latin typeface="Cambria Math"/>
                                  <a:ea typeface="Cambria Math"/>
                                  <a:cs typeface="Helvetica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GB" i="1">
                                      <a:latin typeface="Cambria Math"/>
                                      <a:ea typeface="Cambria Math"/>
                                      <a:cs typeface="Helvetica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GB" i="1">
                                          <a:latin typeface="Cambria Math"/>
                                          <a:ea typeface="Cambria Math"/>
                                          <a:cs typeface="Helvetica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/>
                                        <a:rPr lang="en-GB" i="1">
                                          <a:latin typeface="Cambria Math"/>
                                          <a:cs typeface="Helvetica"/>
                                        </a:rPr>
                                        <m:t>𝑚</m:t>
                                      </m:r>
                                    </m:e>
                                  </m:acc>
                                  <m:sSub>
                                    <m:sSubPr>
                                      <m:ctrlPr>
                                        <a:rPr lang="en-GB" i="1">
                                          <a:latin typeface="Cambria Math"/>
                                          <a:ea typeface="Cambria Math"/>
                                          <a:cs typeface="Helvetica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/>
                                        <a:rPr lang="en-GB" i="1">
                                          <a:latin typeface="Cambria Math"/>
                                          <a:cs typeface="Helvetica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GB">
                                          <a:latin typeface="Cambria Math"/>
                                          <a:cs typeface="Helvetica"/>
                                        </a:rPr>
                                        <m:t>p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/>
                                  <a:cs typeface="Helvetica"/>
                                </a:rPr>
                                <m:t>mini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mc:Choice>
              <mc:Fallback/>
            </mc:AlternateContent>
            <a:endParaRPr lang="en-GB" sz="1800">
              <a:latin typeface="Helvetica"/>
              <a:ea typeface="Times New Roman"/>
              <a:cs typeface="Helvetic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5889631" name="Title 3"/>
          <p:cNvSpPr>
            <a:spLocks noChangeArrowheads="1" noGrp="1"/>
          </p:cNvSpPr>
          <p:nvPr>
            <p:ph type="ctrTitle"/>
          </p:nvPr>
        </p:nvSpPr>
        <p:spPr bwMode="auto">
          <a:xfrm>
            <a:off x="0" y="360045"/>
            <a:ext cx="12192000" cy="7080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t">
            <a:prstTxWarp prst="textNoShape"/>
          </a:bodyPr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sz="4000" cap="none">
                <a:latin typeface="Helvetica"/>
                <a:ea typeface="Verdana"/>
                <a:cs typeface="Helvetica"/>
              </a:rPr>
              <a:t>ξ-NTU Method </a:t>
            </a:r>
            <a:endParaRPr sz="4000" cap="none">
              <a:latin typeface="Helvetica"/>
              <a:ea typeface="Verdana"/>
              <a:cs typeface="Helvetica"/>
            </a:endParaRPr>
          </a:p>
        </p:txBody>
      </p:sp>
      <p:sp>
        <p:nvSpPr>
          <p:cNvPr id="1179350121" name="Slide Number Placeholder 17"/>
          <p:cNvSpPr>
            <a:spLocks noChangeArrowheads="1" noGrp="1"/>
          </p:cNvSpPr>
          <p:nvPr>
            <p:ph type="sldNum" sz="quarter" idx="12"/>
          </p:nvPr>
        </p:nvSpPr>
        <p:spPr bwMode="auto">
          <a:xfrm>
            <a:off x="8999855" y="6356350"/>
            <a:ext cx="2743200" cy="365125"/>
          </a:xfrm>
        </p:spPr>
        <p:txBody>
          <a:bodyPr/>
          <a:lstStyle/>
          <a:p>
            <a:pPr>
              <a:defRPr/>
            </a:pPr>
            <a:fld id="{31981CD1-9FDC-CDEA-9220-69BF526E643C}" type="slidenum">
              <a:rPr sz="1600" cap="none">
                <a:solidFill>
                  <a:srgbClr val="7F7F7F"/>
                </a:solidFill>
                <a:latin typeface="Helvetica"/>
                <a:ea typeface="Calibri"/>
                <a:cs typeface="Helvetica"/>
              </a:rPr>
              <a:t>13</a:t>
            </a:fld>
            <a:endParaRPr sz="1600" cap="none">
              <a:solidFill>
                <a:srgbClr val="7F7F7F"/>
              </a:solidFill>
              <a:latin typeface="Helvetica"/>
              <a:ea typeface="Calibri"/>
              <a:cs typeface="Helvetica"/>
            </a:endParaRPr>
          </a:p>
        </p:txBody>
      </p:sp>
      <p:pic>
        <p:nvPicPr>
          <p:cNvPr id="1969510371" name="Picture 8" descr="A picture containing text, clipart&#10;&#10;Description automatically generated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48945" y="360045"/>
            <a:ext cx="1967865" cy="53975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980537433" name="TextBox 1"/>
          <p:cNvSpPr/>
          <p:nvPr/>
        </p:nvSpPr>
        <p:spPr bwMode="auto">
          <a:xfrm>
            <a:off x="1056005" y="2259330"/>
            <a:ext cx="10079990" cy="3943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t"/>
          <a:lstStyle/>
          <a:p>
            <a:pPr marL="285750" indent="-285750"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  <a:defRPr/>
            </a:pPr>
            <a:endParaRPr cap="none">
              <a:solidFill>
                <a:srgbClr val="D0CECE"/>
              </a:solidFill>
              <a:latin typeface="Helvetica"/>
              <a:ea typeface="Calibri"/>
              <a:cs typeface="Calibri"/>
            </a:endParaRPr>
          </a:p>
        </p:txBody>
      </p:sp>
      <p:sp>
        <p:nvSpPr>
          <p:cNvPr id="1838782780" name="TextBox 2"/>
          <p:cNvSpPr/>
          <p:nvPr/>
        </p:nvSpPr>
        <p:spPr bwMode="auto">
          <a:xfrm>
            <a:off x="1056005" y="1193800"/>
            <a:ext cx="10079990" cy="4000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t"/>
          <a:lstStyle/>
          <a:p>
            <a:pPr algn="ctr">
              <a:spcAft>
                <a:spcPts val="600"/>
              </a:spcAft>
              <a:defRPr/>
            </a:pPr>
            <a:r>
              <a:rPr sz="2000" b="1" cap="none">
                <a:solidFill>
                  <a:srgbClr val="FF9900"/>
                </a:solidFill>
                <a:latin typeface="Helvetica"/>
                <a:ea typeface="Calibri"/>
                <a:cs typeface="Calibri"/>
              </a:rPr>
              <a:t>Effectiveness charts:</a:t>
            </a:r>
            <a:endParaRPr sz="2000" b="1" cap="none">
              <a:solidFill>
                <a:srgbClr val="FF9900"/>
              </a:solidFill>
              <a:latin typeface="Helvetica"/>
              <a:ea typeface="Calibri"/>
              <a:cs typeface="Calibri"/>
            </a:endParaRPr>
          </a:p>
        </p:txBody>
      </p:sp>
      <p:sp>
        <p:nvSpPr>
          <p:cNvPr id="1929727483" name="Slide Number Placeholder 17"/>
          <p:cNvSpPr/>
          <p:nvPr/>
        </p:nvSpPr>
        <p:spPr bwMode="auto">
          <a:xfrm>
            <a:off x="448945" y="6356350"/>
            <a:ext cx="4434840" cy="365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ctr"/>
          <a:lstStyle>
            <a:lvl1pPr marL="0" algn="r" defTabSz="457200">
              <a:defRPr sz="1200" cap="none">
                <a:solidFill>
                  <a:srgbClr val="8C8C8C"/>
                </a:solidFill>
                <a:latin typeface="Calibri"/>
                <a:ea typeface="Calibri"/>
                <a:cs typeface="Calibri"/>
              </a:defRPr>
            </a:lvl1pPr>
            <a:lvl2pPr marL="4572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9144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3716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8288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2860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7432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2004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6576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/>
            </a:pPr>
            <a:r>
              <a:rPr sz="1600" cap="none">
                <a:solidFill>
                  <a:srgbClr val="7F7F7F"/>
                </a:solidFill>
                <a:latin typeface="Helvetica"/>
                <a:ea typeface="Calibri"/>
                <a:cs typeface="Helvetica"/>
              </a:rPr>
              <a:t>EX3030/EM40JN</a:t>
            </a:r>
            <a:endParaRPr sz="1600" cap="none">
              <a:solidFill>
                <a:srgbClr val="7F7F7F"/>
              </a:solidFill>
              <a:latin typeface="Helvetica"/>
              <a:ea typeface="Calibri"/>
              <a:cs typeface="Helvetica"/>
            </a:endParaRPr>
          </a:p>
        </p:txBody>
      </p:sp>
      <p:sp>
        <p:nvSpPr>
          <p:cNvPr id="1434079499" name="TextBox 4"/>
          <p:cNvSpPr/>
          <p:nvPr/>
        </p:nvSpPr>
        <p:spPr bwMode="auto">
          <a:xfrm>
            <a:off x="1056005" y="1762125"/>
            <a:ext cx="10079990" cy="3733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GB" sz="1800">
                <a:latin typeface="Helvetica"/>
                <a:ea typeface="Times New Roman"/>
                <a:cs typeface="Helvetica"/>
              </a:rPr>
              <a:t>Second approach for estimating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sz="1800" b="0" i="1">
                          <a:latin typeface="Cambria Math"/>
                          <a:ea typeface="Times New Roman"/>
                          <a:cs typeface="Helvetica"/>
                        </a:rPr>
                        <m:t>𝜀</m:t>
                      </m:r>
                    </m:oMath>
                  </m:oMathPara>
                </a14:m>
              </mc:Choice>
              <mc:Fallback/>
            </mc:AlternateContent>
            <a:r>
              <a:rPr lang="en-GB" sz="1800">
                <a:latin typeface="Helvetica"/>
                <a:ea typeface="Times New Roman"/>
                <a:cs typeface="Helvetica"/>
              </a:rPr>
              <a:t> is through the </a:t>
            </a:r>
            <a:r>
              <a:rPr lang="en-GB" sz="1800" b="1">
                <a:latin typeface="Helvetica"/>
                <a:ea typeface="Times New Roman"/>
                <a:cs typeface="Helvetica"/>
              </a:rPr>
              <a:t>effectiveness charts</a:t>
            </a:r>
            <a:r>
              <a:rPr lang="en-GB" sz="1800">
                <a:latin typeface="Helvetica"/>
                <a:ea typeface="Times New Roman"/>
                <a:cs typeface="Helvetica"/>
              </a:rPr>
              <a:t>:</a:t>
            </a:r>
            <a:endParaRPr/>
          </a:p>
        </p:txBody>
      </p:sp>
      <p:pic>
        <p:nvPicPr>
          <p:cNvPr id="866248129" name="Picture 6" descr="Diagram&#10;&#10;Description automatically generated"/>
          <p:cNvPicPr/>
          <p:nvPr/>
        </p:nvPicPr>
        <p:blipFill>
          <a:blip r:embed="rId4"/>
          <a:stretch/>
        </p:blipFill>
        <p:spPr bwMode="auto">
          <a:xfrm>
            <a:off x="2051685" y="2385695"/>
            <a:ext cx="8088630" cy="363791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44834947" name="Picture 9" descr="Diagram, schematic&#10;&#10;Description automatically generated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409055" y="3628390"/>
            <a:ext cx="5660390" cy="30861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72708734" name="Title 3"/>
          <p:cNvSpPr>
            <a:spLocks noChangeArrowheads="1" noGrp="1"/>
          </p:cNvSpPr>
          <p:nvPr>
            <p:ph type="ctrTitle"/>
          </p:nvPr>
        </p:nvSpPr>
        <p:spPr bwMode="auto">
          <a:xfrm>
            <a:off x="0" y="360045"/>
            <a:ext cx="12192000" cy="7080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t">
            <a:prstTxWarp prst="textNoShape"/>
          </a:bodyPr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sz="4000" cap="none">
                <a:latin typeface="Helvetica"/>
                <a:ea typeface="Verdana"/>
                <a:cs typeface="Helvetica"/>
              </a:rPr>
              <a:t>Worked Example 2</a:t>
            </a:r>
            <a:endParaRPr sz="4000" cap="none">
              <a:latin typeface="Helvetica"/>
              <a:ea typeface="Verdana"/>
              <a:cs typeface="Helvetica"/>
            </a:endParaRPr>
          </a:p>
        </p:txBody>
      </p:sp>
      <p:sp>
        <p:nvSpPr>
          <p:cNvPr id="397446804" name="Slide Number Placeholder 17"/>
          <p:cNvSpPr>
            <a:spLocks noChangeArrowheads="1" noGrp="1"/>
          </p:cNvSpPr>
          <p:nvPr>
            <p:ph type="sldNum" sz="quarter" idx="12"/>
          </p:nvPr>
        </p:nvSpPr>
        <p:spPr bwMode="auto">
          <a:xfrm>
            <a:off x="8999855" y="6356350"/>
            <a:ext cx="2743200" cy="365125"/>
          </a:xfrm>
        </p:spPr>
        <p:txBody>
          <a:bodyPr/>
          <a:lstStyle/>
          <a:p>
            <a:pPr>
              <a:defRPr/>
            </a:pPr>
            <a:fld id="{2A8744BB-F5C7-D2B2-893F-03E70A717F56}" type="slidenum">
              <a:rPr sz="1600" cap="none">
                <a:solidFill>
                  <a:srgbClr val="7F7F7F"/>
                </a:solidFill>
                <a:latin typeface="Helvetica"/>
                <a:ea typeface="Calibri"/>
                <a:cs typeface="Helvetica"/>
              </a:rPr>
              <a:t>14</a:t>
            </a:fld>
            <a:endParaRPr sz="1600" cap="none">
              <a:solidFill>
                <a:srgbClr val="7F7F7F"/>
              </a:solidFill>
              <a:latin typeface="Helvetica"/>
              <a:ea typeface="Calibri"/>
              <a:cs typeface="Helvetica"/>
            </a:endParaRPr>
          </a:p>
        </p:txBody>
      </p:sp>
      <p:pic>
        <p:nvPicPr>
          <p:cNvPr id="874851959" name="Picture 8" descr="A picture containing text, clipart&#10;&#10;Description automatically generated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448945" y="360045"/>
            <a:ext cx="1967865" cy="53975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126552857" name="TextBox 1"/>
          <p:cNvSpPr/>
          <p:nvPr/>
        </p:nvSpPr>
        <p:spPr bwMode="auto">
          <a:xfrm>
            <a:off x="1056005" y="2259330"/>
            <a:ext cx="10079990" cy="3943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t"/>
          <a:lstStyle/>
          <a:p>
            <a:pPr marL="285750" indent="-285750"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  <a:defRPr/>
            </a:pPr>
            <a:endParaRPr cap="none">
              <a:solidFill>
                <a:srgbClr val="D0CECE"/>
              </a:solidFill>
              <a:latin typeface="Helvetica"/>
              <a:ea typeface="Calibri"/>
              <a:cs typeface="Calibri"/>
            </a:endParaRPr>
          </a:p>
        </p:txBody>
      </p:sp>
      <p:sp>
        <p:nvSpPr>
          <p:cNvPr id="159287476" name="TextBox 2"/>
          <p:cNvSpPr/>
          <p:nvPr/>
        </p:nvSpPr>
        <p:spPr bwMode="auto">
          <a:xfrm>
            <a:off x="1056005" y="1271270"/>
            <a:ext cx="10079990" cy="4000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t"/>
          <a:lstStyle/>
          <a:p>
            <a:pPr algn="ctr">
              <a:spcAft>
                <a:spcPts val="600"/>
              </a:spcAft>
              <a:defRPr/>
            </a:pPr>
            <a:r>
              <a:rPr sz="2000" b="1" cap="none">
                <a:solidFill>
                  <a:srgbClr val="FF9900"/>
                </a:solidFill>
                <a:latin typeface="Helvetica"/>
                <a:ea typeface="Calibri"/>
                <a:cs typeface="Calibri"/>
              </a:rPr>
              <a:t>Effectiveness-NTU Method</a:t>
            </a:r>
            <a:endParaRPr sz="2000" b="1" cap="none">
              <a:solidFill>
                <a:srgbClr val="FF9900"/>
              </a:solidFill>
              <a:latin typeface="Helvetica"/>
              <a:ea typeface="Calibri"/>
              <a:cs typeface="Calibri"/>
            </a:endParaRPr>
          </a:p>
        </p:txBody>
      </p:sp>
      <p:sp>
        <p:nvSpPr>
          <p:cNvPr id="2128508810" name="Slide Number Placeholder 17"/>
          <p:cNvSpPr/>
          <p:nvPr/>
        </p:nvSpPr>
        <p:spPr bwMode="auto">
          <a:xfrm>
            <a:off x="448945" y="6356350"/>
            <a:ext cx="4434840" cy="365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ctr"/>
          <a:lstStyle>
            <a:lvl1pPr marL="0" algn="r" defTabSz="457200">
              <a:defRPr sz="1200" cap="none">
                <a:solidFill>
                  <a:srgbClr val="8C8C8C"/>
                </a:solidFill>
                <a:latin typeface="Calibri"/>
                <a:ea typeface="Calibri"/>
                <a:cs typeface="Calibri"/>
              </a:defRPr>
            </a:lvl1pPr>
            <a:lvl2pPr marL="4572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9144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3716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8288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2860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7432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2004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6576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/>
            </a:pPr>
            <a:r>
              <a:rPr sz="1600" cap="none">
                <a:solidFill>
                  <a:srgbClr val="7F7F7F"/>
                </a:solidFill>
                <a:latin typeface="Helvetica"/>
                <a:ea typeface="Calibri"/>
                <a:cs typeface="Helvetica"/>
              </a:rPr>
              <a:t>EX3030/EM40JN</a:t>
            </a:r>
            <a:endParaRPr sz="1600" cap="none">
              <a:solidFill>
                <a:srgbClr val="7F7F7F"/>
              </a:solidFill>
              <a:latin typeface="Helvetica"/>
              <a:ea typeface="Calibri"/>
              <a:cs typeface="Helvetica"/>
            </a:endParaRPr>
          </a:p>
        </p:txBody>
      </p:sp>
      <p:sp>
        <p:nvSpPr>
          <p:cNvPr id="158496139" name="TextBox 7"/>
          <p:cNvSpPr/>
          <p:nvPr/>
        </p:nvSpPr>
        <p:spPr bwMode="auto">
          <a:xfrm>
            <a:off x="953770" y="1874520"/>
            <a:ext cx="10079990" cy="19215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US" sz="1800">
                <a:latin typeface="Helvetica"/>
                <a:ea typeface="Times New Roman"/>
                <a:cs typeface="Helvetica"/>
              </a:rPr>
              <a:t>Hot oil (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GB" sz="1800" i="1">
                              <a:latin typeface="Cambria Math"/>
                              <a:ea typeface="Times New Roman"/>
                              <a:cs typeface="Calibri"/>
                            </a:rPr>
                          </m:ctrlPr>
                        </m:sSubPr>
                        <m:e>
                          <m:r>
                            <m:rPr/>
                            <a:rPr lang="en-GB" sz="1800" i="1">
                              <a:latin typeface="Cambria Math"/>
                              <a:ea typeface="Times New Roman"/>
                              <a:cs typeface="Calibri"/>
                            </a:rPr>
                            <m:t>𝐶</m:t>
                          </m:r>
                        </m:e>
                        <m:sub>
                          <m:r>
                            <m:rPr/>
                            <a:rPr lang="en-GB" sz="1800" i="1">
                              <a:latin typeface="Cambria Math"/>
                              <a:ea typeface="Times New Roman"/>
                              <a:cs typeface="Calibri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en-US" sz="1800">
                <a:latin typeface="Helvetica"/>
                <a:ea typeface="Times New Roman"/>
                <a:cs typeface="Helvetica"/>
              </a:rPr>
              <a:t> = 2200 J/kg·°C) is to be cooled by water (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GB" sz="1800" i="1">
                              <a:latin typeface="Cambria Math"/>
                              <a:ea typeface="Times New Roman"/>
                              <a:cs typeface="Calibri"/>
                            </a:rPr>
                          </m:ctrlPr>
                        </m:sSubPr>
                        <m:e>
                          <m:r>
                            <m:rPr/>
                            <a:rPr lang="en-GB" sz="1800" i="1">
                              <a:latin typeface="Cambria Math"/>
                              <a:ea typeface="Times New Roman"/>
                              <a:cs typeface="Calibri"/>
                            </a:rPr>
                            <m:t>𝐶</m:t>
                          </m:r>
                        </m:e>
                        <m:sub>
                          <m:r>
                            <m:rPr/>
                            <a:rPr lang="en-GB" sz="1800" i="1">
                              <a:latin typeface="Cambria Math"/>
                              <a:ea typeface="Times New Roman"/>
                              <a:cs typeface="Calibri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en-US" sz="1800">
                <a:latin typeface="Helvetica"/>
                <a:ea typeface="Times New Roman"/>
                <a:cs typeface="Helvetica"/>
              </a:rPr>
              <a:t> = 4180 J/kg·°C) in a 2-shell-pass and 12-tube-pass heat exchanger. The tubes are thin-walled and are made of copper with a diameter of 1.8 cm. The length of each tube pass in the heat exchanger is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sz="1800" i="1">
                          <a:latin typeface="Cambria Math"/>
                          <a:ea typeface="Times New Roman"/>
                          <a:cs typeface="Calibri"/>
                        </a:rPr>
                        <m:t>𝐿</m:t>
                      </m:r>
                    </m:oMath>
                  </m:oMathPara>
                </a14:m>
              </mc:Choice>
              <mc:Fallback/>
            </mc:AlternateContent>
            <a:r>
              <a:rPr lang="en-US" sz="1800">
                <a:latin typeface="Helvetica"/>
                <a:ea typeface="Times New Roman"/>
                <a:cs typeface="Helvetica"/>
              </a:rPr>
              <a:t> = 3 m, and the overall heat transfer coefficient is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sz="1800" i="1">
                          <a:latin typeface="Cambria Math"/>
                          <a:ea typeface="Times New Roman"/>
                          <a:cs typeface="Calibri"/>
                        </a:rPr>
                        <m:t>𝑈</m:t>
                      </m:r>
                    </m:oMath>
                  </m:oMathPara>
                </a14:m>
              </mc:Choice>
              <mc:Fallback/>
            </mc:AlternateContent>
            <a:r>
              <a:rPr lang="en-GB" sz="1800">
                <a:latin typeface="Helvetica"/>
                <a:ea typeface="Times New Roman"/>
                <a:cs typeface="Helvetica"/>
              </a:rPr>
              <a:t> </a:t>
            </a:r>
            <a:r>
              <a:rPr lang="en-US" sz="1800">
                <a:latin typeface="Helvetica"/>
                <a:ea typeface="Times New Roman"/>
                <a:cs typeface="Helvetica"/>
              </a:rPr>
              <a:t>= 340 W/m</a:t>
            </a:r>
            <a:r>
              <a:rPr lang="en-US" sz="1800" baseline="30000">
                <a:latin typeface="Helvetica"/>
                <a:ea typeface="Times New Roman"/>
                <a:cs typeface="Helvetica"/>
              </a:rPr>
              <a:t>2</a:t>
            </a:r>
            <a:r>
              <a:rPr lang="en-US" sz="1800">
                <a:latin typeface="Helvetica"/>
                <a:ea typeface="Times New Roman"/>
                <a:cs typeface="Helvetica"/>
              </a:rPr>
              <a:t>·°C. Water flows through the tubes at a total rate of 0.1 kg/s, and the oil through the shell at a rate of 0.2 kg/s. The water and the oil enter at temperatures of 18°C and 160°C, respectively.</a:t>
            </a:r>
            <a:endParaRPr lang="en-GB" sz="1800">
              <a:latin typeface="Helvetica"/>
              <a:ea typeface="Times New Roman"/>
              <a:cs typeface="Helvetica"/>
            </a:endParaRPr>
          </a:p>
        </p:txBody>
      </p:sp>
      <p:sp>
        <p:nvSpPr>
          <p:cNvPr id="1168318262" name="TextBox 11"/>
          <p:cNvSpPr/>
          <p:nvPr/>
        </p:nvSpPr>
        <p:spPr bwMode="auto">
          <a:xfrm>
            <a:off x="1056005" y="4386580"/>
            <a:ext cx="4726940" cy="12001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t"/>
          <a:lstStyle/>
          <a:p>
            <a:pPr algn="ctr">
              <a:defRPr/>
            </a:pPr>
            <a:r>
              <a:rPr b="1" cap="none">
                <a:latin typeface="Helvetica"/>
                <a:ea typeface="Times New Roman"/>
                <a:cs typeface="Helvetica"/>
              </a:rPr>
              <a:t>Objective: </a:t>
            </a:r>
            <a:endParaRPr b="1" cap="none">
              <a:latin typeface="Helvetica"/>
              <a:ea typeface="Times New Roman"/>
              <a:cs typeface="Helvetica"/>
            </a:endParaRPr>
          </a:p>
          <a:p>
            <a:pPr algn="ctr">
              <a:defRPr/>
            </a:pPr>
            <a:r>
              <a:rPr cap="none">
                <a:latin typeface="Helvetica"/>
                <a:ea typeface="Times New Roman"/>
                <a:cs typeface="Helvetica"/>
              </a:rPr>
              <a:t>Determine the rate of heat transfer in the heat exchanger and the outlet temperatures of the water and the oil</a:t>
            </a:r>
            <a:endParaRPr cap="non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2216151" name="Title 1"/>
          <p:cNvSpPr>
            <a:spLocks noChangeArrowheads="1"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Solution</a:t>
            </a:r>
            <a:endParaRPr/>
          </a:p>
        </p:txBody>
      </p:sp>
      <p:sp>
        <p:nvSpPr>
          <p:cNvPr id="1928110027" name="Date Placeholder 3"/>
          <p:cNvSpPr>
            <a:spLocks noChangeArrowheads="1"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60C6E1-559A-3FC4-54C1-3748D9D3CA92}" type="datetime1">
              <a:rPr cap="none"/>
              <a:t/>
            </a:fld>
            <a:endParaRPr cap="none"/>
          </a:p>
        </p:txBody>
      </p:sp>
      <p:sp>
        <p:nvSpPr>
          <p:cNvPr id="238795195" name="Slide Number Placeholder 5"/>
          <p:cNvSpPr>
            <a:spLocks noChangeArrowheads="1"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DB7D72A-973B-C268-8606-A7FCF0003003}" type="slidenum">
              <a:rPr cap="none"/>
              <a:t/>
            </a:fld>
            <a:endParaRPr cap="none"/>
          </a:p>
        </p:txBody>
      </p:sp>
      <p:sp>
        <p:nvSpPr>
          <p:cNvPr id="1628520834" name=""/>
          <p:cNvSpPr txBox="1"/>
          <p:nvPr/>
        </p:nvSpPr>
        <p:spPr bwMode="auto">
          <a:xfrm flipH="0" flipV="0">
            <a:off x="1214463" y="1564821"/>
            <a:ext cx="10163059" cy="3661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See linked notes on site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8367550" name="Title 3"/>
          <p:cNvSpPr>
            <a:spLocks noChangeArrowheads="1" noGrp="1"/>
          </p:cNvSpPr>
          <p:nvPr>
            <p:ph type="ctrTitle"/>
          </p:nvPr>
        </p:nvSpPr>
        <p:spPr bwMode="auto">
          <a:xfrm>
            <a:off x="0" y="360045"/>
            <a:ext cx="12192000" cy="7080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t">
            <a:prstTxWarp prst="textNoShape"/>
          </a:bodyPr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sz="4000" cap="none">
                <a:latin typeface="Helvetica"/>
                <a:ea typeface="Verdana"/>
                <a:cs typeface="Helvetica"/>
              </a:rPr>
              <a:t>Summary</a:t>
            </a:r>
            <a:endParaRPr sz="4000" cap="none">
              <a:latin typeface="Helvetica"/>
              <a:ea typeface="Verdana"/>
              <a:cs typeface="Helvetica"/>
            </a:endParaRPr>
          </a:p>
        </p:txBody>
      </p:sp>
      <p:sp>
        <p:nvSpPr>
          <p:cNvPr id="2033600279" name="Slide Number Placeholder 17"/>
          <p:cNvSpPr>
            <a:spLocks noChangeArrowheads="1" noGrp="1"/>
          </p:cNvSpPr>
          <p:nvPr>
            <p:ph type="sldNum" sz="quarter" idx="12"/>
          </p:nvPr>
        </p:nvSpPr>
        <p:spPr bwMode="auto">
          <a:xfrm>
            <a:off x="8999855" y="6356350"/>
            <a:ext cx="2743200" cy="365125"/>
          </a:xfrm>
        </p:spPr>
        <p:txBody>
          <a:bodyPr/>
          <a:lstStyle/>
          <a:p>
            <a:pPr>
              <a:defRPr/>
            </a:pPr>
            <a:fld id="{26FCD7BB-F5CB-A921-8544-0374990A7356}" type="slidenum">
              <a:rPr sz="1600" cap="none">
                <a:solidFill>
                  <a:srgbClr val="7F7F7F"/>
                </a:solidFill>
                <a:latin typeface="Helvetica"/>
                <a:ea typeface="Calibri"/>
                <a:cs typeface="Helvetica"/>
              </a:rPr>
              <a:t>15</a:t>
            </a:fld>
            <a:endParaRPr sz="1600" cap="none">
              <a:solidFill>
                <a:srgbClr val="7F7F7F"/>
              </a:solidFill>
              <a:latin typeface="Helvetica"/>
              <a:ea typeface="Calibri"/>
              <a:cs typeface="Helvetica"/>
            </a:endParaRPr>
          </a:p>
        </p:txBody>
      </p:sp>
      <p:pic>
        <p:nvPicPr>
          <p:cNvPr id="861382835" name="Picture 8" descr="A picture containing text, clipart&#10;&#10;Description automatically generated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48945" y="360045"/>
            <a:ext cx="1967865" cy="53975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844187403" name="Slide Number Placeholder 17"/>
          <p:cNvSpPr/>
          <p:nvPr/>
        </p:nvSpPr>
        <p:spPr bwMode="auto">
          <a:xfrm>
            <a:off x="448945" y="6356350"/>
            <a:ext cx="4434840" cy="365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ctr"/>
          <a:lstStyle>
            <a:lvl1pPr marL="0" algn="r" defTabSz="457200">
              <a:defRPr sz="1200" cap="none">
                <a:solidFill>
                  <a:srgbClr val="8C8C8C"/>
                </a:solidFill>
                <a:latin typeface="Calibri"/>
                <a:ea typeface="Calibri"/>
                <a:cs typeface="Calibri"/>
              </a:defRPr>
            </a:lvl1pPr>
            <a:lvl2pPr marL="4572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9144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3716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8288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2860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7432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2004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6576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/>
            </a:pPr>
            <a:r>
              <a:rPr sz="1600" cap="none">
                <a:solidFill>
                  <a:srgbClr val="7F7F7F"/>
                </a:solidFill>
                <a:latin typeface="Helvetica"/>
                <a:ea typeface="Calibri"/>
                <a:cs typeface="Helvetica"/>
              </a:rPr>
              <a:t>EX3030/EM40JN</a:t>
            </a:r>
            <a:endParaRPr sz="1600" cap="none">
              <a:solidFill>
                <a:srgbClr val="7F7F7F"/>
              </a:solidFill>
              <a:latin typeface="Helvetica"/>
              <a:ea typeface="Calibri"/>
              <a:cs typeface="Helvetica"/>
            </a:endParaRPr>
          </a:p>
        </p:txBody>
      </p:sp>
      <p:sp>
        <p:nvSpPr>
          <p:cNvPr id="1799090921" name="TextBox 4"/>
          <p:cNvSpPr/>
          <p:nvPr/>
        </p:nvSpPr>
        <p:spPr bwMode="auto">
          <a:xfrm>
            <a:off x="1056005" y="1721485"/>
            <a:ext cx="10079990" cy="448754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t"/>
          <a:lstStyle/>
          <a:p>
            <a:pPr marL="285750" indent="-285750"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  <a:defRPr/>
            </a:pPr>
            <a:r>
              <a:rPr cap="none">
                <a:latin typeface="Helvetica"/>
                <a:ea typeface="Calibri"/>
                <a:cs typeface="Calibri"/>
              </a:rPr>
              <a:t>We’ve started to get a sense of the variety and ubiquity of heat exchangers and some of the ways that they can be classified</a:t>
            </a:r>
            <a:endParaRPr cap="none">
              <a:latin typeface="Helvetica"/>
              <a:ea typeface="Calibri"/>
              <a:cs typeface="Calibri"/>
            </a:endParaRPr>
          </a:p>
          <a:p>
            <a:pPr marL="285750" indent="-285750"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  <a:defRPr/>
            </a:pPr>
            <a:r>
              <a:rPr cap="none">
                <a:latin typeface="Helvetica"/>
                <a:ea typeface="Calibri"/>
                <a:cs typeface="Calibri"/>
              </a:rPr>
              <a:t>Two popular configurations are concentric (double) tube and shell-and-tube</a:t>
            </a:r>
            <a:endParaRPr cap="none">
              <a:latin typeface="Helvetica"/>
              <a:ea typeface="Calibri"/>
              <a:cs typeface="Calibri"/>
            </a:endParaRPr>
          </a:p>
          <a:p>
            <a:pPr marL="285750" indent="-285750"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  <a:defRPr/>
            </a:pPr>
            <a:r>
              <a:rPr cap="none">
                <a:latin typeface="Helvetica"/>
                <a:ea typeface="Calibri"/>
                <a:cs typeface="Calibri"/>
              </a:rPr>
              <a:t>For these configurations we have demonstrated how to estimate their overall heat transfer coefficient, including how to account for effects such as fouling or thin-walls</a:t>
            </a:r>
            <a:endParaRPr cap="none">
              <a:latin typeface="Helvetica"/>
              <a:ea typeface="Calibri"/>
              <a:cs typeface="Calibri"/>
            </a:endParaRPr>
          </a:p>
          <a:p>
            <a:pPr marL="285750" indent="-285750"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  <a:defRPr/>
            </a:pPr>
            <a:r>
              <a:rPr cap="none">
                <a:latin typeface="Helvetica"/>
                <a:ea typeface="Calibri"/>
                <a:cs typeface="Calibri"/>
              </a:rPr>
              <a:t>We’ve also seen how to apply two common methods to determine the temperature gradient and associated heat transfer within a given heat exchanger:</a:t>
            </a:r>
            <a:endParaRPr cap="none">
              <a:latin typeface="Helvetica"/>
              <a:ea typeface="Calibri"/>
              <a:cs typeface="Calibri"/>
            </a:endParaRPr>
          </a:p>
          <a:p>
            <a:pPr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cap="none">
                <a:latin typeface="Helvetica"/>
                <a:ea typeface="Calibri"/>
                <a:cs typeface="Calibri"/>
              </a:rPr>
              <a:t>(i) the LMTD method is straightforward to apply when we know the values of all inlet and outlet temperatures</a:t>
            </a:r>
            <a:endParaRPr cap="none">
              <a:latin typeface="Helvetica"/>
              <a:ea typeface="Calibri"/>
              <a:cs typeface="Calibri"/>
            </a:endParaRPr>
          </a:p>
          <a:p>
            <a:pPr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cap="none">
                <a:latin typeface="Helvetica"/>
                <a:ea typeface="Calibri"/>
                <a:cs typeface="Calibri"/>
              </a:rPr>
              <a:t>(ii) the effectiveness-NTU method is preferred for solving problems where we are missing information on either the inlet or outlet temperatures</a:t>
            </a:r>
            <a:endParaRPr cap="none">
              <a:latin typeface="Helvetica"/>
              <a:ea typeface="Calibri"/>
              <a:cs typeface="Calibri"/>
            </a:endParaRPr>
          </a:p>
        </p:txBody>
      </p:sp>
      <p:sp>
        <p:nvSpPr>
          <p:cNvPr id="2097161717" name="TextBox 6"/>
          <p:cNvSpPr/>
          <p:nvPr/>
        </p:nvSpPr>
        <p:spPr bwMode="auto">
          <a:xfrm>
            <a:off x="1056005" y="1173480"/>
            <a:ext cx="10079990" cy="4000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t"/>
          <a:lstStyle/>
          <a:p>
            <a:pPr algn="ctr">
              <a:spcAft>
                <a:spcPts val="600"/>
              </a:spcAft>
              <a:defRPr/>
            </a:pPr>
            <a:r>
              <a:rPr sz="2000" b="1" cap="none">
                <a:solidFill>
                  <a:srgbClr val="FF9900"/>
                </a:solidFill>
                <a:latin typeface="Helvetica"/>
                <a:ea typeface="Calibri"/>
                <a:cs typeface="Calibri"/>
              </a:rPr>
              <a:t>Summary of week 8 on heat exchangers</a:t>
            </a:r>
            <a:endParaRPr sz="2000" b="1" cap="none">
              <a:solidFill>
                <a:srgbClr val="FF9900"/>
              </a:solidFill>
              <a:latin typeface="Helvetica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4241827" name="Title 3"/>
          <p:cNvSpPr>
            <a:spLocks noChangeArrowheads="1" noGrp="1"/>
          </p:cNvSpPr>
          <p:nvPr>
            <p:ph type="ctrTitle"/>
          </p:nvPr>
        </p:nvSpPr>
        <p:spPr bwMode="auto">
          <a:xfrm>
            <a:off x="1524000" y="3075305"/>
            <a:ext cx="9144000" cy="7073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t">
            <a:prstTxWarp prst="textNoShape"/>
          </a:bodyPr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sz="4000" cap="none">
                <a:latin typeface="Helvetica"/>
                <a:ea typeface="Verdana"/>
                <a:cs typeface="Helvetica"/>
              </a:rPr>
              <a:t>Thanks for your attention</a:t>
            </a:r>
            <a:endParaRPr sz="4000" cap="none">
              <a:latin typeface="Helvetica"/>
              <a:ea typeface="Verdana"/>
              <a:cs typeface="Helvetica"/>
            </a:endParaRPr>
          </a:p>
        </p:txBody>
      </p:sp>
      <p:sp>
        <p:nvSpPr>
          <p:cNvPr id="1737062089" name="Slide Number Placeholder 17"/>
          <p:cNvSpPr>
            <a:spLocks noChangeArrowheads="1" noGrp="1"/>
          </p:cNvSpPr>
          <p:nvPr>
            <p:ph type="sldNum" sz="quarter" idx="12"/>
          </p:nvPr>
        </p:nvSpPr>
        <p:spPr bwMode="auto">
          <a:xfrm>
            <a:off x="8999855" y="6356350"/>
            <a:ext cx="2743200" cy="365125"/>
          </a:xfrm>
        </p:spPr>
        <p:txBody>
          <a:bodyPr/>
          <a:lstStyle/>
          <a:p>
            <a:pPr>
              <a:defRPr/>
            </a:pPr>
            <a:fld id="{0C48AB05-4BE1-1D5D-AFF0-BD08E5BE59E8}" type="slidenum">
              <a:rPr sz="1600" cap="none">
                <a:solidFill>
                  <a:srgbClr val="7F7F7F"/>
                </a:solidFill>
                <a:latin typeface="Helvetica"/>
                <a:ea typeface="Calibri"/>
                <a:cs typeface="Helvetica"/>
              </a:rPr>
              <a:t>16</a:t>
            </a:fld>
            <a:endParaRPr sz="1600" cap="none">
              <a:solidFill>
                <a:srgbClr val="7F7F7F"/>
              </a:solidFill>
              <a:latin typeface="Helvetica"/>
              <a:ea typeface="Calibri"/>
              <a:cs typeface="Helvetica"/>
            </a:endParaRPr>
          </a:p>
        </p:txBody>
      </p:sp>
      <p:pic>
        <p:nvPicPr>
          <p:cNvPr id="809202180" name="Picture 2" descr="A picture containing text, clipart&#10;&#10;Description automatically generated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48945" y="360045"/>
            <a:ext cx="1967865" cy="53975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901680298" name="Slide Number Placeholder 17"/>
          <p:cNvSpPr/>
          <p:nvPr/>
        </p:nvSpPr>
        <p:spPr bwMode="auto">
          <a:xfrm>
            <a:off x="448945" y="6356350"/>
            <a:ext cx="4434840" cy="365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ctr"/>
          <a:lstStyle>
            <a:lvl1pPr marL="0" algn="r" defTabSz="457200">
              <a:defRPr sz="1200" cap="none">
                <a:solidFill>
                  <a:srgbClr val="8C8C8C"/>
                </a:solidFill>
                <a:latin typeface="Calibri"/>
                <a:ea typeface="Calibri"/>
                <a:cs typeface="Calibri"/>
              </a:defRPr>
            </a:lvl1pPr>
            <a:lvl2pPr marL="4572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9144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3716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8288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2860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7432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2004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657600" algn="l" defTabSz="457200">
              <a:defRPr sz="1800" cap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/>
            </a:pPr>
            <a:r>
              <a:rPr sz="1600" cap="none">
                <a:solidFill>
                  <a:srgbClr val="7F7F7F"/>
                </a:solidFill>
                <a:latin typeface="Helvetica"/>
                <a:ea typeface="Calibri"/>
                <a:cs typeface="Helvetica"/>
              </a:rPr>
              <a:t>EX3030/EM40JN</a:t>
            </a:r>
            <a:endParaRPr sz="1600" cap="none">
              <a:solidFill>
                <a:srgbClr val="7F7F7F"/>
              </a:solidFill>
              <a:latin typeface="Helvetica"/>
              <a:ea typeface="Calibri"/>
              <a:cs typeface="Helvetic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ONLYOFFICE/9.0.0.172</Application>
  <PresentationFormat>On-screen Show (4:3)</PresentationFormat>
  <Paragraphs>0</Paragraphs>
  <Slides>19</Slides>
  <Notes>19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3</cp:revision>
  <dcterms:created xsi:type="dcterms:W3CDTF">2021-11-09T11:20:31Z</dcterms:created>
  <dcterms:modified xsi:type="dcterms:W3CDTF">2025-11-04T11:03:04Z</dcterms:modified>
</cp:coreProperties>
</file>